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Team AIT입니다. AIT는 자료 기반의 긴 AI Chat 대화를 분기(branch) 구조로 관리하는 워크스페이스입니다. 오늘 발표는 제품 데모가 아니라, 고객 요구사항에서 출발해 분석·모델링·설계·구현·검증까지 이어진 공학 과정을 보여드리는 데 초점을 맞췄습니다.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이 발표가 무엇을 보여주려 하는지 기준을 정리합니다. 소프트웨어공학 과제의 핵심은 '무엇을 만들었는가'보다 '고객 요구를 어떤 공학 과정으로 구현했는가'입니다. 네 가지 축으로 발표를 구성했습니다 — 고객 요구, 공학 프로세스, 설계 원리, 검증.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이것이 전체 공학 과정의 지도입니다. 문제 탐색에서 시작해 요구 분석·모델링·설계·구현·테스트까지, 각 단계의 산출물이 끊기지 않고 하나의 추적 흐름으로 이어지도록 정리했습니다. 위 줄은 단계, 아래 줄은 산출물입니다.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 단계입니다. 요구사항을 미리 확정하지 않고, 사용자 조사로 확인할 문제 탐색 범위를 설정했습니다. 자료·질문·답변·파생 질문이 하나의 선형 채팅에 누적되면 세 가지 문제가 생깁니다 — 메인 흐름과 세부 탐색이 섞이고, 새 채팅은 맥락 재설명 비용을 만들며, 긴 대화는 과거 답변 재탐색 비용을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요구사항을 곧바로 정의하지 않았습니다. Problem 단계에서는 답을 단정하지 않고, 자료와 이전 답변이 누적되는 장시간 AI Chat에서 사용자가 정보를 어떻게 관리하며 어떤 어려움이나 요구가 나타나는지를 탐색 질문으로 두어 문제 영역을 설정했습니다. 타겟도 미리 정하지 않았습니다. 조사 참여자는 특정 사용자군이 아니라 대학생·직장인·구직과 시험 준비자를 포함한 일반 응답자 50명이었고, 설문은 전반적 사용 행태와 반복 경험의 분포를 보기 위해 사용했습니다. 그리고 설문 결과를 기반으로 AI 파워 유저 2명을 선정해 심층 인터뷰를 진행했습니다. 이들은 우리가 구현하려는 분기 같은 기능이 정말 있었으면 좋겠다고 생각하면서, 새 채팅을 따로 만들거나 이전 내용을 복사·요약하는 등 자기 나름의 우회 방식으로 이미 그 문제를 직접 해결하고 있던 사용자였습니다. 그래서 이들의 작업 흐름을 인터뷰로 구체화했습니다. 타겟 사용자와 요구사항은 이 조사 결과에서 도출했습니다.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앞서 설계한 조사를 실제로 수행한 결과입니다. 50명 설문에서 38명이 자료 업로드 경험, 34명이 한 대화에서 10회 이상 질문, 42명이 긴 대화에서 이전 내용 재탐색에 어려움을 겪었습니다. 설문은 분포를 확인했고, 2명 심층 인터뷰는 그 경향이 실제 작업 흐름에서 어떤 상황으로 나타나는지 구체화했습니다.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타겟 사용자는 조사 결과에서 도출했습니다. 설문과 인터뷰에서 공통으로 나타난 사용 행태 — 외부 자료를 대화에 활용하고, 하나의 대화에서 여러 번 후속 질문을 하고, 이전 답변과 맥락을 지속 참조하며, 하나의 작업에서 여러 세부 주제를 확장 탐색하는 행태 — 를 가진 사용자에게서 장시간 대화 관리 요구가 확인되었습니다. 이를 바탕으로 Primary User를 헤비 지식 노동자로 정의했습니다. 직업군이 아니라 AI Chat을 자료 기반 장시간 지식 작업 공간으로 사용하는 행태를 가리키는 분석적 명칭입니다. 평소 짧은 질의 위주이지만 특정 과제에서만 장시간 대화를 쓰는 사용자는 Secondary User로 두어 초기 분석의 중심에서는 제외하되 적용 범위 검토에 고려했습니다.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여기가 핵심 발표 기준입니다. '분기 기능' 자체를 먼저 말하지 않고, 사용자 문제를 사용자 요구로, 다시 검증 가능한 FR로 변환한 과정을 먼저 보여줍니다. 예를 들어 '같은 채팅에 세부 질문이 누적되면 메인 흐름이 흐려진다'는 문제는 '세부 탐색을 분리하고 싶다'는 요구로, 다시 FR-01 별도 흐름 생성과 FR-03 맥락 분리로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변환한 요구는 검증 가능한 형태로 정리했습니다. Must FR 다섯 개 — 별도 흐름 생성, 맥락 상속, 맥락 분리, 탐색 구조, 흐름 이동입니다. 비기능 요구는 측정 기준을 함께 명시했습니다. 도움말 없이 80% 이상이 3분 이내 별도 흐름 생성, 1,000턴 대화에서 탐색 UI P95 2초 이내, 분기 실패 시 원본 데이터 무결성 100% 유지처럼요.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요구를 바탕으로 정의한 서비스입니다. AIT는 LLM 모델 자체가 아니라, 외부 LLM을 활용해 자료·이전 답변·파생 질문을 구조적으로 관리하는 인터페이스/서비스입니다. 핵심 기능은 네 가지 — 별도 질문 흐름 생성, 맥락 상속·분리, 대화 흐름 탐색, 검색·재참조입니다. 목표는 사용자가 필요한 맥락으로 다시 이동하고 세부 탐색을 메인 흐름과 분리하도록 돕는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요구 모델링의 첫 단계, Use Case입니다. 시스템 경계를 사용자가 달성하려는 작업 단위로 정의했습니다. 핵심 다섯 개는 새 대화 시작, 대화 탐색기를 통한 세션 탐색, 기존 세션 대화 작성, 특정 Turn에서 새 분기 생성, 그래프를 이용한 대화 탐색입니다. 외부 액터로는 LLM과 결제 서비스가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다음은 Class Diagram입니다. Use Case가 사용자의 작업 흐름이라면, Class Diagram은 그 흐름을 수행할 객체와 책임을 정리한 것입니다. 객체를 네 계층으로 나눴습니다 — 사용자 접점, 서비스, 도메인, 외부 통신. 사용자 접점은 대화 화면과 그래프 화면을 포함해 하나의 UserInterface 클래스로 표현했습니다. 핵심 원칙은 사용자가 서비스 객체와 직접 상호작용하지 않는다는 것입니다. 요청은 항상 UserInterface를 통해 들어오고, 서비스 객체가 내부 처리를 담당합니다.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요구를 동적 관점에서 본 것이 Sequence Diagram입니다. 두 핵심 흐름을 표현했습니다. 왼쪽은 메시지 송신과 점진적 응답입니다 — UserInterface가 메시지를 받아 MessageService로 넘기고, ContextAssembler가 맥락을 조립하면 AiServerClient를 통해 AI 서버가 응답을 SSE로 점진 전달합니다. 오른쪽은 분기 생성과 부모 맥락 자동 상속입니다. UserInterface에서 기준 Turn을 고르면 ChatService가 새 Branch를 만들고, 이후 ContextAssembler는 분기점까지의 부모 맥락만 포함하고 다른 Branch는 제외합니다.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System Design입니다. 전체 구조는 Client-Server를 기반으로 Frontend, Backend, Database, Local AI Server를 분리했습니다. 사용자 화면, 대화 도메인 로직, 데이터 저장, AI 추론은 서로 다른 이유로 변경되기 때문에, 한 컴포넌트에 섞지 않고 분리했습니다. 일반 요청은 REST로 처리하고, 점진적으로 생성되는 AI 응답은 SSE로 전달합니다. Backend는 AI Server Adapter를 통해서만 모델에 접근합니다.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Backend의 핵심은 데이터 모델입니다. 대화를 단순 메시지 목록이 아니라 Chat, Turn, Message로 추상화했습니다. Chat은 하나의 대화 흐름, Turn은 질문과 응답을 묶는 단위, Message는 실제 텍스트입니다. branch는 Chat의 parentId, rootChatId, branchPointTurnId로 표현합니다. 특정 Turn을 기준으로 새 branch Chat을 만들면, 분기점 이전 맥락은 상속하되 이후 메시지는 독립적으로 저장됩니다. 이 구조가 그래프 탐색, 탐색기, 맥락 조립의 공통 기반이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설계에는 네 가지 패턴을 적용했습니다. 패턴명을 위한 것이 아니라, 변경 가능성이 큰 영역을 분리하기 위한 수단입니다. Adapter는 AI 서버 내부 구현을 숨기고, Dependency Injection은 고수준 서비스가 LLM 인터페이스에 의존하게 하며, Strategy는 모델 백엔드를 교체 가능하게 하고, Event-Based는 메시지 완료 후처리를 핵심 스트리밍과 분리합니다. 이 결정들은 SRP, ISP, DIP, OCP 원칙으로 정리됩니다.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구현은 점증적 개발로 진행했습니다. 모든 기능을 한 번에 만들기보다, 핵심 사용 흐름을 먼저 만들고 단계별로 확장했습니다. Phase 2에서 로그인과 기본 채팅, SSE 응답까지 동작하는 walking skeleton을 만들었고, Phase 3에서 AIT의 핵심 차별점인 분기 생성과 그래프 시각화를 추가했습니다. Phase 4에서 탐색기와 분기별 맥락 격리를 구현했고, 통합 단계에서 안정화와 리팩토링을 수행했습니다. 각 Phase는 API 명세·테스트 리포트 같은 산출물을 남겼습니다.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마지막은 검증입니다. 단위·통합·시스템 세 수준으로 테스트했습니다. 시스템 테스트는 사용자가 직접 경험하는 흐름 — 대화 생성과 전송, 분기 생성, 맥락 상속과 분리, 구조 탐색과 검색, 예외 처리를 다뤘습니다. 핵심은 요구사항과 테스트 케이스를 연결한 것입니다. 예를 들어 FR-02 맥락 상속은 10번째 메시지에서 분기 생성 시 1부터 10번째 메시지와 관련 자료만 초기 맥락에 포함되는지로 검증하고, NFR P-01은 1,000턴 더미 대화에서 탐색 UI가 P95 2초 이내인지로 측정합니다.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오늘 발표는 기능 데모가 아니라 공학 과정의 증거였습니다. 사용자 요구에서 출발해 검증 가능한 요구사항으로 변환하고, UML로 모델링하고, 컴포넌트로 설계하고, 점증적으로 구현한 뒤, 요구와 테스트 케이스를 연결해 검증했습니다. 끊김 없이 하나의 추적 흐름으로 이어진 과정이 AIT의 핵심입니다.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914400"/>
            <a:ext cx="11233309" cy="847725"/>
          </a:xfrm>
          <a:prstGeom prst="rect">
            <a:avLst/>
          </a:prstGeom>
          <a:noFill/>
          <a:ln/>
        </p:spPr>
        <p:txBody>
          <a:bodyPr wrap="square" lIns="25400" tIns="25400" rIns="25400" bIns="25400" rtlCol="0" anchor="t">
            <a:normAutofit/>
          </a:bodyPr>
          <a:lstStyle/>
          <a:p>
            <a:pPr algn="l" indent="0" marL="0">
              <a:lnSpc>
                <a:spcPct val="170000"/>
              </a:lnSpc>
              <a:buNone/>
            </a:pPr>
            <a:r>
              <a:rPr lang="en-US" sz="1875" spc="263" kern="0" dirty="0">
                <a:solidFill>
                  <a:srgbClr val="8C7A3F"/>
                </a:solidFill>
                <a:latin typeface="Courier New" pitchFamily="34" charset="0"/>
                <a:ea typeface="Courier New" pitchFamily="34" charset="-122"/>
                <a:cs typeface="Courier New" pitchFamily="34" charset="-120"/>
              </a:rPr>
              <a:t>FINAL SUBMISSION · TEAM AIT </a:t>
            </a:r>
            <a:pPr algn="l" indent="0" marL="0">
              <a:lnSpc>
                <a:spcPct val="170000"/>
              </a:lnSpc>
              <a:buNone/>
            </a:pPr>
            <a:r>
              <a:rPr lang="en-US" sz="1875" spc="263" kern="0" dirty="0">
                <a:solidFill>
                  <a:srgbClr val="9A968C"/>
                </a:solidFill>
                <a:latin typeface="Courier New" pitchFamily="34" charset="0"/>
                <a:ea typeface="Courier New" pitchFamily="34" charset="-122"/>
                <a:cs typeface="Courier New" pitchFamily="34" charset="-120"/>
              </a:rPr>
              <a:t>CSE 11708 · SOFTWARE ENGINEERING</a:t>
            </a:r>
            <a:endParaRPr lang="en-US" sz="1875" dirty="0"/>
          </a:p>
        </p:txBody>
      </p:sp>
      <p:sp>
        <p:nvSpPr>
          <p:cNvPr id="3" name="Text 1"/>
          <p:cNvSpPr/>
          <p:nvPr/>
        </p:nvSpPr>
        <p:spPr>
          <a:xfrm>
            <a:off x="990600" y="3252341"/>
            <a:ext cx="11996738" cy="1752600"/>
          </a:xfrm>
          <a:prstGeom prst="rect">
            <a:avLst/>
          </a:prstGeom>
          <a:noFill/>
          <a:ln/>
        </p:spPr>
        <p:txBody>
          <a:bodyPr wrap="square" lIns="25400" tIns="25400" rIns="25400" bIns="25400" rtlCol="0" anchor="t">
            <a:normAutofit/>
          </a:bodyPr>
          <a:lstStyle/>
          <a:p>
            <a:pPr algn="l" indent="0" marL="0">
              <a:lnSpc>
                <a:spcPct val="90000"/>
              </a:lnSpc>
              <a:buNone/>
            </a:pPr>
            <a:r>
              <a:rPr lang="en-US" sz="15000" spc="-300" kern="0" dirty="0">
                <a:solidFill>
                  <a:srgbClr val="20201E"/>
                </a:solidFill>
                <a:latin typeface="Georgia" pitchFamily="34" charset="0"/>
                <a:ea typeface="Georgia" pitchFamily="34" charset="-122"/>
                <a:cs typeface="Georgia" pitchFamily="34" charset="-120"/>
              </a:rPr>
              <a:t>AIT</a:t>
            </a:r>
            <a:endParaRPr lang="en-US" sz="15000" dirty="0"/>
          </a:p>
        </p:txBody>
      </p:sp>
      <p:sp>
        <p:nvSpPr>
          <p:cNvPr id="4" name="Text 2"/>
          <p:cNvSpPr/>
          <p:nvPr/>
        </p:nvSpPr>
        <p:spPr>
          <a:xfrm>
            <a:off x="990600" y="5195441"/>
            <a:ext cx="11996738" cy="658118"/>
          </a:xfrm>
          <a:prstGeom prst="rect">
            <a:avLst/>
          </a:prstGeom>
          <a:noFill/>
          <a:ln/>
        </p:spPr>
        <p:txBody>
          <a:bodyPr wrap="square" lIns="25400" tIns="25400" rIns="25400" bIns="25400" rtlCol="0" anchor="t">
            <a:normAutofit/>
          </a:bodyPr>
          <a:lstStyle/>
          <a:p>
            <a:pPr algn="l" indent="0" marL="0">
              <a:lnSpc>
                <a:spcPct val="105000"/>
              </a:lnSpc>
              <a:buNone/>
            </a:pPr>
            <a:r>
              <a:rPr lang="en-US" sz="4650" dirty="0">
                <a:solidFill>
                  <a:srgbClr val="20201E"/>
                </a:solidFill>
                <a:latin typeface="Georgia" pitchFamily="34" charset="0"/>
                <a:ea typeface="Georgia" pitchFamily="34" charset="-122"/>
                <a:cs typeface="Georgia" pitchFamily="34" charset="-120"/>
              </a:rPr>
              <a:t>Branching AI Workspace</a:t>
            </a:r>
            <a:endParaRPr lang="en-US" sz="4650" dirty="0"/>
          </a:p>
        </p:txBody>
      </p:sp>
      <p:sp>
        <p:nvSpPr>
          <p:cNvPr id="5" name="Text 3"/>
          <p:cNvSpPr/>
          <p:nvPr/>
        </p:nvSpPr>
        <p:spPr>
          <a:xfrm>
            <a:off x="990600" y="6139309"/>
            <a:ext cx="7456170" cy="132397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46443D"/>
                </a:solidFill>
                <a:latin typeface="Georgia" pitchFamily="34" charset="0"/>
                <a:ea typeface="Georgia" pitchFamily="34" charset="-122"/>
                <a:cs typeface="Georgia" pitchFamily="34" charset="-120"/>
              </a:rPr>
              <a:t>자료와 이전 답변이 누적되는 </a:t>
            </a:r>
            <a:pPr algn="l" indent="0" marL="0">
              <a:lnSpc>
                <a:spcPct val="150000"/>
              </a:lnSpc>
              <a:buNone/>
            </a:pPr>
            <a:r>
              <a:rPr lang="en-US" sz="2250" dirty="0">
                <a:solidFill>
                  <a:srgbClr val="8C7A3F"/>
                </a:solidFill>
                <a:latin typeface="Georgia" pitchFamily="34" charset="0"/>
                <a:ea typeface="Georgia" pitchFamily="34" charset="-122"/>
                <a:cs typeface="Georgia" pitchFamily="34" charset="-120"/>
              </a:rPr>
              <a:t>장시간 AI Chat 대화 </a:t>
            </a:r>
            <a:pPr algn="l" indent="0" marL="0">
              <a:lnSpc>
                <a:spcPct val="150000"/>
              </a:lnSpc>
              <a:buNone/>
            </a:pPr>
            <a:r>
              <a:rPr lang="en-US" sz="2250" dirty="0">
                <a:solidFill>
                  <a:srgbClr val="46443D"/>
                </a:solidFill>
                <a:latin typeface="Georgia" pitchFamily="34" charset="0"/>
                <a:ea typeface="Georgia" pitchFamily="34" charset="-122"/>
                <a:cs typeface="Georgia" pitchFamily="34" charset="-120"/>
              </a:rPr>
              <a:t>를 선형 채팅이 아니라 </a:t>
            </a:r>
            <a:pPr algn="l" indent="0" marL="0">
              <a:lnSpc>
                <a:spcPct val="150000"/>
              </a:lnSpc>
              <a:buNone/>
            </a:pPr>
            <a:r>
              <a:rPr lang="en-US" sz="2250" dirty="0">
                <a:solidFill>
                  <a:srgbClr val="2155A4"/>
                </a:solidFill>
                <a:latin typeface="Georgia" pitchFamily="34" charset="0"/>
                <a:ea typeface="Georgia" pitchFamily="34" charset="-122"/>
                <a:cs typeface="Georgia" pitchFamily="34" charset="-120"/>
              </a:rPr>
              <a:t>분기(branch) 구조 </a:t>
            </a:r>
            <a:pPr algn="l" indent="0" marL="0">
              <a:lnSpc>
                <a:spcPct val="150000"/>
              </a:lnSpc>
              <a:buNone/>
            </a:pPr>
            <a:r>
              <a:rPr lang="en-US" sz="2250" dirty="0">
                <a:solidFill>
                  <a:srgbClr val="46443D"/>
                </a:solidFill>
                <a:latin typeface="Georgia" pitchFamily="34" charset="0"/>
                <a:ea typeface="Georgia" pitchFamily="34" charset="-122"/>
                <a:cs typeface="Georgia" pitchFamily="34" charset="-120"/>
              </a:rPr>
              <a:t>로 관리하는 대화 워크스페이스</a:t>
            </a:r>
            <a:endParaRPr lang="en-US" sz="2250" dirty="0"/>
          </a:p>
        </p:txBody>
      </p:sp>
      <p:sp>
        <p:nvSpPr>
          <p:cNvPr id="6" name="Shape 4"/>
          <p:cNvSpPr/>
          <p:nvPr/>
        </p:nvSpPr>
        <p:spPr>
          <a:xfrm>
            <a:off x="990600" y="8953500"/>
            <a:ext cx="10906125" cy="9525"/>
          </a:xfrm>
          <a:prstGeom prst="rect">
            <a:avLst/>
          </a:prstGeom>
          <a:solidFill>
            <a:srgbClr val="E4E0D6"/>
          </a:solidFill>
          <a:ln/>
        </p:spPr>
      </p:sp>
      <p:sp>
        <p:nvSpPr>
          <p:cNvPr id="7" name="Text 5"/>
          <p:cNvSpPr/>
          <p:nvPr/>
        </p:nvSpPr>
        <p:spPr>
          <a:xfrm>
            <a:off x="990600" y="9210675"/>
            <a:ext cx="6582653" cy="314325"/>
          </a:xfrm>
          <a:prstGeom prst="rect">
            <a:avLst/>
          </a:prstGeom>
          <a:noFill/>
          <a:ln/>
        </p:spPr>
        <p:txBody>
          <a:bodyPr wrap="square" lIns="25400" tIns="25400" rIns="25400" bIns="25400" rtlCol="0" anchor="t">
            <a:normAutofit/>
          </a:bodyPr>
          <a:lstStyle/>
          <a:p>
            <a:pPr algn="l" indent="0" marL="0">
              <a:buNone/>
            </a:pPr>
            <a:r>
              <a:rPr lang="en-US" sz="1800" dirty="0">
                <a:solidFill>
                  <a:srgbClr val="6E6A60"/>
                </a:solidFill>
                <a:latin typeface="Courier New" pitchFamily="34" charset="0"/>
                <a:ea typeface="Courier New" pitchFamily="34" charset="-122"/>
                <a:cs typeface="Courier New" pitchFamily="34" charset="-120"/>
              </a:rPr>
              <a:t>Team AIT </a:t>
            </a:r>
            <a:pPr algn="l" indent="0" marL="0">
              <a:buNone/>
            </a:pPr>
            <a:r>
              <a:rPr lang="en-US" sz="1800" dirty="0">
                <a:solidFill>
                  <a:srgbClr val="9A968C"/>
                </a:solidFill>
                <a:latin typeface="Courier New" pitchFamily="34" charset="0"/>
                <a:ea typeface="Courier New" pitchFamily="34" charset="-122"/>
                <a:cs typeface="Courier New" pitchFamily="34" charset="-120"/>
              </a:rPr>
              <a:t>김도윤 · 김상민 · 오한빈 · 이준석 · 정주원</a:t>
            </a:r>
            <a:endParaRPr lang="en-US" sz="1800" dirty="0"/>
          </a:p>
        </p:txBody>
      </p:sp>
      <p:sp>
        <p:nvSpPr>
          <p:cNvPr id="8" name="Text 6"/>
          <p:cNvSpPr/>
          <p:nvPr/>
        </p:nvSpPr>
        <p:spPr>
          <a:xfrm>
            <a:off x="8878639" y="9229725"/>
            <a:ext cx="3319894"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github.com/AI-star-CAU</a:t>
            </a:r>
            <a:endParaRPr lang="en-US" sz="1800" dirty="0"/>
          </a:p>
        </p:txBody>
      </p:sp>
      <p:sp>
        <p:nvSpPr>
          <p:cNvPr id="9" name="Shape 7"/>
          <p:cNvSpPr/>
          <p:nvPr/>
        </p:nvSpPr>
        <p:spPr>
          <a:xfrm>
            <a:off x="12582525" y="914400"/>
            <a:ext cx="9525" cy="8572500"/>
          </a:xfrm>
          <a:prstGeom prst="rect">
            <a:avLst/>
          </a:prstGeom>
          <a:solidFill>
            <a:srgbClr val="E4E0D6"/>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344525" y="2714625"/>
            <a:ext cx="3810000" cy="49720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00 — FINAL SUBMISSION CRITERIA</a:t>
            </a:r>
            <a:endParaRPr lang="en-US" sz="1875" dirty="0"/>
          </a:p>
        </p:txBody>
      </p:sp>
      <p:sp>
        <p:nvSpPr>
          <p:cNvPr id="3" name="Text 1"/>
          <p:cNvSpPr/>
          <p:nvPr/>
        </p:nvSpPr>
        <p:spPr>
          <a:xfrm>
            <a:off x="990600" y="1247775"/>
            <a:ext cx="17937480" cy="585788"/>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발표의 기준 — 기능 소개가 아니라 </a:t>
            </a:r>
            <a:pPr algn="l" indent="0" marL="0">
              <a:lnSpc>
                <a:spcPct val="115000"/>
              </a:lnSpc>
              <a:buNone/>
            </a:pPr>
            <a:r>
              <a:rPr lang="en-US" sz="3750" spc="-37" kern="0" dirty="0">
                <a:solidFill>
                  <a:srgbClr val="8C7A3F"/>
                </a:solidFill>
                <a:latin typeface="Georgia" pitchFamily="34" charset="0"/>
                <a:ea typeface="Georgia" pitchFamily="34" charset="-122"/>
                <a:cs typeface="Georgia" pitchFamily="34" charset="-120"/>
              </a:rPr>
              <a:t>공학 프로세스의 증거</a:t>
            </a:r>
            <a:endParaRPr lang="en-US" sz="3750" dirty="0"/>
          </a:p>
        </p:txBody>
      </p:sp>
      <p:sp>
        <p:nvSpPr>
          <p:cNvPr id="4" name="Text 2"/>
          <p:cNvSpPr/>
          <p:nvPr/>
        </p:nvSpPr>
        <p:spPr>
          <a:xfrm>
            <a:off x="990600" y="1985963"/>
            <a:ext cx="16135350"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46443D"/>
                </a:solidFill>
                <a:latin typeface="Georgia" pitchFamily="34" charset="0"/>
                <a:ea typeface="Georgia" pitchFamily="34" charset="-122"/>
                <a:cs typeface="Georgia" pitchFamily="34" charset="-120"/>
              </a:rPr>
              <a:t>"무엇을 만들었는가"보다 "고객 요구사항을 </a:t>
            </a:r>
            <a:pPr algn="l" indent="0" marL="0">
              <a:lnSpc>
                <a:spcPct val="150000"/>
              </a:lnSpc>
              <a:buNone/>
            </a:pPr>
            <a:r>
              <a:rPr lang="en-US" sz="2250" dirty="0">
                <a:solidFill>
                  <a:srgbClr val="2155A4"/>
                </a:solidFill>
                <a:latin typeface="Georgia" pitchFamily="34" charset="0"/>
                <a:ea typeface="Georgia" pitchFamily="34" charset="-122"/>
                <a:cs typeface="Georgia" pitchFamily="34" charset="-120"/>
              </a:rPr>
              <a:t>어떤 공학 과정으로 구현했는가</a:t>
            </a:r>
            <a:pPr algn="l" indent="0" marL="0">
              <a:lnSpc>
                <a:spcPct val="150000"/>
              </a:lnSpc>
              <a:buNone/>
            </a:pPr>
            <a:r>
              <a:rPr lang="en-US" sz="2250" dirty="0">
                <a:solidFill>
                  <a:srgbClr val="46443D"/>
                </a:solidFill>
                <a:latin typeface="Georgia" pitchFamily="34" charset="0"/>
                <a:ea typeface="Georgia" pitchFamily="34" charset="-122"/>
                <a:cs typeface="Georgia" pitchFamily="34" charset="-120"/>
              </a:rPr>
              <a:t>"를 네 가지 축으로 보여드립니다.</a:t>
            </a:r>
            <a:endParaRPr lang="en-US" sz="2250" dirty="0"/>
          </a:p>
        </p:txBody>
      </p:sp>
      <p:sp>
        <p:nvSpPr>
          <p:cNvPr id="5" name="Text 3"/>
          <p:cNvSpPr/>
          <p:nvPr/>
        </p:nvSpPr>
        <p:spPr>
          <a:xfrm>
            <a:off x="990600" y="2928938"/>
            <a:ext cx="3847862" cy="361950"/>
          </a:xfrm>
          <a:prstGeom prst="rect">
            <a:avLst/>
          </a:prstGeom>
          <a:noFill/>
          <a:ln/>
        </p:spPr>
        <p:txBody>
          <a:bodyPr wrap="square" lIns="25400" tIns="25400" rIns="25400" bIns="25400" rtlCol="0" anchor="t">
            <a:normAutofit/>
          </a:bodyPr>
          <a:lstStyle/>
          <a:p>
            <a:pPr algn="l" indent="0" marL="0">
              <a:buNone/>
            </a:pPr>
            <a:r>
              <a:rPr lang="en-US" sz="2250" dirty="0">
                <a:solidFill>
                  <a:srgbClr val="8C7A3F"/>
                </a:solidFill>
                <a:latin typeface="Courier New" pitchFamily="34" charset="0"/>
                <a:ea typeface="Courier New" pitchFamily="34" charset="-122"/>
                <a:cs typeface="Courier New" pitchFamily="34" charset="-120"/>
              </a:rPr>
              <a:t>1</a:t>
            </a:r>
            <a:endParaRPr lang="en-US" sz="2250" dirty="0"/>
          </a:p>
        </p:txBody>
      </p:sp>
      <p:sp>
        <p:nvSpPr>
          <p:cNvPr id="6" name="Text 4"/>
          <p:cNvSpPr/>
          <p:nvPr/>
        </p:nvSpPr>
        <p:spPr>
          <a:xfrm>
            <a:off x="990600" y="3424238"/>
            <a:ext cx="3847862" cy="392311"/>
          </a:xfrm>
          <a:prstGeom prst="rect">
            <a:avLst/>
          </a:prstGeom>
          <a:noFill/>
          <a:ln/>
        </p:spPr>
        <p:txBody>
          <a:bodyPr wrap="square" lIns="25400" tIns="25400" rIns="25400" bIns="25400" rtlCol="0" anchor="t">
            <a:normAutofit/>
          </a:bodyPr>
          <a:lstStyle/>
          <a:p>
            <a:pPr algn="l" indent="0" marL="0">
              <a:lnSpc>
                <a:spcPct val="120000"/>
              </a:lnSpc>
              <a:buNone/>
            </a:pPr>
            <a:r>
              <a:rPr lang="en-US" sz="2325" dirty="0">
                <a:solidFill>
                  <a:srgbClr val="20201E"/>
                </a:solidFill>
                <a:latin typeface="Georgia" pitchFamily="34" charset="0"/>
                <a:ea typeface="Georgia" pitchFamily="34" charset="-122"/>
                <a:cs typeface="Georgia" pitchFamily="34" charset="-120"/>
              </a:rPr>
              <a:t>Customer Requirement</a:t>
            </a:r>
            <a:endParaRPr lang="en-US" sz="2325" dirty="0"/>
          </a:p>
        </p:txBody>
      </p:sp>
      <p:sp>
        <p:nvSpPr>
          <p:cNvPr id="7" name="Text 5"/>
          <p:cNvSpPr/>
          <p:nvPr/>
        </p:nvSpPr>
        <p:spPr>
          <a:xfrm>
            <a:off x="990600" y="3930848"/>
            <a:ext cx="3602998" cy="752475"/>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6E6A60"/>
                </a:solidFill>
                <a:latin typeface="Georgia" pitchFamily="34" charset="0"/>
                <a:ea typeface="Georgia" pitchFamily="34" charset="-122"/>
                <a:cs typeface="Georgia" pitchFamily="34" charset="-120"/>
              </a:rPr>
              <a:t>설문·인터뷰에서 확인한 사용 행태와 문제를 요구사항으로 변환</a:t>
            </a:r>
            <a:endParaRPr lang="en-US" sz="1875" dirty="0"/>
          </a:p>
        </p:txBody>
      </p:sp>
      <p:sp>
        <p:nvSpPr>
          <p:cNvPr id="8" name="Shape 6"/>
          <p:cNvSpPr/>
          <p:nvPr/>
        </p:nvSpPr>
        <p:spPr>
          <a:xfrm>
            <a:off x="4869656" y="2928938"/>
            <a:ext cx="9525" cy="4800600"/>
          </a:xfrm>
          <a:prstGeom prst="rect">
            <a:avLst/>
          </a:prstGeom>
          <a:solidFill>
            <a:srgbClr val="E4E0D6"/>
          </a:solidFill>
          <a:ln/>
        </p:spPr>
      </p:sp>
      <p:sp>
        <p:nvSpPr>
          <p:cNvPr id="9" name="Text 7"/>
          <p:cNvSpPr/>
          <p:nvPr/>
        </p:nvSpPr>
        <p:spPr>
          <a:xfrm>
            <a:off x="5260181" y="2928938"/>
            <a:ext cx="3847862" cy="361950"/>
          </a:xfrm>
          <a:prstGeom prst="rect">
            <a:avLst/>
          </a:prstGeom>
          <a:noFill/>
          <a:ln/>
        </p:spPr>
        <p:txBody>
          <a:bodyPr wrap="square" lIns="25400" tIns="25400" rIns="25400" bIns="25400" rtlCol="0" anchor="t">
            <a:normAutofit/>
          </a:bodyPr>
          <a:lstStyle/>
          <a:p>
            <a:pPr algn="l" indent="0" marL="0">
              <a:buNone/>
            </a:pPr>
            <a:r>
              <a:rPr lang="en-US" sz="2250" dirty="0">
                <a:solidFill>
                  <a:srgbClr val="8C7A3F"/>
                </a:solidFill>
                <a:latin typeface="Courier New" pitchFamily="34" charset="0"/>
                <a:ea typeface="Courier New" pitchFamily="34" charset="-122"/>
                <a:cs typeface="Courier New" pitchFamily="34" charset="-120"/>
              </a:rPr>
              <a:t>2</a:t>
            </a:r>
            <a:endParaRPr lang="en-US" sz="2250" dirty="0"/>
          </a:p>
        </p:txBody>
      </p:sp>
      <p:sp>
        <p:nvSpPr>
          <p:cNvPr id="10" name="Text 8"/>
          <p:cNvSpPr/>
          <p:nvPr/>
        </p:nvSpPr>
        <p:spPr>
          <a:xfrm>
            <a:off x="5260181" y="3424238"/>
            <a:ext cx="3847862" cy="392311"/>
          </a:xfrm>
          <a:prstGeom prst="rect">
            <a:avLst/>
          </a:prstGeom>
          <a:noFill/>
          <a:ln/>
        </p:spPr>
        <p:txBody>
          <a:bodyPr wrap="square" lIns="25400" tIns="25400" rIns="25400" bIns="25400" rtlCol="0" anchor="t">
            <a:normAutofit/>
          </a:bodyPr>
          <a:lstStyle/>
          <a:p>
            <a:pPr algn="l" indent="0" marL="0">
              <a:lnSpc>
                <a:spcPct val="120000"/>
              </a:lnSpc>
              <a:buNone/>
            </a:pPr>
            <a:r>
              <a:rPr lang="en-US" sz="2325" dirty="0">
                <a:solidFill>
                  <a:srgbClr val="20201E"/>
                </a:solidFill>
                <a:latin typeface="Georgia" pitchFamily="34" charset="0"/>
                <a:ea typeface="Georgia" pitchFamily="34" charset="-122"/>
                <a:cs typeface="Georgia" pitchFamily="34" charset="-120"/>
              </a:rPr>
              <a:t>Engineering Process</a:t>
            </a:r>
            <a:endParaRPr lang="en-US" sz="2325" dirty="0"/>
          </a:p>
        </p:txBody>
      </p:sp>
      <p:sp>
        <p:nvSpPr>
          <p:cNvPr id="11" name="Text 9"/>
          <p:cNvSpPr/>
          <p:nvPr/>
        </p:nvSpPr>
        <p:spPr>
          <a:xfrm>
            <a:off x="5260181" y="3930848"/>
            <a:ext cx="3602998" cy="1109663"/>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6E6A60"/>
                </a:solidFill>
                <a:latin typeface="Georgia" pitchFamily="34" charset="0"/>
                <a:ea typeface="Georgia" pitchFamily="34" charset="-122"/>
                <a:cs typeface="Georgia" pitchFamily="34" charset="-120"/>
              </a:rPr>
              <a:t>요구 분석 → 모델링 → 아키텍처 → 구현 → 테스트의 순서와 산출물</a:t>
            </a:r>
            <a:endParaRPr lang="en-US" sz="1875" dirty="0"/>
          </a:p>
        </p:txBody>
      </p:sp>
      <p:sp>
        <p:nvSpPr>
          <p:cNvPr id="12" name="Shape 10"/>
          <p:cNvSpPr/>
          <p:nvPr/>
        </p:nvSpPr>
        <p:spPr>
          <a:xfrm>
            <a:off x="9139238" y="2928938"/>
            <a:ext cx="9525" cy="4800600"/>
          </a:xfrm>
          <a:prstGeom prst="rect">
            <a:avLst/>
          </a:prstGeom>
          <a:solidFill>
            <a:srgbClr val="E4E0D6"/>
          </a:solidFill>
          <a:ln/>
        </p:spPr>
      </p:sp>
      <p:sp>
        <p:nvSpPr>
          <p:cNvPr id="13" name="Text 11"/>
          <p:cNvSpPr/>
          <p:nvPr/>
        </p:nvSpPr>
        <p:spPr>
          <a:xfrm>
            <a:off x="9529763" y="2928938"/>
            <a:ext cx="3847862" cy="361950"/>
          </a:xfrm>
          <a:prstGeom prst="rect">
            <a:avLst/>
          </a:prstGeom>
          <a:noFill/>
          <a:ln/>
        </p:spPr>
        <p:txBody>
          <a:bodyPr wrap="square" lIns="25400" tIns="25400" rIns="25400" bIns="25400" rtlCol="0" anchor="t">
            <a:normAutofit/>
          </a:bodyPr>
          <a:lstStyle/>
          <a:p>
            <a:pPr algn="l" indent="0" marL="0">
              <a:buNone/>
            </a:pPr>
            <a:r>
              <a:rPr lang="en-US" sz="2250" dirty="0">
                <a:solidFill>
                  <a:srgbClr val="8C7A3F"/>
                </a:solidFill>
                <a:latin typeface="Courier New" pitchFamily="34" charset="0"/>
                <a:ea typeface="Courier New" pitchFamily="34" charset="-122"/>
                <a:cs typeface="Courier New" pitchFamily="34" charset="-120"/>
              </a:rPr>
              <a:t>3</a:t>
            </a:r>
            <a:endParaRPr lang="en-US" sz="2250" dirty="0"/>
          </a:p>
        </p:txBody>
      </p:sp>
      <p:sp>
        <p:nvSpPr>
          <p:cNvPr id="14" name="Text 12"/>
          <p:cNvSpPr/>
          <p:nvPr/>
        </p:nvSpPr>
        <p:spPr>
          <a:xfrm>
            <a:off x="9529763" y="3424238"/>
            <a:ext cx="3847862" cy="392311"/>
          </a:xfrm>
          <a:prstGeom prst="rect">
            <a:avLst/>
          </a:prstGeom>
          <a:noFill/>
          <a:ln/>
        </p:spPr>
        <p:txBody>
          <a:bodyPr wrap="square" lIns="25400" tIns="25400" rIns="25400" bIns="25400" rtlCol="0" anchor="t">
            <a:normAutofit/>
          </a:bodyPr>
          <a:lstStyle/>
          <a:p>
            <a:pPr algn="l" indent="0" marL="0">
              <a:lnSpc>
                <a:spcPct val="120000"/>
              </a:lnSpc>
              <a:buNone/>
            </a:pPr>
            <a:r>
              <a:rPr lang="en-US" sz="2325" dirty="0">
                <a:solidFill>
                  <a:srgbClr val="20201E"/>
                </a:solidFill>
                <a:latin typeface="Georgia" pitchFamily="34" charset="0"/>
                <a:ea typeface="Georgia" pitchFamily="34" charset="-122"/>
                <a:cs typeface="Georgia" pitchFamily="34" charset="-120"/>
              </a:rPr>
              <a:t>SE Principles</a:t>
            </a:r>
            <a:endParaRPr lang="en-US" sz="2325" dirty="0"/>
          </a:p>
        </p:txBody>
      </p:sp>
      <p:sp>
        <p:nvSpPr>
          <p:cNvPr id="15" name="Text 13"/>
          <p:cNvSpPr/>
          <p:nvPr/>
        </p:nvSpPr>
        <p:spPr>
          <a:xfrm>
            <a:off x="9529763" y="3930848"/>
            <a:ext cx="3602998" cy="1109663"/>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6E6A60"/>
                </a:solidFill>
                <a:latin typeface="Georgia" pitchFamily="34" charset="0"/>
                <a:ea typeface="Georgia" pitchFamily="34" charset="-122"/>
                <a:cs typeface="Georgia" pitchFamily="34" charset="-120"/>
              </a:rPr>
              <a:t>추상화 · 모듈화 · 정보 은닉 · 낮은 결합도 · 높은 응집도 · SOLID · 패턴</a:t>
            </a:r>
            <a:endParaRPr lang="en-US" sz="1875" dirty="0"/>
          </a:p>
        </p:txBody>
      </p:sp>
      <p:sp>
        <p:nvSpPr>
          <p:cNvPr id="16" name="Shape 14"/>
          <p:cNvSpPr/>
          <p:nvPr/>
        </p:nvSpPr>
        <p:spPr>
          <a:xfrm>
            <a:off x="13408819" y="2928938"/>
            <a:ext cx="9525" cy="4800600"/>
          </a:xfrm>
          <a:prstGeom prst="rect">
            <a:avLst/>
          </a:prstGeom>
          <a:solidFill>
            <a:srgbClr val="E4E0D6"/>
          </a:solidFill>
          <a:ln/>
        </p:spPr>
      </p:sp>
      <p:sp>
        <p:nvSpPr>
          <p:cNvPr id="17" name="Text 15"/>
          <p:cNvSpPr/>
          <p:nvPr/>
        </p:nvSpPr>
        <p:spPr>
          <a:xfrm>
            <a:off x="13799344" y="2928938"/>
            <a:ext cx="3847862" cy="361950"/>
          </a:xfrm>
          <a:prstGeom prst="rect">
            <a:avLst/>
          </a:prstGeom>
          <a:noFill/>
          <a:ln/>
        </p:spPr>
        <p:txBody>
          <a:bodyPr wrap="square" lIns="25400" tIns="25400" rIns="25400" bIns="25400" rtlCol="0" anchor="t">
            <a:normAutofit/>
          </a:bodyPr>
          <a:lstStyle/>
          <a:p>
            <a:pPr algn="l" indent="0" marL="0">
              <a:buNone/>
            </a:pPr>
            <a:r>
              <a:rPr lang="en-US" sz="2250" dirty="0">
                <a:solidFill>
                  <a:srgbClr val="8C7A3F"/>
                </a:solidFill>
                <a:latin typeface="Courier New" pitchFamily="34" charset="0"/>
                <a:ea typeface="Courier New" pitchFamily="34" charset="-122"/>
                <a:cs typeface="Courier New" pitchFamily="34" charset="-120"/>
              </a:rPr>
              <a:t>4</a:t>
            </a:r>
            <a:endParaRPr lang="en-US" sz="2250" dirty="0"/>
          </a:p>
        </p:txBody>
      </p:sp>
      <p:sp>
        <p:nvSpPr>
          <p:cNvPr id="18" name="Text 16"/>
          <p:cNvSpPr/>
          <p:nvPr/>
        </p:nvSpPr>
        <p:spPr>
          <a:xfrm>
            <a:off x="13799344" y="3424238"/>
            <a:ext cx="3847862" cy="392311"/>
          </a:xfrm>
          <a:prstGeom prst="rect">
            <a:avLst/>
          </a:prstGeom>
          <a:noFill/>
          <a:ln/>
        </p:spPr>
        <p:txBody>
          <a:bodyPr wrap="square" lIns="25400" tIns="25400" rIns="25400" bIns="25400" rtlCol="0" anchor="t">
            <a:normAutofit/>
          </a:bodyPr>
          <a:lstStyle/>
          <a:p>
            <a:pPr algn="l" indent="0" marL="0">
              <a:lnSpc>
                <a:spcPct val="120000"/>
              </a:lnSpc>
              <a:buNone/>
            </a:pPr>
            <a:r>
              <a:rPr lang="en-US" sz="2325" dirty="0">
                <a:solidFill>
                  <a:srgbClr val="20201E"/>
                </a:solidFill>
                <a:latin typeface="Georgia" pitchFamily="34" charset="0"/>
                <a:ea typeface="Georgia" pitchFamily="34" charset="-122"/>
                <a:cs typeface="Georgia" pitchFamily="34" charset="-120"/>
              </a:rPr>
              <a:t>Verification</a:t>
            </a:r>
            <a:endParaRPr lang="en-US" sz="2325" dirty="0"/>
          </a:p>
        </p:txBody>
      </p:sp>
      <p:sp>
        <p:nvSpPr>
          <p:cNvPr id="19" name="Text 17"/>
          <p:cNvSpPr/>
          <p:nvPr/>
        </p:nvSpPr>
        <p:spPr>
          <a:xfrm>
            <a:off x="13799344" y="3930848"/>
            <a:ext cx="3602998" cy="1109663"/>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6E6A60"/>
                </a:solidFill>
                <a:latin typeface="Georgia" pitchFamily="34" charset="0"/>
                <a:ea typeface="Georgia" pitchFamily="34" charset="-122"/>
                <a:cs typeface="Georgia" pitchFamily="34" charset="-120"/>
              </a:rPr>
              <a:t>FR/NFR와 테스트 케이스를 연결해 구현이 요구를 만족하는지 확인</a:t>
            </a:r>
            <a:endParaRPr lang="en-US" sz="1875" dirty="0"/>
          </a:p>
        </p:txBody>
      </p:sp>
      <p:sp>
        <p:nvSpPr>
          <p:cNvPr id="20" name="Shape 18"/>
          <p:cNvSpPr/>
          <p:nvPr/>
        </p:nvSpPr>
        <p:spPr>
          <a:xfrm>
            <a:off x="990600" y="8072438"/>
            <a:ext cx="16306800" cy="842963"/>
          </a:xfrm>
          <a:prstGeom prst="rect">
            <a:avLst/>
          </a:prstGeom>
          <a:solidFill>
            <a:srgbClr val="F4F1E9"/>
          </a:solidFill>
          <a:ln w="9525">
            <a:solidFill>
              <a:srgbClr val="E4E0D6"/>
            </a:solidFill>
            <a:prstDash val="solid"/>
          </a:ln>
        </p:spPr>
      </p:sp>
      <p:sp>
        <p:nvSpPr>
          <p:cNvPr id="21" name="Text 19"/>
          <p:cNvSpPr/>
          <p:nvPr/>
        </p:nvSpPr>
        <p:spPr>
          <a:xfrm>
            <a:off x="1323975" y="8370094"/>
            <a:ext cx="1518419" cy="2857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8C7A3F"/>
                </a:solidFill>
                <a:latin typeface="Courier New" pitchFamily="34" charset="0"/>
                <a:ea typeface="Courier New" pitchFamily="34" charset="-122"/>
                <a:cs typeface="Courier New" pitchFamily="34" charset="-120"/>
              </a:rPr>
              <a:t>STORYLINE</a:t>
            </a:r>
            <a:endParaRPr lang="en-US" sz="1725" dirty="0"/>
          </a:p>
        </p:txBody>
      </p:sp>
      <p:sp>
        <p:nvSpPr>
          <p:cNvPr id="22" name="Text 20"/>
          <p:cNvSpPr/>
          <p:nvPr/>
        </p:nvSpPr>
        <p:spPr>
          <a:xfrm>
            <a:off x="2932956" y="8329613"/>
            <a:ext cx="11731853" cy="366713"/>
          </a:xfrm>
          <a:prstGeom prst="rect">
            <a:avLst/>
          </a:prstGeom>
          <a:noFill/>
          <a:ln/>
        </p:spPr>
        <p:txBody>
          <a:bodyPr wrap="square" lIns="25400" tIns="25400" rIns="25400" bIns="25400" rtlCol="0" anchor="t">
            <a:normAutofit/>
          </a:bodyPr>
          <a:lstStyle/>
          <a:p>
            <a:pPr algn="l" indent="0" marL="0">
              <a:lnSpc>
                <a:spcPct val="150000"/>
              </a:lnSpc>
              <a:buNone/>
            </a:pPr>
            <a:r>
              <a:rPr lang="en-US" sz="1725" dirty="0">
                <a:solidFill>
                  <a:srgbClr val="46443D"/>
                </a:solidFill>
                <a:latin typeface="Courier New" pitchFamily="34" charset="0"/>
                <a:ea typeface="Courier New" pitchFamily="34" charset="-122"/>
                <a:cs typeface="Courier New" pitchFamily="34" charset="-120"/>
              </a:rPr>
              <a:t>사용자 요구 → 검증 가능한 요구사항 → UML 모델 → 컴포넌트 설계 → 점증 구현 → 테스트 케이스</a:t>
            </a:r>
            <a:endParaRPr lang="en-US" sz="1725" dirty="0"/>
          </a:p>
        </p:txBody>
      </p:sp>
      <p:sp>
        <p:nvSpPr>
          <p:cNvPr id="23" name="Shape 21"/>
          <p:cNvSpPr/>
          <p:nvPr/>
        </p:nvSpPr>
        <p:spPr>
          <a:xfrm>
            <a:off x="990600" y="9239250"/>
            <a:ext cx="16306800" cy="9525"/>
          </a:xfrm>
          <a:prstGeom prst="rect">
            <a:avLst/>
          </a:prstGeom>
          <a:solidFill>
            <a:srgbClr val="E4E0D6"/>
          </a:solidFill>
          <a:ln/>
        </p:spPr>
      </p:sp>
      <p:sp>
        <p:nvSpPr>
          <p:cNvPr id="24" name="Text 22"/>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25" name="Text 23"/>
          <p:cNvSpPr/>
          <p:nvPr/>
        </p:nvSpPr>
        <p:spPr>
          <a:xfrm>
            <a:off x="15513993" y="9458325"/>
            <a:ext cx="1961748"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00 / Criteria</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01 — ENGINEERING PROCESS</a:t>
            </a:r>
            <a:endParaRPr lang="en-US" sz="1875" dirty="0"/>
          </a:p>
        </p:txBody>
      </p:sp>
      <p:sp>
        <p:nvSpPr>
          <p:cNvPr id="3" name="Text 1"/>
          <p:cNvSpPr/>
          <p:nvPr/>
        </p:nvSpPr>
        <p:spPr>
          <a:xfrm>
            <a:off x="990600" y="1247775"/>
            <a:ext cx="17937480" cy="585788"/>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Software Engineering Process Map</a:t>
            </a:r>
            <a:endParaRPr lang="en-US" sz="3750" dirty="0"/>
          </a:p>
        </p:txBody>
      </p:sp>
      <p:sp>
        <p:nvSpPr>
          <p:cNvPr id="4" name="Text 2"/>
          <p:cNvSpPr/>
          <p:nvPr/>
        </p:nvSpPr>
        <p:spPr>
          <a:xfrm>
            <a:off x="990600" y="1966912"/>
            <a:ext cx="16135350"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46443D"/>
                </a:solidFill>
                <a:latin typeface="Georgia" pitchFamily="34" charset="0"/>
                <a:ea typeface="Georgia" pitchFamily="34" charset="-122"/>
                <a:cs typeface="Georgia" pitchFamily="34" charset="-120"/>
              </a:rPr>
              <a:t>요구사항에서 테스트까지 산출물이 끊기지 않도록 </a:t>
            </a:r>
            <a:pPr algn="l" indent="0" marL="0">
              <a:lnSpc>
                <a:spcPct val="150000"/>
              </a:lnSpc>
              <a:buNone/>
            </a:pPr>
            <a:r>
              <a:rPr lang="en-US" sz="2250" dirty="0">
                <a:solidFill>
                  <a:srgbClr val="8C7A3F"/>
                </a:solidFill>
                <a:latin typeface="Georgia" pitchFamily="34" charset="0"/>
                <a:ea typeface="Georgia" pitchFamily="34" charset="-122"/>
                <a:cs typeface="Georgia" pitchFamily="34" charset="-120"/>
              </a:rPr>
              <a:t>하나의 추적 흐름</a:t>
            </a:r>
            <a:pPr algn="l" indent="0" marL="0">
              <a:lnSpc>
                <a:spcPct val="150000"/>
              </a:lnSpc>
              <a:buNone/>
            </a:pPr>
            <a:r>
              <a:rPr lang="en-US" sz="2250" dirty="0">
                <a:solidFill>
                  <a:srgbClr val="46443D"/>
                </a:solidFill>
                <a:latin typeface="Georgia" pitchFamily="34" charset="0"/>
                <a:ea typeface="Georgia" pitchFamily="34" charset="-122"/>
                <a:cs typeface="Georgia" pitchFamily="34" charset="-120"/>
              </a:rPr>
              <a:t>으로 정리했다.</a:t>
            </a:r>
            <a:endParaRPr lang="en-US" sz="2250" dirty="0"/>
          </a:p>
        </p:txBody>
      </p:sp>
      <p:sp>
        <p:nvSpPr>
          <p:cNvPr id="5" name="Text 3"/>
          <p:cNvSpPr/>
          <p:nvPr/>
        </p:nvSpPr>
        <p:spPr>
          <a:xfrm>
            <a:off x="990600" y="4423916"/>
            <a:ext cx="2456974" cy="27622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STEP 1</a:t>
            </a:r>
            <a:endParaRPr lang="en-US" sz="1650" dirty="0"/>
          </a:p>
        </p:txBody>
      </p:sp>
      <p:sp>
        <p:nvSpPr>
          <p:cNvPr id="6" name="Text 4"/>
          <p:cNvSpPr/>
          <p:nvPr/>
        </p:nvSpPr>
        <p:spPr>
          <a:xfrm>
            <a:off x="990600" y="4776341"/>
            <a:ext cx="2456974" cy="381000"/>
          </a:xfrm>
          <a:prstGeom prst="rect">
            <a:avLst/>
          </a:prstGeom>
          <a:noFill/>
          <a:ln/>
        </p:spPr>
        <p:txBody>
          <a:bodyPr wrap="square" lIns="25400" tIns="25400" rIns="25400" bIns="25400" rtlCol="0" anchor="t">
            <a:normAutofit/>
          </a:bodyPr>
          <a:lstStyle/>
          <a:p>
            <a:pPr algn="l" indent="0" marL="0">
              <a:buNone/>
            </a:pPr>
            <a:r>
              <a:rPr lang="en-US" sz="2175" dirty="0">
                <a:solidFill>
                  <a:srgbClr val="20201E"/>
                </a:solidFill>
                <a:latin typeface="Georgia" pitchFamily="34" charset="0"/>
                <a:ea typeface="Georgia" pitchFamily="34" charset="-122"/>
                <a:cs typeface="Georgia" pitchFamily="34" charset="-120"/>
              </a:rPr>
              <a:t>문제 탐색</a:t>
            </a:r>
            <a:endParaRPr lang="en-US" sz="2175" dirty="0"/>
          </a:p>
        </p:txBody>
      </p:sp>
      <p:sp>
        <p:nvSpPr>
          <p:cNvPr id="7" name="Text 5"/>
          <p:cNvSpPr/>
          <p:nvPr/>
        </p:nvSpPr>
        <p:spPr>
          <a:xfrm>
            <a:off x="990600" y="5214491"/>
            <a:ext cx="2309813"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6A60"/>
                </a:solidFill>
                <a:latin typeface="Georgia" pitchFamily="34" charset="0"/>
                <a:ea typeface="Georgia" pitchFamily="34" charset="-122"/>
                <a:cs typeface="Georgia" pitchFamily="34" charset="-120"/>
              </a:rPr>
              <a:t>자료 기반 장시간 AI Chat 사용 맥락 설정</a:t>
            </a:r>
            <a:endParaRPr lang="en-US" sz="1800" dirty="0"/>
          </a:p>
        </p:txBody>
      </p:sp>
      <p:sp>
        <p:nvSpPr>
          <p:cNvPr id="8" name="Shape 6"/>
          <p:cNvSpPr/>
          <p:nvPr/>
        </p:nvSpPr>
        <p:spPr>
          <a:xfrm>
            <a:off x="3509963" y="4423916"/>
            <a:ext cx="9525" cy="1453455"/>
          </a:xfrm>
          <a:prstGeom prst="rect">
            <a:avLst/>
          </a:prstGeom>
          <a:solidFill>
            <a:srgbClr val="E4E0D6"/>
          </a:solidFill>
          <a:ln/>
        </p:spPr>
      </p:sp>
      <p:sp>
        <p:nvSpPr>
          <p:cNvPr id="9" name="Text 7"/>
          <p:cNvSpPr/>
          <p:nvPr/>
        </p:nvSpPr>
        <p:spPr>
          <a:xfrm>
            <a:off x="3805237" y="4423916"/>
            <a:ext cx="2456974" cy="27622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STEP 2</a:t>
            </a:r>
            <a:endParaRPr lang="en-US" sz="1650" dirty="0"/>
          </a:p>
        </p:txBody>
      </p:sp>
      <p:sp>
        <p:nvSpPr>
          <p:cNvPr id="10" name="Text 8"/>
          <p:cNvSpPr/>
          <p:nvPr/>
        </p:nvSpPr>
        <p:spPr>
          <a:xfrm>
            <a:off x="3805237" y="4776341"/>
            <a:ext cx="2456974" cy="381000"/>
          </a:xfrm>
          <a:prstGeom prst="rect">
            <a:avLst/>
          </a:prstGeom>
          <a:noFill/>
          <a:ln/>
        </p:spPr>
        <p:txBody>
          <a:bodyPr wrap="square" lIns="25400" tIns="25400" rIns="25400" bIns="25400" rtlCol="0" anchor="t">
            <a:normAutofit/>
          </a:bodyPr>
          <a:lstStyle/>
          <a:p>
            <a:pPr algn="l" indent="0" marL="0">
              <a:buNone/>
            </a:pPr>
            <a:r>
              <a:rPr lang="en-US" sz="2175" dirty="0">
                <a:solidFill>
                  <a:srgbClr val="20201E"/>
                </a:solidFill>
                <a:latin typeface="Georgia" pitchFamily="34" charset="0"/>
                <a:ea typeface="Georgia" pitchFamily="34" charset="-122"/>
                <a:cs typeface="Georgia" pitchFamily="34" charset="-120"/>
              </a:rPr>
              <a:t>요구 분석</a:t>
            </a:r>
            <a:endParaRPr lang="en-US" sz="2175" dirty="0"/>
          </a:p>
        </p:txBody>
      </p:sp>
      <p:sp>
        <p:nvSpPr>
          <p:cNvPr id="11" name="Text 9"/>
          <p:cNvSpPr/>
          <p:nvPr/>
        </p:nvSpPr>
        <p:spPr>
          <a:xfrm>
            <a:off x="3805237" y="5214491"/>
            <a:ext cx="2309813"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6A60"/>
                </a:solidFill>
                <a:latin typeface="Georgia" pitchFamily="34" charset="0"/>
                <a:ea typeface="Georgia" pitchFamily="34" charset="-122"/>
                <a:cs typeface="Georgia" pitchFamily="34" charset="-120"/>
              </a:rPr>
              <a:t>설문·인터뷰 → 사용자 문제 → FR/NFR</a:t>
            </a:r>
            <a:endParaRPr lang="en-US" sz="1800" dirty="0"/>
          </a:p>
        </p:txBody>
      </p:sp>
      <p:sp>
        <p:nvSpPr>
          <p:cNvPr id="12" name="Shape 10"/>
          <p:cNvSpPr/>
          <p:nvPr/>
        </p:nvSpPr>
        <p:spPr>
          <a:xfrm>
            <a:off x="6324600" y="4423916"/>
            <a:ext cx="9525" cy="1453455"/>
          </a:xfrm>
          <a:prstGeom prst="rect">
            <a:avLst/>
          </a:prstGeom>
          <a:solidFill>
            <a:srgbClr val="E4E0D6"/>
          </a:solidFill>
          <a:ln/>
        </p:spPr>
      </p:sp>
      <p:sp>
        <p:nvSpPr>
          <p:cNvPr id="13" name="Text 11"/>
          <p:cNvSpPr/>
          <p:nvPr/>
        </p:nvSpPr>
        <p:spPr>
          <a:xfrm>
            <a:off x="6619875" y="4423916"/>
            <a:ext cx="2456974" cy="27622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STEP 3</a:t>
            </a:r>
            <a:endParaRPr lang="en-US" sz="1650" dirty="0"/>
          </a:p>
        </p:txBody>
      </p:sp>
      <p:sp>
        <p:nvSpPr>
          <p:cNvPr id="14" name="Text 12"/>
          <p:cNvSpPr/>
          <p:nvPr/>
        </p:nvSpPr>
        <p:spPr>
          <a:xfrm>
            <a:off x="6619875" y="4776341"/>
            <a:ext cx="2456974" cy="381000"/>
          </a:xfrm>
          <a:prstGeom prst="rect">
            <a:avLst/>
          </a:prstGeom>
          <a:noFill/>
          <a:ln/>
        </p:spPr>
        <p:txBody>
          <a:bodyPr wrap="square" lIns="25400" tIns="25400" rIns="25400" bIns="25400" rtlCol="0" anchor="t">
            <a:normAutofit/>
          </a:bodyPr>
          <a:lstStyle/>
          <a:p>
            <a:pPr algn="l" indent="0" marL="0">
              <a:buNone/>
            </a:pPr>
            <a:r>
              <a:rPr lang="en-US" sz="2175" dirty="0">
                <a:solidFill>
                  <a:srgbClr val="20201E"/>
                </a:solidFill>
                <a:latin typeface="Georgia" pitchFamily="34" charset="0"/>
                <a:ea typeface="Georgia" pitchFamily="34" charset="-122"/>
                <a:cs typeface="Georgia" pitchFamily="34" charset="-120"/>
              </a:rPr>
              <a:t>요구 모델링</a:t>
            </a:r>
            <a:endParaRPr lang="en-US" sz="2175" dirty="0"/>
          </a:p>
        </p:txBody>
      </p:sp>
      <p:sp>
        <p:nvSpPr>
          <p:cNvPr id="15" name="Text 13"/>
          <p:cNvSpPr/>
          <p:nvPr/>
        </p:nvSpPr>
        <p:spPr>
          <a:xfrm>
            <a:off x="6619875" y="5214491"/>
            <a:ext cx="2309813"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6A60"/>
                </a:solidFill>
                <a:latin typeface="Georgia" pitchFamily="34" charset="0"/>
                <a:ea typeface="Georgia" pitchFamily="34" charset="-122"/>
                <a:cs typeface="Georgia" pitchFamily="34" charset="-120"/>
              </a:rPr>
              <a:t>Use Case · Class · Sequence Diagram</a:t>
            </a:r>
            <a:endParaRPr lang="en-US" sz="1800" dirty="0"/>
          </a:p>
        </p:txBody>
      </p:sp>
      <p:sp>
        <p:nvSpPr>
          <p:cNvPr id="16" name="Shape 14"/>
          <p:cNvSpPr/>
          <p:nvPr/>
        </p:nvSpPr>
        <p:spPr>
          <a:xfrm>
            <a:off x="9139238" y="4423916"/>
            <a:ext cx="9525" cy="1453455"/>
          </a:xfrm>
          <a:prstGeom prst="rect">
            <a:avLst/>
          </a:prstGeom>
          <a:solidFill>
            <a:srgbClr val="E4E0D6"/>
          </a:solidFill>
          <a:ln/>
        </p:spPr>
      </p:sp>
      <p:sp>
        <p:nvSpPr>
          <p:cNvPr id="17" name="Text 15"/>
          <p:cNvSpPr/>
          <p:nvPr/>
        </p:nvSpPr>
        <p:spPr>
          <a:xfrm>
            <a:off x="9434513" y="4423916"/>
            <a:ext cx="2456974" cy="27622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STEP 4</a:t>
            </a:r>
            <a:endParaRPr lang="en-US" sz="1650" dirty="0"/>
          </a:p>
        </p:txBody>
      </p:sp>
      <p:sp>
        <p:nvSpPr>
          <p:cNvPr id="18" name="Text 16"/>
          <p:cNvSpPr/>
          <p:nvPr/>
        </p:nvSpPr>
        <p:spPr>
          <a:xfrm>
            <a:off x="9434513" y="4776341"/>
            <a:ext cx="2456974" cy="352425"/>
          </a:xfrm>
          <a:prstGeom prst="rect">
            <a:avLst/>
          </a:prstGeom>
          <a:noFill/>
          <a:ln/>
        </p:spPr>
        <p:txBody>
          <a:bodyPr wrap="square" lIns="25400" tIns="25400" rIns="25400" bIns="25400" rtlCol="0" anchor="t">
            <a:normAutofit/>
          </a:bodyPr>
          <a:lstStyle/>
          <a:p>
            <a:pPr algn="l" indent="0" marL="0">
              <a:buNone/>
            </a:pPr>
            <a:r>
              <a:rPr lang="en-US" sz="2175" dirty="0">
                <a:solidFill>
                  <a:srgbClr val="20201E"/>
                </a:solidFill>
                <a:latin typeface="Georgia" pitchFamily="34" charset="0"/>
                <a:ea typeface="Georgia" pitchFamily="34" charset="-122"/>
                <a:cs typeface="Georgia" pitchFamily="34" charset="-120"/>
              </a:rPr>
              <a:t>System Design</a:t>
            </a:r>
            <a:endParaRPr lang="en-US" sz="2175" dirty="0"/>
          </a:p>
        </p:txBody>
      </p:sp>
      <p:sp>
        <p:nvSpPr>
          <p:cNvPr id="19" name="Text 17"/>
          <p:cNvSpPr/>
          <p:nvPr/>
        </p:nvSpPr>
        <p:spPr>
          <a:xfrm>
            <a:off x="9434513" y="5185916"/>
            <a:ext cx="2309813"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6A60"/>
                </a:solidFill>
                <a:latin typeface="Georgia" pitchFamily="34" charset="0"/>
                <a:ea typeface="Georgia" pitchFamily="34" charset="-122"/>
                <a:cs typeface="Georgia" pitchFamily="34" charset="-120"/>
              </a:rPr>
              <a:t>Frontend · Backend · DB · AI Server 분리</a:t>
            </a:r>
            <a:endParaRPr lang="en-US" sz="1800" dirty="0"/>
          </a:p>
        </p:txBody>
      </p:sp>
      <p:sp>
        <p:nvSpPr>
          <p:cNvPr id="20" name="Shape 18"/>
          <p:cNvSpPr/>
          <p:nvPr/>
        </p:nvSpPr>
        <p:spPr>
          <a:xfrm>
            <a:off x="11953875" y="4423916"/>
            <a:ext cx="9525" cy="1453455"/>
          </a:xfrm>
          <a:prstGeom prst="rect">
            <a:avLst/>
          </a:prstGeom>
          <a:solidFill>
            <a:srgbClr val="E4E0D6"/>
          </a:solidFill>
          <a:ln/>
        </p:spPr>
      </p:sp>
      <p:sp>
        <p:nvSpPr>
          <p:cNvPr id="21" name="Text 19"/>
          <p:cNvSpPr/>
          <p:nvPr/>
        </p:nvSpPr>
        <p:spPr>
          <a:xfrm>
            <a:off x="12249150" y="4423916"/>
            <a:ext cx="2456974" cy="27622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STEP 5</a:t>
            </a:r>
            <a:endParaRPr lang="en-US" sz="1650" dirty="0"/>
          </a:p>
        </p:txBody>
      </p:sp>
      <p:sp>
        <p:nvSpPr>
          <p:cNvPr id="22" name="Text 20"/>
          <p:cNvSpPr/>
          <p:nvPr/>
        </p:nvSpPr>
        <p:spPr>
          <a:xfrm>
            <a:off x="12249150" y="4776341"/>
            <a:ext cx="2456974" cy="352425"/>
          </a:xfrm>
          <a:prstGeom prst="rect">
            <a:avLst/>
          </a:prstGeom>
          <a:noFill/>
          <a:ln/>
        </p:spPr>
        <p:txBody>
          <a:bodyPr wrap="square" lIns="25400" tIns="25400" rIns="25400" bIns="25400" rtlCol="0" anchor="t">
            <a:normAutofit/>
          </a:bodyPr>
          <a:lstStyle/>
          <a:p>
            <a:pPr algn="l" indent="0" marL="0">
              <a:buNone/>
            </a:pPr>
            <a:r>
              <a:rPr lang="en-US" sz="2175" dirty="0">
                <a:solidFill>
                  <a:srgbClr val="20201E"/>
                </a:solidFill>
                <a:latin typeface="Georgia" pitchFamily="34" charset="0"/>
                <a:ea typeface="Georgia" pitchFamily="34" charset="-122"/>
                <a:cs typeface="Georgia" pitchFamily="34" charset="-120"/>
              </a:rPr>
              <a:t>Implementation</a:t>
            </a:r>
            <a:endParaRPr lang="en-US" sz="2175" dirty="0"/>
          </a:p>
        </p:txBody>
      </p:sp>
      <p:sp>
        <p:nvSpPr>
          <p:cNvPr id="23" name="Text 21"/>
          <p:cNvSpPr/>
          <p:nvPr/>
        </p:nvSpPr>
        <p:spPr>
          <a:xfrm>
            <a:off x="12249150" y="5185916"/>
            <a:ext cx="2309813"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6A60"/>
                </a:solidFill>
                <a:latin typeface="Georgia" pitchFamily="34" charset="0"/>
                <a:ea typeface="Georgia" pitchFamily="34" charset="-122"/>
                <a:cs typeface="Georgia" pitchFamily="34" charset="-120"/>
              </a:rPr>
              <a:t>Phase별 walking skeleton → 핵심 확장</a:t>
            </a:r>
            <a:endParaRPr lang="en-US" sz="1800" dirty="0"/>
          </a:p>
        </p:txBody>
      </p:sp>
      <p:sp>
        <p:nvSpPr>
          <p:cNvPr id="24" name="Shape 22"/>
          <p:cNvSpPr/>
          <p:nvPr/>
        </p:nvSpPr>
        <p:spPr>
          <a:xfrm>
            <a:off x="14768513" y="4423916"/>
            <a:ext cx="9525" cy="1453455"/>
          </a:xfrm>
          <a:prstGeom prst="rect">
            <a:avLst/>
          </a:prstGeom>
          <a:solidFill>
            <a:srgbClr val="E4E0D6"/>
          </a:solidFill>
          <a:ln/>
        </p:spPr>
      </p:sp>
      <p:sp>
        <p:nvSpPr>
          <p:cNvPr id="25" name="Text 23"/>
          <p:cNvSpPr/>
          <p:nvPr/>
        </p:nvSpPr>
        <p:spPr>
          <a:xfrm>
            <a:off x="15063787" y="4423916"/>
            <a:ext cx="2456974" cy="27622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STEP 6</a:t>
            </a:r>
            <a:endParaRPr lang="en-US" sz="1650" dirty="0"/>
          </a:p>
        </p:txBody>
      </p:sp>
      <p:sp>
        <p:nvSpPr>
          <p:cNvPr id="26" name="Text 24"/>
          <p:cNvSpPr/>
          <p:nvPr/>
        </p:nvSpPr>
        <p:spPr>
          <a:xfrm>
            <a:off x="15063787" y="4776341"/>
            <a:ext cx="2456974" cy="352425"/>
          </a:xfrm>
          <a:prstGeom prst="rect">
            <a:avLst/>
          </a:prstGeom>
          <a:noFill/>
          <a:ln/>
        </p:spPr>
        <p:txBody>
          <a:bodyPr wrap="square" lIns="25400" tIns="25400" rIns="25400" bIns="25400" rtlCol="0" anchor="t">
            <a:normAutofit/>
          </a:bodyPr>
          <a:lstStyle/>
          <a:p>
            <a:pPr algn="l" indent="0" marL="0">
              <a:buNone/>
            </a:pPr>
            <a:r>
              <a:rPr lang="en-US" sz="2175" dirty="0">
                <a:solidFill>
                  <a:srgbClr val="20201E"/>
                </a:solidFill>
                <a:latin typeface="Georgia" pitchFamily="34" charset="0"/>
                <a:ea typeface="Georgia" pitchFamily="34" charset="-122"/>
                <a:cs typeface="Georgia" pitchFamily="34" charset="-120"/>
              </a:rPr>
              <a:t>Test</a:t>
            </a:r>
            <a:endParaRPr lang="en-US" sz="2175" dirty="0"/>
          </a:p>
        </p:txBody>
      </p:sp>
      <p:sp>
        <p:nvSpPr>
          <p:cNvPr id="27" name="Text 25"/>
          <p:cNvSpPr/>
          <p:nvPr/>
        </p:nvSpPr>
        <p:spPr>
          <a:xfrm>
            <a:off x="15063787" y="5185916"/>
            <a:ext cx="2309813"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6A60"/>
                </a:solidFill>
                <a:latin typeface="Georgia" pitchFamily="34" charset="0"/>
                <a:ea typeface="Georgia" pitchFamily="34" charset="-122"/>
                <a:cs typeface="Georgia" pitchFamily="34" charset="-120"/>
              </a:rPr>
              <a:t>단위·통합·시스템 테스트와 FR/TC 추적</a:t>
            </a:r>
            <a:endParaRPr lang="en-US" sz="1800" dirty="0"/>
          </a:p>
        </p:txBody>
      </p:sp>
      <p:sp>
        <p:nvSpPr>
          <p:cNvPr id="28" name="Shape 26"/>
          <p:cNvSpPr/>
          <p:nvPr/>
        </p:nvSpPr>
        <p:spPr>
          <a:xfrm>
            <a:off x="990600" y="6201221"/>
            <a:ext cx="16306800" cy="1066800"/>
          </a:xfrm>
          <a:prstGeom prst="rect">
            <a:avLst/>
          </a:prstGeom>
          <a:solidFill>
            <a:srgbClr val="F4F1E9"/>
          </a:solidFill>
          <a:ln w="9525">
            <a:solidFill>
              <a:srgbClr val="E4E0D6"/>
            </a:solidFill>
            <a:prstDash val="solid"/>
          </a:ln>
        </p:spPr>
      </p:sp>
      <p:sp>
        <p:nvSpPr>
          <p:cNvPr id="29" name="Text 27"/>
          <p:cNvSpPr/>
          <p:nvPr/>
        </p:nvSpPr>
        <p:spPr>
          <a:xfrm>
            <a:off x="1304925" y="6477446"/>
            <a:ext cx="670322" cy="552450"/>
          </a:xfrm>
          <a:prstGeom prst="rect">
            <a:avLst/>
          </a:prstGeom>
          <a:noFill/>
          <a:ln/>
        </p:spPr>
        <p:txBody>
          <a:bodyPr wrap="square" lIns="25400" tIns="25400" rIns="25400" bIns="25400" rtlCol="0" anchor="t">
            <a:normAutofit/>
          </a:bodyPr>
          <a:lstStyle/>
          <a:p>
            <a:pPr algn="l" indent="0" marL="0">
              <a:buNone/>
            </a:pPr>
            <a:r>
              <a:rPr lang="en-US" sz="1650" spc="132" kern="0" dirty="0">
                <a:solidFill>
                  <a:srgbClr val="8C7A3F"/>
                </a:solidFill>
                <a:latin typeface="Courier New" pitchFamily="34" charset="0"/>
                <a:ea typeface="Courier New" pitchFamily="34" charset="-122"/>
                <a:cs typeface="Courier New" pitchFamily="34" charset="-120"/>
              </a:rPr>
              <a:t>산출물 연결</a:t>
            </a:r>
            <a:endParaRPr lang="en-US" sz="1650" dirty="0"/>
          </a:p>
        </p:txBody>
      </p:sp>
      <p:sp>
        <p:nvSpPr>
          <p:cNvPr id="30" name="Text 28"/>
          <p:cNvSpPr/>
          <p:nvPr/>
        </p:nvSpPr>
        <p:spPr>
          <a:xfrm>
            <a:off x="2146697" y="6477446"/>
            <a:ext cx="2144316" cy="552450"/>
          </a:xfrm>
          <a:prstGeom prst="rect">
            <a:avLst/>
          </a:prstGeom>
          <a:noFill/>
          <a:ln/>
        </p:spPr>
        <p:txBody>
          <a:bodyPr wrap="square" lIns="25400" tIns="25400" rIns="25400" bIns="25400" rtlCol="0" anchor="t">
            <a:normAutofit/>
          </a:bodyPr>
          <a:lstStyle/>
          <a:p>
            <a:pPr algn="l" indent="0" marL="0">
              <a:buNone/>
            </a:pPr>
            <a:r>
              <a:rPr lang="en-US" sz="1725" dirty="0">
                <a:solidFill>
                  <a:srgbClr val="46443D"/>
                </a:solidFill>
                <a:latin typeface="Courier New" pitchFamily="34" charset="0"/>
                <a:ea typeface="Courier New" pitchFamily="34" charset="-122"/>
                <a:cs typeface="Courier New" pitchFamily="34" charset="-120"/>
              </a:rPr>
              <a:t>조사 결과 </a:t>
            </a:r>
            <a:pPr algn="l" indent="0" marL="0">
              <a:buNone/>
            </a:pPr>
            <a:r>
              <a:rPr lang="en-US" sz="1500" dirty="0">
                <a:solidFill>
                  <a:srgbClr val="9A968C"/>
                </a:solidFill>
                <a:latin typeface="Courier New" pitchFamily="34" charset="0"/>
                <a:ea typeface="Courier New" pitchFamily="34" charset="-122"/>
                <a:cs typeface="Courier New" pitchFamily="34" charset="-120"/>
              </a:rPr>
              <a:t>50명 설문 · 2명 인터뷰</a:t>
            </a:r>
            <a:endParaRPr lang="en-US" sz="1725" dirty="0"/>
          </a:p>
        </p:txBody>
      </p:sp>
      <p:sp>
        <p:nvSpPr>
          <p:cNvPr id="31" name="Text 29"/>
          <p:cNvSpPr/>
          <p:nvPr/>
        </p:nvSpPr>
        <p:spPr>
          <a:xfrm>
            <a:off x="4414093" y="6610796"/>
            <a:ext cx="207764" cy="285750"/>
          </a:xfrm>
          <a:prstGeom prst="rect">
            <a:avLst/>
          </a:prstGeom>
          <a:noFill/>
          <a:ln/>
        </p:spPr>
        <p:txBody>
          <a:bodyPr wrap="square" lIns="25400" tIns="25400" rIns="25400" bIns="25400" rtlCol="0" anchor="t">
            <a:normAutofit/>
          </a:bodyPr>
          <a:lstStyle/>
          <a:p>
            <a:pPr algn="l" indent="0" marL="0">
              <a:buNone/>
            </a:pPr>
            <a:r>
              <a:rPr lang="en-US" sz="1725" dirty="0">
                <a:solidFill>
                  <a:srgbClr val="C3BBAC"/>
                </a:solidFill>
                <a:latin typeface="Courier New" pitchFamily="34" charset="0"/>
                <a:ea typeface="Courier New" pitchFamily="34" charset="-122"/>
                <a:cs typeface="Courier New" pitchFamily="34" charset="-120"/>
              </a:rPr>
              <a:t>→</a:t>
            </a:r>
            <a:endParaRPr lang="en-US" sz="1725" dirty="0"/>
          </a:p>
        </p:txBody>
      </p:sp>
      <p:sp>
        <p:nvSpPr>
          <p:cNvPr id="32" name="Text 30"/>
          <p:cNvSpPr/>
          <p:nvPr/>
        </p:nvSpPr>
        <p:spPr>
          <a:xfrm>
            <a:off x="4744789" y="6486971"/>
            <a:ext cx="1764209" cy="533400"/>
          </a:xfrm>
          <a:prstGeom prst="rect">
            <a:avLst/>
          </a:prstGeom>
          <a:noFill/>
          <a:ln/>
        </p:spPr>
        <p:txBody>
          <a:bodyPr wrap="square" lIns="25400" tIns="25400" rIns="25400" bIns="25400" rtlCol="0" anchor="t">
            <a:normAutofit/>
          </a:bodyPr>
          <a:lstStyle/>
          <a:p>
            <a:pPr algn="l" indent="0" marL="0">
              <a:buNone/>
            </a:pPr>
            <a:r>
              <a:rPr lang="en-US" sz="1725" dirty="0">
                <a:solidFill>
                  <a:srgbClr val="46443D"/>
                </a:solidFill>
                <a:latin typeface="Courier New" pitchFamily="34" charset="0"/>
                <a:ea typeface="Courier New" pitchFamily="34" charset="-122"/>
                <a:cs typeface="Courier New" pitchFamily="34" charset="-120"/>
              </a:rPr>
              <a:t>SRS </a:t>
            </a:r>
            <a:pPr algn="l" indent="0" marL="0">
              <a:buNone/>
            </a:pPr>
            <a:r>
              <a:rPr lang="en-US" sz="1500" dirty="0">
                <a:solidFill>
                  <a:srgbClr val="9A968C"/>
                </a:solidFill>
                <a:latin typeface="Courier New" pitchFamily="34" charset="0"/>
                <a:ea typeface="Courier New" pitchFamily="34" charset="-122"/>
                <a:cs typeface="Courier New" pitchFamily="34" charset="-120"/>
              </a:rPr>
              <a:t>FR/NFR · 우선순위</a:t>
            </a:r>
            <a:endParaRPr lang="en-US" sz="1725" dirty="0"/>
          </a:p>
        </p:txBody>
      </p:sp>
      <p:sp>
        <p:nvSpPr>
          <p:cNvPr id="33" name="Text 31"/>
          <p:cNvSpPr/>
          <p:nvPr/>
        </p:nvSpPr>
        <p:spPr>
          <a:xfrm>
            <a:off x="6632079" y="6610796"/>
            <a:ext cx="207764" cy="285750"/>
          </a:xfrm>
          <a:prstGeom prst="rect">
            <a:avLst/>
          </a:prstGeom>
          <a:noFill/>
          <a:ln/>
        </p:spPr>
        <p:txBody>
          <a:bodyPr wrap="square" lIns="25400" tIns="25400" rIns="25400" bIns="25400" rtlCol="0" anchor="t">
            <a:normAutofit/>
          </a:bodyPr>
          <a:lstStyle/>
          <a:p>
            <a:pPr algn="l" indent="0" marL="0">
              <a:buNone/>
            </a:pPr>
            <a:r>
              <a:rPr lang="en-US" sz="1725" dirty="0">
                <a:solidFill>
                  <a:srgbClr val="C3BBAC"/>
                </a:solidFill>
                <a:latin typeface="Courier New" pitchFamily="34" charset="0"/>
                <a:ea typeface="Courier New" pitchFamily="34" charset="-122"/>
                <a:cs typeface="Courier New" pitchFamily="34" charset="-120"/>
              </a:rPr>
              <a:t>→</a:t>
            </a:r>
            <a:endParaRPr lang="en-US" sz="1725" dirty="0"/>
          </a:p>
        </p:txBody>
      </p:sp>
      <p:sp>
        <p:nvSpPr>
          <p:cNvPr id="34" name="Text 32"/>
          <p:cNvSpPr/>
          <p:nvPr/>
        </p:nvSpPr>
        <p:spPr>
          <a:xfrm>
            <a:off x="6962924" y="6486971"/>
            <a:ext cx="2476946" cy="533400"/>
          </a:xfrm>
          <a:prstGeom prst="rect">
            <a:avLst/>
          </a:prstGeom>
          <a:noFill/>
          <a:ln/>
        </p:spPr>
        <p:txBody>
          <a:bodyPr wrap="square" lIns="25400" tIns="25400" rIns="25400" bIns="25400" rtlCol="0" anchor="t">
            <a:normAutofit/>
          </a:bodyPr>
          <a:lstStyle/>
          <a:p>
            <a:pPr algn="l" indent="0" marL="0">
              <a:buNone/>
            </a:pPr>
            <a:r>
              <a:rPr lang="en-US" sz="1725" dirty="0">
                <a:solidFill>
                  <a:srgbClr val="46443D"/>
                </a:solidFill>
                <a:latin typeface="Courier New" pitchFamily="34" charset="0"/>
                <a:ea typeface="Courier New" pitchFamily="34" charset="-122"/>
                <a:cs typeface="Courier New" pitchFamily="34" charset="-120"/>
              </a:rPr>
              <a:t>UML Model </a:t>
            </a:r>
            <a:pPr algn="l" indent="0" marL="0">
              <a:buNone/>
            </a:pPr>
            <a:r>
              <a:rPr lang="en-US" sz="1500" dirty="0">
                <a:solidFill>
                  <a:srgbClr val="9A968C"/>
                </a:solidFill>
                <a:latin typeface="Courier New" pitchFamily="34" charset="0"/>
                <a:ea typeface="Courier New" pitchFamily="34" charset="-122"/>
                <a:cs typeface="Courier New" pitchFamily="34" charset="-120"/>
              </a:rPr>
              <a:t>UC · Class · Sequence</a:t>
            </a:r>
            <a:endParaRPr lang="en-US" sz="1725" dirty="0"/>
          </a:p>
        </p:txBody>
      </p:sp>
      <p:sp>
        <p:nvSpPr>
          <p:cNvPr id="35" name="Text 33"/>
          <p:cNvSpPr/>
          <p:nvPr/>
        </p:nvSpPr>
        <p:spPr>
          <a:xfrm>
            <a:off x="9562951" y="6610796"/>
            <a:ext cx="207764" cy="285750"/>
          </a:xfrm>
          <a:prstGeom prst="rect">
            <a:avLst/>
          </a:prstGeom>
          <a:noFill/>
          <a:ln/>
        </p:spPr>
        <p:txBody>
          <a:bodyPr wrap="square" lIns="25400" tIns="25400" rIns="25400" bIns="25400" rtlCol="0" anchor="t">
            <a:normAutofit/>
          </a:bodyPr>
          <a:lstStyle/>
          <a:p>
            <a:pPr algn="l" indent="0" marL="0">
              <a:buNone/>
            </a:pPr>
            <a:r>
              <a:rPr lang="en-US" sz="1725" dirty="0">
                <a:solidFill>
                  <a:srgbClr val="C3BBAC"/>
                </a:solidFill>
                <a:latin typeface="Courier New" pitchFamily="34" charset="0"/>
                <a:ea typeface="Courier New" pitchFamily="34" charset="-122"/>
                <a:cs typeface="Courier New" pitchFamily="34" charset="-120"/>
              </a:rPr>
              <a:t>→</a:t>
            </a:r>
            <a:endParaRPr lang="en-US" sz="1725" dirty="0"/>
          </a:p>
        </p:txBody>
      </p:sp>
      <p:sp>
        <p:nvSpPr>
          <p:cNvPr id="36" name="Text 34"/>
          <p:cNvSpPr/>
          <p:nvPr/>
        </p:nvSpPr>
        <p:spPr>
          <a:xfrm>
            <a:off x="9893647" y="6486971"/>
            <a:ext cx="1902321" cy="533400"/>
          </a:xfrm>
          <a:prstGeom prst="rect">
            <a:avLst/>
          </a:prstGeom>
          <a:noFill/>
          <a:ln/>
        </p:spPr>
        <p:txBody>
          <a:bodyPr wrap="square" lIns="25400" tIns="25400" rIns="25400" bIns="25400" rtlCol="0" anchor="t">
            <a:normAutofit/>
          </a:bodyPr>
          <a:lstStyle/>
          <a:p>
            <a:pPr algn="l" indent="0" marL="0">
              <a:buNone/>
            </a:pPr>
            <a:r>
              <a:rPr lang="en-US" sz="1725" dirty="0">
                <a:solidFill>
                  <a:srgbClr val="46443D"/>
                </a:solidFill>
                <a:latin typeface="Courier New" pitchFamily="34" charset="0"/>
                <a:ea typeface="Courier New" pitchFamily="34" charset="-122"/>
                <a:cs typeface="Courier New" pitchFamily="34" charset="-120"/>
              </a:rPr>
              <a:t>Architecture </a:t>
            </a:r>
            <a:pPr algn="l" indent="0" marL="0">
              <a:buNone/>
            </a:pPr>
            <a:r>
              <a:rPr lang="en-US" sz="1500" dirty="0">
                <a:solidFill>
                  <a:srgbClr val="9A968C"/>
                </a:solidFill>
                <a:latin typeface="Courier New" pitchFamily="34" charset="0"/>
                <a:ea typeface="Courier New" pitchFamily="34" charset="-122"/>
                <a:cs typeface="Courier New" pitchFamily="34" charset="-120"/>
              </a:rPr>
              <a:t>컴포넌트 · 인터페이스</a:t>
            </a:r>
            <a:endParaRPr lang="en-US" sz="1725" dirty="0"/>
          </a:p>
        </p:txBody>
      </p:sp>
      <p:sp>
        <p:nvSpPr>
          <p:cNvPr id="37" name="Text 35"/>
          <p:cNvSpPr/>
          <p:nvPr/>
        </p:nvSpPr>
        <p:spPr>
          <a:xfrm>
            <a:off x="11919049" y="6610796"/>
            <a:ext cx="207764" cy="285750"/>
          </a:xfrm>
          <a:prstGeom prst="rect">
            <a:avLst/>
          </a:prstGeom>
          <a:noFill/>
          <a:ln/>
        </p:spPr>
        <p:txBody>
          <a:bodyPr wrap="square" lIns="25400" tIns="25400" rIns="25400" bIns="25400" rtlCol="0" anchor="t">
            <a:normAutofit/>
          </a:bodyPr>
          <a:lstStyle/>
          <a:p>
            <a:pPr algn="l" indent="0" marL="0">
              <a:buNone/>
            </a:pPr>
            <a:r>
              <a:rPr lang="en-US" sz="1725" dirty="0">
                <a:solidFill>
                  <a:srgbClr val="C3BBAC"/>
                </a:solidFill>
                <a:latin typeface="Courier New" pitchFamily="34" charset="0"/>
                <a:ea typeface="Courier New" pitchFamily="34" charset="-122"/>
                <a:cs typeface="Courier New" pitchFamily="34" charset="-120"/>
              </a:rPr>
              <a:t>→</a:t>
            </a:r>
            <a:endParaRPr lang="en-US" sz="1725" dirty="0"/>
          </a:p>
        </p:txBody>
      </p:sp>
      <p:sp>
        <p:nvSpPr>
          <p:cNvPr id="38" name="Text 36"/>
          <p:cNvSpPr/>
          <p:nvPr/>
        </p:nvSpPr>
        <p:spPr>
          <a:xfrm>
            <a:off x="12249894" y="6486971"/>
            <a:ext cx="2248346" cy="533400"/>
          </a:xfrm>
          <a:prstGeom prst="rect">
            <a:avLst/>
          </a:prstGeom>
          <a:noFill/>
          <a:ln/>
        </p:spPr>
        <p:txBody>
          <a:bodyPr wrap="square" lIns="25400" tIns="25400" rIns="25400" bIns="25400" rtlCol="0" anchor="t">
            <a:normAutofit/>
          </a:bodyPr>
          <a:lstStyle/>
          <a:p>
            <a:pPr algn="l" indent="0" marL="0">
              <a:buNone/>
            </a:pPr>
            <a:r>
              <a:rPr lang="en-US" sz="1725" dirty="0">
                <a:solidFill>
                  <a:srgbClr val="46443D"/>
                </a:solidFill>
                <a:latin typeface="Courier New" pitchFamily="34" charset="0"/>
                <a:ea typeface="Courier New" pitchFamily="34" charset="-122"/>
                <a:cs typeface="Courier New" pitchFamily="34" charset="-120"/>
              </a:rPr>
              <a:t>Code / API </a:t>
            </a:r>
            <a:pPr algn="l" indent="0" marL="0">
              <a:buNone/>
            </a:pPr>
            <a:r>
              <a:rPr lang="en-US" sz="1500" dirty="0">
                <a:solidFill>
                  <a:srgbClr val="9A968C"/>
                </a:solidFill>
                <a:latin typeface="Courier New" pitchFamily="34" charset="0"/>
                <a:ea typeface="Courier New" pitchFamily="34" charset="-122"/>
                <a:cs typeface="Courier New" pitchFamily="34" charset="-120"/>
              </a:rPr>
              <a:t>Spring · React · AI</a:t>
            </a:r>
            <a:endParaRPr lang="en-US" sz="1725" dirty="0"/>
          </a:p>
        </p:txBody>
      </p:sp>
      <p:sp>
        <p:nvSpPr>
          <p:cNvPr id="39" name="Text 37"/>
          <p:cNvSpPr/>
          <p:nvPr/>
        </p:nvSpPr>
        <p:spPr>
          <a:xfrm>
            <a:off x="14621173" y="6610796"/>
            <a:ext cx="207764" cy="285750"/>
          </a:xfrm>
          <a:prstGeom prst="rect">
            <a:avLst/>
          </a:prstGeom>
          <a:noFill/>
          <a:ln/>
        </p:spPr>
        <p:txBody>
          <a:bodyPr wrap="square" lIns="25400" tIns="25400" rIns="25400" bIns="25400" rtlCol="0" anchor="t">
            <a:normAutofit/>
          </a:bodyPr>
          <a:lstStyle/>
          <a:p>
            <a:pPr algn="l" indent="0" marL="0">
              <a:buNone/>
            </a:pPr>
            <a:r>
              <a:rPr lang="en-US" sz="1725" dirty="0">
                <a:solidFill>
                  <a:srgbClr val="C3BBAC"/>
                </a:solidFill>
                <a:latin typeface="Courier New" pitchFamily="34" charset="0"/>
                <a:ea typeface="Courier New" pitchFamily="34" charset="-122"/>
                <a:cs typeface="Courier New" pitchFamily="34" charset="-120"/>
              </a:rPr>
              <a:t>→</a:t>
            </a:r>
            <a:endParaRPr lang="en-US" sz="1725" dirty="0"/>
          </a:p>
        </p:txBody>
      </p:sp>
      <p:sp>
        <p:nvSpPr>
          <p:cNvPr id="40" name="Text 38"/>
          <p:cNvSpPr/>
          <p:nvPr/>
        </p:nvSpPr>
        <p:spPr>
          <a:xfrm>
            <a:off x="14952018" y="6486971"/>
            <a:ext cx="2107257" cy="533400"/>
          </a:xfrm>
          <a:prstGeom prst="rect">
            <a:avLst/>
          </a:prstGeom>
          <a:noFill/>
          <a:ln/>
        </p:spPr>
        <p:txBody>
          <a:bodyPr wrap="square" lIns="25400" tIns="25400" rIns="25400" bIns="25400" rtlCol="0" anchor="t">
            <a:normAutofit/>
          </a:bodyPr>
          <a:lstStyle/>
          <a:p>
            <a:pPr algn="l" indent="0" marL="0">
              <a:buNone/>
            </a:pPr>
            <a:r>
              <a:rPr lang="en-US" sz="1725" dirty="0">
                <a:solidFill>
                  <a:srgbClr val="46443D"/>
                </a:solidFill>
                <a:latin typeface="Courier New" pitchFamily="34" charset="0"/>
                <a:ea typeface="Courier New" pitchFamily="34" charset="-122"/>
                <a:cs typeface="Courier New" pitchFamily="34" charset="-120"/>
              </a:rPr>
              <a:t>Test Case </a:t>
            </a:r>
            <a:pPr algn="l" indent="0" marL="0">
              <a:buNone/>
            </a:pPr>
            <a:r>
              <a:rPr lang="en-US" sz="1500" dirty="0">
                <a:solidFill>
                  <a:srgbClr val="9A968C"/>
                </a:solidFill>
                <a:latin typeface="Courier New" pitchFamily="34" charset="0"/>
                <a:ea typeface="Courier New" pitchFamily="34" charset="-122"/>
                <a:cs typeface="Courier New" pitchFamily="34" charset="-120"/>
              </a:rPr>
              <a:t>TC-01~20 · 정상·예외</a:t>
            </a:r>
            <a:endParaRPr lang="en-US" sz="1725" dirty="0"/>
          </a:p>
        </p:txBody>
      </p:sp>
      <p:sp>
        <p:nvSpPr>
          <p:cNvPr id="41" name="Shape 39"/>
          <p:cNvSpPr/>
          <p:nvPr/>
        </p:nvSpPr>
        <p:spPr>
          <a:xfrm>
            <a:off x="990600" y="9239250"/>
            <a:ext cx="16306800" cy="9525"/>
          </a:xfrm>
          <a:prstGeom prst="rect">
            <a:avLst/>
          </a:prstGeom>
          <a:solidFill>
            <a:srgbClr val="E4E0D6"/>
          </a:solidFill>
          <a:ln/>
        </p:spPr>
      </p:sp>
      <p:sp>
        <p:nvSpPr>
          <p:cNvPr id="42" name="Text 40"/>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43" name="Text 41"/>
          <p:cNvSpPr/>
          <p:nvPr/>
        </p:nvSpPr>
        <p:spPr>
          <a:xfrm>
            <a:off x="15651212" y="9458325"/>
            <a:ext cx="1810807"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01 / Process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02 — PROBLEM EXPLORATION</a:t>
            </a:r>
            <a:endParaRPr lang="en-US" sz="1875" dirty="0"/>
          </a:p>
        </p:txBody>
      </p:sp>
      <p:sp>
        <p:nvSpPr>
          <p:cNvPr id="3" name="Text 1"/>
          <p:cNvSpPr/>
          <p:nvPr/>
        </p:nvSpPr>
        <p:spPr>
          <a:xfrm>
            <a:off x="990600" y="1247775"/>
            <a:ext cx="16796004" cy="1133475"/>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자료와 이전 답변이 누적되는 장시간 AI Chat에서 </a:t>
            </a:r>
            <a:pPr algn="l" indent="0" marL="0">
              <a:lnSpc>
                <a:spcPct val="115000"/>
              </a:lnSpc>
              <a:buNone/>
            </a:pPr>
            <a:r>
              <a:rPr lang="en-US" sz="3750" spc="-37" kern="0" dirty="0">
                <a:solidFill>
                  <a:srgbClr val="8C7A3F"/>
                </a:solidFill>
                <a:latin typeface="Georgia" pitchFamily="34" charset="0"/>
                <a:ea typeface="Georgia" pitchFamily="34" charset="-122"/>
                <a:cs typeface="Georgia" pitchFamily="34" charset="-120"/>
              </a:rPr>
              <a:t>사용자는 정보를 어떻게 관리하는가</a:t>
            </a:r>
            <a:endParaRPr lang="en-US" sz="3750" dirty="0"/>
          </a:p>
        </p:txBody>
      </p:sp>
      <p:sp>
        <p:nvSpPr>
          <p:cNvPr id="4" name="Shape 2"/>
          <p:cNvSpPr/>
          <p:nvPr/>
        </p:nvSpPr>
        <p:spPr>
          <a:xfrm>
            <a:off x="990600" y="2781300"/>
            <a:ext cx="6076950" cy="4955977"/>
          </a:xfrm>
          <a:prstGeom prst="rect">
            <a:avLst/>
          </a:prstGeom>
          <a:solidFill>
            <a:srgbClr val="F8F5EE"/>
          </a:solidFill>
          <a:ln w="9525">
            <a:solidFill>
              <a:srgbClr val="E4E0D6"/>
            </a:solidFill>
            <a:prstDash val="solid"/>
          </a:ln>
        </p:spPr>
      </p:sp>
      <p:sp>
        <p:nvSpPr>
          <p:cNvPr id="5" name="Text 3"/>
          <p:cNvSpPr/>
          <p:nvPr/>
        </p:nvSpPr>
        <p:spPr>
          <a:xfrm>
            <a:off x="1362075" y="3114675"/>
            <a:ext cx="5867400" cy="295275"/>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8C7A3F"/>
                </a:solidFill>
                <a:latin typeface="Courier New" pitchFamily="34" charset="0"/>
                <a:ea typeface="Courier New" pitchFamily="34" charset="-122"/>
                <a:cs typeface="Courier New" pitchFamily="34" charset="-120"/>
              </a:rPr>
              <a:t>하나의 채팅창</a:t>
            </a:r>
            <a:endParaRPr lang="en-US" sz="1650" dirty="0"/>
          </a:p>
        </p:txBody>
      </p:sp>
      <p:sp>
        <p:nvSpPr>
          <p:cNvPr id="6" name="Shape 4"/>
          <p:cNvSpPr/>
          <p:nvPr/>
        </p:nvSpPr>
        <p:spPr>
          <a:xfrm>
            <a:off x="1362075" y="3600450"/>
            <a:ext cx="28575" cy="309563"/>
          </a:xfrm>
          <a:prstGeom prst="rect">
            <a:avLst/>
          </a:prstGeom>
          <a:solidFill>
            <a:srgbClr val="D6D2C6"/>
          </a:solidFill>
          <a:ln/>
        </p:spPr>
      </p:sp>
      <p:sp>
        <p:nvSpPr>
          <p:cNvPr id="7" name="Text 5"/>
          <p:cNvSpPr/>
          <p:nvPr/>
        </p:nvSpPr>
        <p:spPr>
          <a:xfrm>
            <a:off x="1562100" y="3600450"/>
            <a:ext cx="5667375" cy="347663"/>
          </a:xfrm>
          <a:prstGeom prst="rect">
            <a:avLst/>
          </a:prstGeom>
          <a:noFill/>
          <a:ln/>
        </p:spPr>
        <p:txBody>
          <a:bodyPr wrap="square" lIns="25400" tIns="25400" rIns="25400" bIns="25400" rtlCol="0" anchor="t">
            <a:normAutofit/>
          </a:bodyPr>
          <a:lstStyle/>
          <a:p>
            <a:pPr algn="l" indent="0" marL="0">
              <a:lnSpc>
                <a:spcPct val="130000"/>
              </a:lnSpc>
              <a:buNone/>
            </a:pPr>
            <a:r>
              <a:rPr lang="en-US" sz="1875" dirty="0">
                <a:solidFill>
                  <a:srgbClr val="46443D"/>
                </a:solidFill>
                <a:latin typeface="Georgia" pitchFamily="34" charset="0"/>
                <a:ea typeface="Georgia" pitchFamily="34" charset="-122"/>
                <a:cs typeface="Georgia" pitchFamily="34" charset="-120"/>
              </a:rPr>
              <a:t>자료 업로드</a:t>
            </a:r>
            <a:endParaRPr lang="en-US" sz="1875" dirty="0"/>
          </a:p>
        </p:txBody>
      </p:sp>
      <p:sp>
        <p:nvSpPr>
          <p:cNvPr id="8" name="Shape 6"/>
          <p:cNvSpPr/>
          <p:nvPr/>
        </p:nvSpPr>
        <p:spPr>
          <a:xfrm>
            <a:off x="1362075" y="4062412"/>
            <a:ext cx="28575" cy="309563"/>
          </a:xfrm>
          <a:prstGeom prst="rect">
            <a:avLst/>
          </a:prstGeom>
          <a:solidFill>
            <a:srgbClr val="D6D2C6"/>
          </a:solidFill>
          <a:ln/>
        </p:spPr>
      </p:sp>
      <p:sp>
        <p:nvSpPr>
          <p:cNvPr id="9" name="Text 7"/>
          <p:cNvSpPr/>
          <p:nvPr/>
        </p:nvSpPr>
        <p:spPr>
          <a:xfrm>
            <a:off x="1562100" y="4062412"/>
            <a:ext cx="5667375" cy="347663"/>
          </a:xfrm>
          <a:prstGeom prst="rect">
            <a:avLst/>
          </a:prstGeom>
          <a:noFill/>
          <a:ln/>
        </p:spPr>
        <p:txBody>
          <a:bodyPr wrap="square" lIns="25400" tIns="25400" rIns="25400" bIns="25400" rtlCol="0" anchor="t">
            <a:normAutofit/>
          </a:bodyPr>
          <a:lstStyle/>
          <a:p>
            <a:pPr algn="l" indent="0" marL="0">
              <a:lnSpc>
                <a:spcPct val="130000"/>
              </a:lnSpc>
              <a:buNone/>
            </a:pPr>
            <a:r>
              <a:rPr lang="en-US" sz="1875" dirty="0">
                <a:solidFill>
                  <a:srgbClr val="46443D"/>
                </a:solidFill>
                <a:latin typeface="Georgia" pitchFamily="34" charset="0"/>
                <a:ea typeface="Georgia" pitchFamily="34" charset="-122"/>
                <a:cs typeface="Georgia" pitchFamily="34" charset="-120"/>
              </a:rPr>
              <a:t>질문 → 답변</a:t>
            </a:r>
            <a:endParaRPr lang="en-US" sz="1875" dirty="0"/>
          </a:p>
        </p:txBody>
      </p:sp>
      <p:sp>
        <p:nvSpPr>
          <p:cNvPr id="10" name="Shape 8"/>
          <p:cNvSpPr/>
          <p:nvPr/>
        </p:nvSpPr>
        <p:spPr>
          <a:xfrm>
            <a:off x="1362075" y="4524375"/>
            <a:ext cx="28575" cy="309563"/>
          </a:xfrm>
          <a:prstGeom prst="rect">
            <a:avLst/>
          </a:prstGeom>
          <a:solidFill>
            <a:srgbClr val="D6D2C6"/>
          </a:solidFill>
          <a:ln/>
        </p:spPr>
      </p:sp>
      <p:sp>
        <p:nvSpPr>
          <p:cNvPr id="11" name="Text 9"/>
          <p:cNvSpPr/>
          <p:nvPr/>
        </p:nvSpPr>
        <p:spPr>
          <a:xfrm>
            <a:off x="1562100" y="4524375"/>
            <a:ext cx="5667375" cy="347663"/>
          </a:xfrm>
          <a:prstGeom prst="rect">
            <a:avLst/>
          </a:prstGeom>
          <a:noFill/>
          <a:ln/>
        </p:spPr>
        <p:txBody>
          <a:bodyPr wrap="square" lIns="25400" tIns="25400" rIns="25400" bIns="25400" rtlCol="0" anchor="t">
            <a:normAutofit/>
          </a:bodyPr>
          <a:lstStyle/>
          <a:p>
            <a:pPr algn="l" indent="0" marL="0">
              <a:lnSpc>
                <a:spcPct val="130000"/>
              </a:lnSpc>
              <a:buNone/>
            </a:pPr>
            <a:r>
              <a:rPr lang="en-US" sz="1875" dirty="0">
                <a:solidFill>
                  <a:srgbClr val="46443D"/>
                </a:solidFill>
                <a:latin typeface="Georgia" pitchFamily="34" charset="0"/>
                <a:ea typeface="Georgia" pitchFamily="34" charset="-122"/>
                <a:cs typeface="Georgia" pitchFamily="34" charset="-120"/>
              </a:rPr>
              <a:t>후속 질문 → 답변</a:t>
            </a:r>
            <a:endParaRPr lang="en-US" sz="1875" dirty="0"/>
          </a:p>
        </p:txBody>
      </p:sp>
      <p:sp>
        <p:nvSpPr>
          <p:cNvPr id="12" name="Shape 10"/>
          <p:cNvSpPr/>
          <p:nvPr/>
        </p:nvSpPr>
        <p:spPr>
          <a:xfrm>
            <a:off x="1362075" y="4986338"/>
            <a:ext cx="28575" cy="309563"/>
          </a:xfrm>
          <a:prstGeom prst="rect">
            <a:avLst/>
          </a:prstGeom>
          <a:solidFill>
            <a:srgbClr val="2155A4"/>
          </a:solidFill>
          <a:ln/>
        </p:spPr>
      </p:sp>
      <p:sp>
        <p:nvSpPr>
          <p:cNvPr id="13" name="Text 11"/>
          <p:cNvSpPr/>
          <p:nvPr/>
        </p:nvSpPr>
        <p:spPr>
          <a:xfrm>
            <a:off x="1562100" y="4986338"/>
            <a:ext cx="5667375" cy="347663"/>
          </a:xfrm>
          <a:prstGeom prst="rect">
            <a:avLst/>
          </a:prstGeom>
          <a:noFill/>
          <a:ln/>
        </p:spPr>
        <p:txBody>
          <a:bodyPr wrap="square" lIns="25400" tIns="25400" rIns="25400" bIns="25400" rtlCol="0" anchor="t">
            <a:normAutofit/>
          </a:bodyPr>
          <a:lstStyle/>
          <a:p>
            <a:pPr algn="l" indent="0" marL="0">
              <a:lnSpc>
                <a:spcPct val="130000"/>
              </a:lnSpc>
              <a:buNone/>
            </a:pPr>
            <a:r>
              <a:rPr lang="en-US" sz="1875" dirty="0">
                <a:solidFill>
                  <a:srgbClr val="2155A4"/>
                </a:solidFill>
                <a:latin typeface="Georgia" pitchFamily="34" charset="0"/>
                <a:ea typeface="Georgia" pitchFamily="34" charset="-122"/>
                <a:cs typeface="Georgia" pitchFamily="34" charset="-120"/>
              </a:rPr>
              <a:t>↳ 파생 질문 (주제 이탈)</a:t>
            </a:r>
            <a:endParaRPr lang="en-US" sz="1875" dirty="0"/>
          </a:p>
        </p:txBody>
      </p:sp>
      <p:sp>
        <p:nvSpPr>
          <p:cNvPr id="14" name="Shape 12"/>
          <p:cNvSpPr/>
          <p:nvPr/>
        </p:nvSpPr>
        <p:spPr>
          <a:xfrm>
            <a:off x="1362075" y="5448300"/>
            <a:ext cx="28575" cy="309563"/>
          </a:xfrm>
          <a:prstGeom prst="rect">
            <a:avLst/>
          </a:prstGeom>
          <a:solidFill>
            <a:srgbClr val="D6D2C6"/>
          </a:solidFill>
          <a:ln/>
        </p:spPr>
      </p:sp>
      <p:sp>
        <p:nvSpPr>
          <p:cNvPr id="15" name="Text 13"/>
          <p:cNvSpPr/>
          <p:nvPr/>
        </p:nvSpPr>
        <p:spPr>
          <a:xfrm>
            <a:off x="1562100" y="5448300"/>
            <a:ext cx="5667375" cy="347663"/>
          </a:xfrm>
          <a:prstGeom prst="rect">
            <a:avLst/>
          </a:prstGeom>
          <a:noFill/>
          <a:ln/>
        </p:spPr>
        <p:txBody>
          <a:bodyPr wrap="square" lIns="25400" tIns="25400" rIns="25400" bIns="25400" rtlCol="0" anchor="t">
            <a:normAutofit/>
          </a:bodyPr>
          <a:lstStyle/>
          <a:p>
            <a:pPr algn="l" indent="0" marL="0">
              <a:lnSpc>
                <a:spcPct val="130000"/>
              </a:lnSpc>
              <a:buNone/>
            </a:pPr>
            <a:r>
              <a:rPr lang="en-US" sz="1875" dirty="0">
                <a:solidFill>
                  <a:srgbClr val="9A968C"/>
                </a:solidFill>
                <a:latin typeface="Georgia" pitchFamily="34" charset="0"/>
                <a:ea typeface="Georgia" pitchFamily="34" charset="-122"/>
                <a:cs typeface="Georgia" pitchFamily="34" charset="-120"/>
              </a:rPr>
              <a:t>… 재탐색 ↑</a:t>
            </a:r>
            <a:endParaRPr lang="en-US" sz="1875" dirty="0"/>
          </a:p>
        </p:txBody>
      </p:sp>
      <p:sp>
        <p:nvSpPr>
          <p:cNvPr id="16" name="Text 14"/>
          <p:cNvSpPr/>
          <p:nvPr/>
        </p:nvSpPr>
        <p:spPr>
          <a:xfrm>
            <a:off x="1362075" y="7086302"/>
            <a:ext cx="5867400" cy="355699"/>
          </a:xfrm>
          <a:prstGeom prst="rect">
            <a:avLst/>
          </a:prstGeom>
          <a:noFill/>
          <a:ln/>
        </p:spPr>
        <p:txBody>
          <a:bodyPr wrap="square" lIns="25400" tIns="25400" rIns="25400" bIns="25400" rtlCol="0" anchor="t">
            <a:normAutofit/>
          </a:bodyPr>
          <a:lstStyle/>
          <a:p>
            <a:pPr algn="l" indent="0" marL="0">
              <a:lnSpc>
                <a:spcPct val="145000"/>
              </a:lnSpc>
              <a:buNone/>
            </a:pPr>
            <a:r>
              <a:rPr lang="en-US" sz="1725" i="1" dirty="0">
                <a:solidFill>
                  <a:srgbClr val="9A968C"/>
                </a:solidFill>
                <a:latin typeface="Georgia" pitchFamily="34" charset="0"/>
                <a:ea typeface="Georgia" pitchFamily="34" charset="-122"/>
                <a:cs typeface="Georgia" pitchFamily="34" charset="-120"/>
              </a:rPr>
              <a:t>시간순으로 길어질수록 흐름과 정보가 뒤섞인다</a:t>
            </a:r>
            <a:endParaRPr lang="en-US" sz="1725" dirty="0"/>
          </a:p>
        </p:txBody>
      </p:sp>
      <p:sp>
        <p:nvSpPr>
          <p:cNvPr id="17" name="Text 15"/>
          <p:cNvSpPr/>
          <p:nvPr/>
        </p:nvSpPr>
        <p:spPr>
          <a:xfrm>
            <a:off x="7639050" y="3588097"/>
            <a:ext cx="396329" cy="333375"/>
          </a:xfrm>
          <a:prstGeom prst="rect">
            <a:avLst/>
          </a:prstGeom>
          <a:noFill/>
          <a:ln/>
        </p:spPr>
        <p:txBody>
          <a:bodyPr wrap="square" lIns="25400" tIns="25400" rIns="25400" bIns="25400" rtlCol="0" anchor="t">
            <a:normAutofit/>
          </a:bodyPr>
          <a:lstStyle/>
          <a:p>
            <a:pPr algn="l" indent="0" marL="0">
              <a:buNone/>
            </a:pPr>
            <a:r>
              <a:rPr lang="en-US" sz="2100" dirty="0">
                <a:solidFill>
                  <a:srgbClr val="8C7A3F"/>
                </a:solidFill>
                <a:latin typeface="Courier New" pitchFamily="34" charset="0"/>
                <a:ea typeface="Courier New" pitchFamily="34" charset="-122"/>
                <a:cs typeface="Courier New" pitchFamily="34" charset="-120"/>
              </a:rPr>
              <a:t>01</a:t>
            </a:r>
            <a:endParaRPr lang="en-US" sz="2100" dirty="0"/>
          </a:p>
        </p:txBody>
      </p:sp>
      <p:sp>
        <p:nvSpPr>
          <p:cNvPr id="18" name="Text 16"/>
          <p:cNvSpPr/>
          <p:nvPr/>
        </p:nvSpPr>
        <p:spPr>
          <a:xfrm>
            <a:off x="8187779" y="3530947"/>
            <a:ext cx="7769066"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20201E"/>
                </a:solidFill>
                <a:latin typeface="Georgia" pitchFamily="34" charset="0"/>
                <a:ea typeface="Georgia" pitchFamily="34" charset="-122"/>
                <a:cs typeface="Georgia" pitchFamily="34" charset="-120"/>
              </a:rPr>
              <a:t>메인 흐름과 세부 탐색이 섞임</a:t>
            </a:r>
            <a:endParaRPr lang="en-US" sz="2250" dirty="0"/>
          </a:p>
        </p:txBody>
      </p:sp>
      <p:sp>
        <p:nvSpPr>
          <p:cNvPr id="19" name="Text 17"/>
          <p:cNvSpPr/>
          <p:nvPr/>
        </p:nvSpPr>
        <p:spPr>
          <a:xfrm>
            <a:off x="8187779" y="3964335"/>
            <a:ext cx="7769066"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6A60"/>
                </a:solidFill>
                <a:latin typeface="Georgia" pitchFamily="34" charset="0"/>
                <a:ea typeface="Georgia" pitchFamily="34" charset="-122"/>
                <a:cs typeface="Georgia" pitchFamily="34" charset="-120"/>
              </a:rPr>
              <a:t>주제 이탈 질문을 같은 채팅에 넣으면 이후 응답 맥락이 혼합될 수 있다.</a:t>
            </a:r>
            <a:endParaRPr lang="en-US" sz="1800" dirty="0"/>
          </a:p>
        </p:txBody>
      </p:sp>
      <p:sp>
        <p:nvSpPr>
          <p:cNvPr id="20" name="Shape 18"/>
          <p:cNvSpPr/>
          <p:nvPr/>
        </p:nvSpPr>
        <p:spPr>
          <a:xfrm>
            <a:off x="7639050" y="4581525"/>
            <a:ext cx="9658350" cy="9525"/>
          </a:xfrm>
          <a:prstGeom prst="rect">
            <a:avLst/>
          </a:prstGeom>
          <a:solidFill>
            <a:srgbClr val="E4E0D6"/>
          </a:solidFill>
          <a:ln/>
        </p:spPr>
      </p:sp>
      <p:sp>
        <p:nvSpPr>
          <p:cNvPr id="21" name="Text 19"/>
          <p:cNvSpPr/>
          <p:nvPr/>
        </p:nvSpPr>
        <p:spPr>
          <a:xfrm>
            <a:off x="7639050" y="4933950"/>
            <a:ext cx="396329" cy="333375"/>
          </a:xfrm>
          <a:prstGeom prst="rect">
            <a:avLst/>
          </a:prstGeom>
          <a:noFill/>
          <a:ln/>
        </p:spPr>
        <p:txBody>
          <a:bodyPr wrap="square" lIns="25400" tIns="25400" rIns="25400" bIns="25400" rtlCol="0" anchor="t">
            <a:normAutofit/>
          </a:bodyPr>
          <a:lstStyle/>
          <a:p>
            <a:pPr algn="l" indent="0" marL="0">
              <a:buNone/>
            </a:pPr>
            <a:r>
              <a:rPr lang="en-US" sz="2100" dirty="0">
                <a:solidFill>
                  <a:srgbClr val="8C7A3F"/>
                </a:solidFill>
                <a:latin typeface="Courier New" pitchFamily="34" charset="0"/>
                <a:ea typeface="Courier New" pitchFamily="34" charset="-122"/>
                <a:cs typeface="Courier New" pitchFamily="34" charset="-120"/>
              </a:rPr>
              <a:t>02</a:t>
            </a:r>
            <a:endParaRPr lang="en-US" sz="2100" dirty="0"/>
          </a:p>
        </p:txBody>
      </p:sp>
      <p:sp>
        <p:nvSpPr>
          <p:cNvPr id="22" name="Text 20"/>
          <p:cNvSpPr/>
          <p:nvPr/>
        </p:nvSpPr>
        <p:spPr>
          <a:xfrm>
            <a:off x="8187779" y="4876800"/>
            <a:ext cx="7415778"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20201E"/>
                </a:solidFill>
                <a:latin typeface="Georgia" pitchFamily="34" charset="0"/>
                <a:ea typeface="Georgia" pitchFamily="34" charset="-122"/>
                <a:cs typeface="Georgia" pitchFamily="34" charset="-120"/>
              </a:rPr>
              <a:t>새 채팅은 맥락 재설명 비용을 만듦</a:t>
            </a:r>
            <a:endParaRPr lang="en-US" sz="2250" dirty="0"/>
          </a:p>
        </p:txBody>
      </p:sp>
      <p:sp>
        <p:nvSpPr>
          <p:cNvPr id="23" name="Text 21"/>
          <p:cNvSpPr/>
          <p:nvPr/>
        </p:nvSpPr>
        <p:spPr>
          <a:xfrm>
            <a:off x="8187779" y="5310188"/>
            <a:ext cx="7415778"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6A60"/>
                </a:solidFill>
                <a:latin typeface="Georgia" pitchFamily="34" charset="0"/>
                <a:ea typeface="Georgia" pitchFamily="34" charset="-122"/>
                <a:cs typeface="Georgia" pitchFamily="34" charset="-120"/>
              </a:rPr>
              <a:t>자료·작업 목적·이전 답변을 다시 복사하거나 요약해 전달해야 한다.</a:t>
            </a:r>
            <a:endParaRPr lang="en-US" sz="1800" dirty="0"/>
          </a:p>
        </p:txBody>
      </p:sp>
      <p:sp>
        <p:nvSpPr>
          <p:cNvPr id="24" name="Shape 22"/>
          <p:cNvSpPr/>
          <p:nvPr/>
        </p:nvSpPr>
        <p:spPr>
          <a:xfrm>
            <a:off x="7639050" y="5927378"/>
            <a:ext cx="9658350" cy="9525"/>
          </a:xfrm>
          <a:prstGeom prst="rect">
            <a:avLst/>
          </a:prstGeom>
          <a:solidFill>
            <a:srgbClr val="E4E0D6"/>
          </a:solidFill>
          <a:ln/>
        </p:spPr>
      </p:sp>
      <p:sp>
        <p:nvSpPr>
          <p:cNvPr id="25" name="Text 23"/>
          <p:cNvSpPr/>
          <p:nvPr/>
        </p:nvSpPr>
        <p:spPr>
          <a:xfrm>
            <a:off x="7639050" y="6279803"/>
            <a:ext cx="396329" cy="333375"/>
          </a:xfrm>
          <a:prstGeom prst="rect">
            <a:avLst/>
          </a:prstGeom>
          <a:noFill/>
          <a:ln/>
        </p:spPr>
        <p:txBody>
          <a:bodyPr wrap="square" lIns="25400" tIns="25400" rIns="25400" bIns="25400" rtlCol="0" anchor="t">
            <a:normAutofit/>
          </a:bodyPr>
          <a:lstStyle/>
          <a:p>
            <a:pPr algn="l" indent="0" marL="0">
              <a:buNone/>
            </a:pPr>
            <a:r>
              <a:rPr lang="en-US" sz="2100" dirty="0">
                <a:solidFill>
                  <a:srgbClr val="8C7A3F"/>
                </a:solidFill>
                <a:latin typeface="Courier New" pitchFamily="34" charset="0"/>
                <a:ea typeface="Courier New" pitchFamily="34" charset="-122"/>
                <a:cs typeface="Courier New" pitchFamily="34" charset="-120"/>
              </a:rPr>
              <a:t>03</a:t>
            </a:r>
            <a:endParaRPr lang="en-US" sz="2100" dirty="0"/>
          </a:p>
        </p:txBody>
      </p:sp>
      <p:sp>
        <p:nvSpPr>
          <p:cNvPr id="26" name="Text 24"/>
          <p:cNvSpPr/>
          <p:nvPr/>
        </p:nvSpPr>
        <p:spPr>
          <a:xfrm>
            <a:off x="8187779" y="6222653"/>
            <a:ext cx="7415778"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20201E"/>
                </a:solidFill>
                <a:latin typeface="Georgia" pitchFamily="34" charset="0"/>
                <a:ea typeface="Georgia" pitchFamily="34" charset="-122"/>
                <a:cs typeface="Georgia" pitchFamily="34" charset="-120"/>
              </a:rPr>
              <a:t>긴 대화는 과거 답변 재탐색 비용을 만듦</a:t>
            </a:r>
            <a:endParaRPr lang="en-US" sz="2250" dirty="0"/>
          </a:p>
        </p:txBody>
      </p:sp>
      <p:sp>
        <p:nvSpPr>
          <p:cNvPr id="27" name="Text 25"/>
          <p:cNvSpPr/>
          <p:nvPr/>
        </p:nvSpPr>
        <p:spPr>
          <a:xfrm>
            <a:off x="8187779" y="6656040"/>
            <a:ext cx="7415778"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6A60"/>
                </a:solidFill>
                <a:latin typeface="Georgia" pitchFamily="34" charset="0"/>
                <a:ea typeface="Georgia" pitchFamily="34" charset="-122"/>
                <a:cs typeface="Georgia" pitchFamily="34" charset="-120"/>
              </a:rPr>
              <a:t>필요한 답변·근거·요약을 찾기 위해 스크롤과 수동 검색이 반복된다.</a:t>
            </a:r>
            <a:endParaRPr lang="en-US" sz="1800" dirty="0"/>
          </a:p>
        </p:txBody>
      </p:sp>
      <p:sp>
        <p:nvSpPr>
          <p:cNvPr id="28" name="Shape 26"/>
          <p:cNvSpPr/>
          <p:nvPr/>
        </p:nvSpPr>
        <p:spPr>
          <a:xfrm>
            <a:off x="990600" y="8061127"/>
            <a:ext cx="16306800" cy="873323"/>
          </a:xfrm>
          <a:prstGeom prst="rect">
            <a:avLst/>
          </a:prstGeom>
          <a:solidFill>
            <a:srgbClr val="F4F1E9"/>
          </a:solidFill>
          <a:ln w="9525">
            <a:solidFill>
              <a:srgbClr val="E4E0D6"/>
            </a:solidFill>
            <a:prstDash val="solid"/>
          </a:ln>
        </p:spPr>
      </p:sp>
      <p:sp>
        <p:nvSpPr>
          <p:cNvPr id="29" name="Text 27"/>
          <p:cNvSpPr/>
          <p:nvPr/>
        </p:nvSpPr>
        <p:spPr>
          <a:xfrm>
            <a:off x="1323975" y="8318302"/>
            <a:ext cx="1053405" cy="304800"/>
          </a:xfrm>
          <a:prstGeom prst="rect">
            <a:avLst/>
          </a:prstGeom>
          <a:noFill/>
          <a:ln/>
        </p:spPr>
        <p:txBody>
          <a:bodyPr wrap="square" lIns="25400" tIns="25400" rIns="25400" bIns="25400" rtlCol="0" anchor="t">
            <a:normAutofit/>
          </a:bodyPr>
          <a:lstStyle/>
          <a:p>
            <a:pPr algn="l" indent="0" marL="0">
              <a:buNone/>
            </a:pPr>
            <a:r>
              <a:rPr lang="en-US" sz="1725" spc="138" kern="0" dirty="0">
                <a:solidFill>
                  <a:srgbClr val="8C7A3F"/>
                </a:solidFill>
                <a:latin typeface="Courier New" pitchFamily="34" charset="0"/>
                <a:ea typeface="Courier New" pitchFamily="34" charset="-122"/>
                <a:cs typeface="Courier New" pitchFamily="34" charset="-120"/>
              </a:rPr>
              <a:t>탐색 질문</a:t>
            </a:r>
            <a:endParaRPr lang="en-US" sz="1725" dirty="0"/>
          </a:p>
        </p:txBody>
      </p:sp>
      <p:sp>
        <p:nvSpPr>
          <p:cNvPr id="30" name="Text 28"/>
          <p:cNvSpPr/>
          <p:nvPr/>
        </p:nvSpPr>
        <p:spPr>
          <a:xfrm>
            <a:off x="2529780" y="8318302"/>
            <a:ext cx="15275540" cy="397073"/>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6443D"/>
                </a:solidFill>
                <a:latin typeface="Georgia" pitchFamily="34" charset="0"/>
                <a:ea typeface="Georgia" pitchFamily="34" charset="-122"/>
                <a:cs typeface="Georgia" pitchFamily="34" charset="-120"/>
              </a:rPr>
              <a:t>자료와 이전 답변을 바탕으로 대화가 길어지는 환경에서 사용자는 정보를 어떻게 관리하며, 어떤 어려움이나 요구가 나타나는가?</a:t>
            </a:r>
            <a:endParaRPr lang="en-US" sz="1950" dirty="0"/>
          </a:p>
        </p:txBody>
      </p:sp>
      <p:sp>
        <p:nvSpPr>
          <p:cNvPr id="31" name="Shape 29"/>
          <p:cNvSpPr/>
          <p:nvPr/>
        </p:nvSpPr>
        <p:spPr>
          <a:xfrm>
            <a:off x="990600" y="9239250"/>
            <a:ext cx="16306800" cy="9525"/>
          </a:xfrm>
          <a:prstGeom prst="rect">
            <a:avLst/>
          </a:prstGeom>
          <a:solidFill>
            <a:srgbClr val="E4E0D6"/>
          </a:solidFill>
          <a:ln/>
        </p:spPr>
      </p:sp>
      <p:sp>
        <p:nvSpPr>
          <p:cNvPr id="32" name="Text 30"/>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33" name="Text 31"/>
          <p:cNvSpPr/>
          <p:nvPr/>
        </p:nvSpPr>
        <p:spPr>
          <a:xfrm>
            <a:off x="15651212" y="9458325"/>
            <a:ext cx="1810807"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02 / Problem</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03 — CUSTOMER REQUIREMENTS</a:t>
            </a:r>
            <a:endParaRPr lang="en-US" sz="1875" dirty="0"/>
          </a:p>
        </p:txBody>
      </p:sp>
      <p:sp>
        <p:nvSpPr>
          <p:cNvPr id="3" name="Text 1"/>
          <p:cNvSpPr/>
          <p:nvPr/>
        </p:nvSpPr>
        <p:spPr>
          <a:xfrm>
            <a:off x="990600" y="1247775"/>
            <a:ext cx="17937480" cy="585788"/>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Study Design — 문제 영역에서 출발해 조사를 설계</a:t>
            </a:r>
            <a:endParaRPr lang="en-US" sz="3750" dirty="0"/>
          </a:p>
        </p:txBody>
      </p:sp>
      <p:sp>
        <p:nvSpPr>
          <p:cNvPr id="4" name="Text 2"/>
          <p:cNvSpPr/>
          <p:nvPr/>
        </p:nvSpPr>
        <p:spPr>
          <a:xfrm>
            <a:off x="990600" y="1947863"/>
            <a:ext cx="16344900" cy="452438"/>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Problem 단계는 </a:t>
            </a:r>
            <a:pPr algn="l" indent="0" marL="0">
              <a:lnSpc>
                <a:spcPct val="150000"/>
              </a:lnSpc>
              <a:buNone/>
            </a:pPr>
            <a:r>
              <a:rPr lang="en-US" sz="2175" dirty="0">
                <a:solidFill>
                  <a:srgbClr val="2155A4"/>
                </a:solidFill>
                <a:latin typeface="Georgia" pitchFamily="34" charset="0"/>
                <a:ea typeface="Georgia" pitchFamily="34" charset="-122"/>
                <a:cs typeface="Georgia" pitchFamily="34" charset="-120"/>
              </a:rPr>
              <a:t>탐색 질문</a:t>
            </a:r>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으로 문제 영역을 설정했다. 타겟과 요구사항은 미리 정하지 않고 </a:t>
            </a:r>
            <a:pPr algn="l" indent="0" marL="0">
              <a:lnSpc>
                <a:spcPct val="150000"/>
              </a:lnSpc>
              <a:buNone/>
            </a:pPr>
            <a:r>
              <a:rPr lang="en-US" sz="2175" dirty="0">
                <a:solidFill>
                  <a:srgbClr val="8C7A3F"/>
                </a:solidFill>
                <a:latin typeface="Georgia" pitchFamily="34" charset="0"/>
                <a:ea typeface="Georgia" pitchFamily="34" charset="-122"/>
                <a:cs typeface="Georgia" pitchFamily="34" charset="-120"/>
              </a:rPr>
              <a:t>조사 결과에서 도출</a:t>
            </a:r>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했다.</a:t>
            </a:r>
            <a:endParaRPr lang="en-US" sz="2175" dirty="0"/>
          </a:p>
        </p:txBody>
      </p:sp>
      <p:sp>
        <p:nvSpPr>
          <p:cNvPr id="5" name="Shape 3"/>
          <p:cNvSpPr/>
          <p:nvPr/>
        </p:nvSpPr>
        <p:spPr>
          <a:xfrm>
            <a:off x="990600" y="3152775"/>
            <a:ext cx="6935986" cy="9525"/>
          </a:xfrm>
          <a:prstGeom prst="rect">
            <a:avLst/>
          </a:prstGeom>
          <a:solidFill>
            <a:srgbClr val="E4E0D6"/>
          </a:solidFill>
          <a:ln/>
        </p:spPr>
      </p:sp>
      <p:sp>
        <p:nvSpPr>
          <p:cNvPr id="6" name="Text 4"/>
          <p:cNvSpPr/>
          <p:nvPr/>
        </p:nvSpPr>
        <p:spPr>
          <a:xfrm>
            <a:off x="990600" y="2743200"/>
            <a:ext cx="7144066" cy="295275"/>
          </a:xfrm>
          <a:prstGeom prst="rect">
            <a:avLst/>
          </a:prstGeom>
          <a:noFill/>
          <a:ln/>
        </p:spPr>
        <p:txBody>
          <a:bodyPr wrap="square" lIns="25400" tIns="25400" rIns="25400" bIns="25400" rtlCol="0" anchor="t">
            <a:normAutofit/>
          </a:bodyPr>
          <a:lstStyle/>
          <a:p>
            <a:pPr algn="l" indent="0" marL="0">
              <a:buNone/>
            </a:pPr>
            <a:r>
              <a:rPr lang="en-US" sz="1650" spc="83" kern="0" dirty="0">
                <a:solidFill>
                  <a:srgbClr val="8C7A3F"/>
                </a:solidFill>
                <a:latin typeface="Courier New" pitchFamily="34" charset="0"/>
                <a:ea typeface="Courier New" pitchFamily="34" charset="-122"/>
                <a:cs typeface="Courier New" pitchFamily="34" charset="-120"/>
              </a:rPr>
              <a:t>① 문제 탐색 범위 · PROBLEM SCOPE</a:t>
            </a:r>
            <a:endParaRPr lang="en-US" sz="1650" dirty="0"/>
          </a:p>
        </p:txBody>
      </p:sp>
      <p:sp>
        <p:nvSpPr>
          <p:cNvPr id="7" name="Shape 5"/>
          <p:cNvSpPr/>
          <p:nvPr/>
        </p:nvSpPr>
        <p:spPr>
          <a:xfrm>
            <a:off x="990600" y="3371850"/>
            <a:ext cx="6935986" cy="1628775"/>
          </a:xfrm>
          <a:prstGeom prst="rect">
            <a:avLst/>
          </a:prstGeom>
          <a:solidFill>
            <a:srgbClr val="F1F4FA"/>
          </a:solidFill>
          <a:ln w="9525">
            <a:solidFill>
              <a:srgbClr val="C9D4E6"/>
            </a:solidFill>
            <a:prstDash val="solid"/>
          </a:ln>
        </p:spPr>
      </p:sp>
      <p:sp>
        <p:nvSpPr>
          <p:cNvPr id="8" name="Text 6"/>
          <p:cNvSpPr/>
          <p:nvPr/>
        </p:nvSpPr>
        <p:spPr>
          <a:xfrm>
            <a:off x="1266825" y="3629025"/>
            <a:ext cx="6575042" cy="115252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20201E"/>
                </a:solidFill>
                <a:latin typeface="Georgia" pitchFamily="34" charset="0"/>
                <a:ea typeface="Georgia" pitchFamily="34" charset="-122"/>
                <a:cs typeface="Georgia" pitchFamily="34" charset="-120"/>
              </a:rPr>
              <a:t>"자료와 이전 답변을 바탕으로 대화가 길어지는 AI Chat 환경에서, 사용자는 </a:t>
            </a:r>
            <a:pPr algn="l" indent="0" marL="0">
              <a:lnSpc>
                <a:spcPct val="150000"/>
              </a:lnSpc>
              <a:buNone/>
            </a:pPr>
            <a:r>
              <a:rPr lang="en-US" sz="1950" dirty="0">
                <a:solidFill>
                  <a:srgbClr val="2155A4"/>
                </a:solidFill>
                <a:latin typeface="Georgia" pitchFamily="34" charset="0"/>
                <a:ea typeface="Georgia" pitchFamily="34" charset="-122"/>
                <a:cs typeface="Georgia" pitchFamily="34" charset="-120"/>
              </a:rPr>
              <a:t>관련 정보를 어떻게 관리</a:t>
            </a:r>
            <a:pPr algn="l" indent="0" marL="0">
              <a:lnSpc>
                <a:spcPct val="150000"/>
              </a:lnSpc>
              <a:buNone/>
            </a:pPr>
            <a:r>
              <a:rPr lang="en-US" sz="1950" dirty="0">
                <a:solidFill>
                  <a:srgbClr val="20201E"/>
                </a:solidFill>
                <a:latin typeface="Georgia" pitchFamily="34" charset="0"/>
                <a:ea typeface="Georgia" pitchFamily="34" charset="-122"/>
                <a:cs typeface="Georgia" pitchFamily="34" charset="-120"/>
              </a:rPr>
              <a:t>하며 어떤 </a:t>
            </a:r>
            <a:pPr algn="l" indent="0" marL="0">
              <a:lnSpc>
                <a:spcPct val="150000"/>
              </a:lnSpc>
              <a:buNone/>
            </a:pPr>
            <a:r>
              <a:rPr lang="en-US" sz="1950" dirty="0">
                <a:solidFill>
                  <a:srgbClr val="2155A4"/>
                </a:solidFill>
                <a:latin typeface="Georgia" pitchFamily="34" charset="0"/>
                <a:ea typeface="Georgia" pitchFamily="34" charset="-122"/>
                <a:cs typeface="Georgia" pitchFamily="34" charset="-120"/>
              </a:rPr>
              <a:t>어려움이나 요구 </a:t>
            </a:r>
            <a:pPr algn="l" indent="0" marL="0">
              <a:lnSpc>
                <a:spcPct val="150000"/>
              </a:lnSpc>
              <a:buNone/>
            </a:pPr>
            <a:r>
              <a:rPr lang="en-US" sz="1950" dirty="0">
                <a:solidFill>
                  <a:srgbClr val="20201E"/>
                </a:solidFill>
                <a:latin typeface="Georgia" pitchFamily="34" charset="0"/>
                <a:ea typeface="Georgia" pitchFamily="34" charset="-122"/>
                <a:cs typeface="Georgia" pitchFamily="34" charset="-120"/>
              </a:rPr>
              <a:t>가 나타나는가?"</a:t>
            </a:r>
            <a:endParaRPr lang="en-US" sz="1950" dirty="0"/>
          </a:p>
        </p:txBody>
      </p:sp>
      <p:sp>
        <p:nvSpPr>
          <p:cNvPr id="9" name="Text 7"/>
          <p:cNvSpPr/>
          <p:nvPr/>
        </p:nvSpPr>
        <p:spPr>
          <a:xfrm>
            <a:off x="990600" y="5191125"/>
            <a:ext cx="762958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6E6A60"/>
                </a:solidFill>
                <a:latin typeface="Georgia" pitchFamily="34" charset="0"/>
                <a:ea typeface="Georgia" pitchFamily="34" charset="-122"/>
                <a:cs typeface="Georgia" pitchFamily="34" charset="-120"/>
              </a:rPr>
              <a:t>결론을 단정하지 않고, 조사로 확인할 </a:t>
            </a:r>
            <a:pPr algn="l" indent="0" marL="0">
              <a:lnSpc>
                <a:spcPct val="150000"/>
              </a:lnSpc>
              <a:buNone/>
            </a:pPr>
            <a:r>
              <a:rPr lang="en-US" sz="1800" dirty="0">
                <a:solidFill>
                  <a:srgbClr val="20201E"/>
                </a:solidFill>
                <a:latin typeface="Georgia" pitchFamily="34" charset="0"/>
                <a:ea typeface="Georgia" pitchFamily="34" charset="-122"/>
                <a:cs typeface="Georgia" pitchFamily="34" charset="-120"/>
              </a:rPr>
              <a:t>탐색 질문</a:t>
            </a:r>
            <a:pPr algn="l" indent="0" marL="0">
              <a:lnSpc>
                <a:spcPct val="150000"/>
              </a:lnSpc>
              <a:buNone/>
            </a:pPr>
            <a:r>
              <a:rPr lang="en-US" sz="1800" dirty="0">
                <a:solidFill>
                  <a:srgbClr val="6E6A60"/>
                </a:solidFill>
                <a:latin typeface="Georgia" pitchFamily="34" charset="0"/>
                <a:ea typeface="Georgia" pitchFamily="34" charset="-122"/>
                <a:cs typeface="Georgia" pitchFamily="34" charset="-120"/>
              </a:rPr>
              <a:t>으로 범위를 좁혔다.</a:t>
            </a:r>
            <a:endParaRPr lang="en-US" sz="1800" dirty="0"/>
          </a:p>
        </p:txBody>
      </p:sp>
      <p:sp>
        <p:nvSpPr>
          <p:cNvPr id="10" name="Shape 8"/>
          <p:cNvSpPr/>
          <p:nvPr/>
        </p:nvSpPr>
        <p:spPr>
          <a:xfrm>
            <a:off x="990600" y="8496300"/>
            <a:ext cx="6935986" cy="9525"/>
          </a:xfrm>
          <a:prstGeom prst="rect">
            <a:avLst/>
          </a:prstGeom>
          <a:solidFill>
            <a:srgbClr val="D6D2C6"/>
          </a:solidFill>
          <a:ln/>
        </p:spPr>
      </p:sp>
      <p:sp>
        <p:nvSpPr>
          <p:cNvPr id="11" name="Text 9"/>
          <p:cNvSpPr/>
          <p:nvPr/>
        </p:nvSpPr>
        <p:spPr>
          <a:xfrm>
            <a:off x="990600" y="8696325"/>
            <a:ext cx="927050" cy="29527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문제 영역</a:t>
            </a:r>
            <a:endParaRPr lang="en-US" sz="1650" dirty="0"/>
          </a:p>
        </p:txBody>
      </p:sp>
      <p:sp>
        <p:nvSpPr>
          <p:cNvPr id="12" name="Text 10"/>
          <p:cNvSpPr/>
          <p:nvPr/>
        </p:nvSpPr>
        <p:spPr>
          <a:xfrm>
            <a:off x="1993850" y="8705850"/>
            <a:ext cx="20196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C3BBAC"/>
                </a:solidFill>
                <a:latin typeface="Courier New" pitchFamily="34" charset="0"/>
                <a:ea typeface="Courier New" pitchFamily="34" charset="-122"/>
                <a:cs typeface="Courier New" pitchFamily="34" charset="-120"/>
              </a:rPr>
              <a:t>→</a:t>
            </a:r>
            <a:endParaRPr lang="en-US" sz="1650" dirty="0"/>
          </a:p>
        </p:txBody>
      </p:sp>
      <p:sp>
        <p:nvSpPr>
          <p:cNvPr id="13" name="Text 11"/>
          <p:cNvSpPr/>
          <p:nvPr/>
        </p:nvSpPr>
        <p:spPr>
          <a:xfrm>
            <a:off x="2272010" y="8696325"/>
            <a:ext cx="438745" cy="29527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조사</a:t>
            </a:r>
            <a:endParaRPr lang="en-US" sz="1650" dirty="0"/>
          </a:p>
        </p:txBody>
      </p:sp>
      <p:sp>
        <p:nvSpPr>
          <p:cNvPr id="14" name="Text 12"/>
          <p:cNvSpPr/>
          <p:nvPr/>
        </p:nvSpPr>
        <p:spPr>
          <a:xfrm>
            <a:off x="2786955" y="8705850"/>
            <a:ext cx="20196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C3BBAC"/>
                </a:solidFill>
                <a:latin typeface="Courier New" pitchFamily="34" charset="0"/>
                <a:ea typeface="Courier New" pitchFamily="34" charset="-122"/>
                <a:cs typeface="Courier New" pitchFamily="34" charset="-120"/>
              </a:rPr>
              <a:t>→</a:t>
            </a:r>
            <a:endParaRPr lang="en-US" sz="1650" dirty="0"/>
          </a:p>
        </p:txBody>
      </p:sp>
      <p:sp>
        <p:nvSpPr>
          <p:cNvPr id="15" name="Text 13"/>
          <p:cNvSpPr/>
          <p:nvPr/>
        </p:nvSpPr>
        <p:spPr>
          <a:xfrm>
            <a:off x="3065115" y="8696325"/>
            <a:ext cx="438745" cy="295275"/>
          </a:xfrm>
          <a:prstGeom prst="rect">
            <a:avLst/>
          </a:prstGeom>
          <a:noFill/>
          <a:ln/>
        </p:spPr>
        <p:txBody>
          <a:bodyPr wrap="square" lIns="25400" tIns="25400" rIns="25400" bIns="25400" rtlCol="0" anchor="t">
            <a:normAutofit/>
          </a:bodyPr>
          <a:lstStyle/>
          <a:p>
            <a:pPr algn="l" indent="0" marL="0">
              <a:buNone/>
            </a:pPr>
            <a:r>
              <a:rPr lang="en-US" sz="1650" dirty="0">
                <a:solidFill>
                  <a:srgbClr val="2155A4"/>
                </a:solidFill>
                <a:latin typeface="Courier New" pitchFamily="34" charset="0"/>
                <a:ea typeface="Courier New" pitchFamily="34" charset="-122"/>
                <a:cs typeface="Courier New" pitchFamily="34" charset="-120"/>
              </a:rPr>
              <a:t>결과</a:t>
            </a:r>
            <a:endParaRPr lang="en-US" sz="1650" dirty="0"/>
          </a:p>
        </p:txBody>
      </p:sp>
      <p:sp>
        <p:nvSpPr>
          <p:cNvPr id="16" name="Text 14"/>
          <p:cNvSpPr/>
          <p:nvPr/>
        </p:nvSpPr>
        <p:spPr>
          <a:xfrm>
            <a:off x="3580061" y="8705850"/>
            <a:ext cx="20196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C3BBAC"/>
                </a:solidFill>
                <a:latin typeface="Courier New" pitchFamily="34" charset="0"/>
                <a:ea typeface="Courier New" pitchFamily="34" charset="-122"/>
                <a:cs typeface="Courier New" pitchFamily="34" charset="-120"/>
              </a:rPr>
              <a:t>→</a:t>
            </a:r>
            <a:endParaRPr lang="en-US" sz="1650" dirty="0"/>
          </a:p>
        </p:txBody>
      </p:sp>
      <p:sp>
        <p:nvSpPr>
          <p:cNvPr id="17" name="Text 15"/>
          <p:cNvSpPr/>
          <p:nvPr/>
        </p:nvSpPr>
        <p:spPr>
          <a:xfrm>
            <a:off x="3858220" y="8696325"/>
            <a:ext cx="1473071" cy="29527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타겟·요구 도출</a:t>
            </a:r>
            <a:endParaRPr lang="en-US" sz="1650" dirty="0"/>
          </a:p>
        </p:txBody>
      </p:sp>
      <p:sp>
        <p:nvSpPr>
          <p:cNvPr id="18" name="Shape 16"/>
          <p:cNvSpPr/>
          <p:nvPr/>
        </p:nvSpPr>
        <p:spPr>
          <a:xfrm>
            <a:off x="8536186" y="2743200"/>
            <a:ext cx="9525" cy="6210300"/>
          </a:xfrm>
          <a:prstGeom prst="rect">
            <a:avLst/>
          </a:prstGeom>
          <a:solidFill>
            <a:srgbClr val="E4E0D6"/>
          </a:solidFill>
          <a:ln/>
        </p:spPr>
      </p:sp>
      <p:sp>
        <p:nvSpPr>
          <p:cNvPr id="19" name="Shape 17"/>
          <p:cNvSpPr/>
          <p:nvPr/>
        </p:nvSpPr>
        <p:spPr>
          <a:xfrm>
            <a:off x="9155311" y="3152775"/>
            <a:ext cx="8142089" cy="9525"/>
          </a:xfrm>
          <a:prstGeom prst="rect">
            <a:avLst/>
          </a:prstGeom>
          <a:solidFill>
            <a:srgbClr val="E4E0D6"/>
          </a:solidFill>
          <a:ln/>
        </p:spPr>
      </p:sp>
      <p:sp>
        <p:nvSpPr>
          <p:cNvPr id="20" name="Text 18"/>
          <p:cNvSpPr/>
          <p:nvPr/>
        </p:nvSpPr>
        <p:spPr>
          <a:xfrm>
            <a:off x="9155311" y="2743200"/>
            <a:ext cx="8386352" cy="295275"/>
          </a:xfrm>
          <a:prstGeom prst="rect">
            <a:avLst/>
          </a:prstGeom>
          <a:noFill/>
          <a:ln/>
        </p:spPr>
        <p:txBody>
          <a:bodyPr wrap="square" lIns="25400" tIns="25400" rIns="25400" bIns="25400" rtlCol="0" anchor="t">
            <a:normAutofit/>
          </a:bodyPr>
          <a:lstStyle/>
          <a:p>
            <a:pPr algn="l" indent="0" marL="0">
              <a:buNone/>
            </a:pPr>
            <a:r>
              <a:rPr lang="en-US" sz="1650" spc="83" kern="0" dirty="0">
                <a:solidFill>
                  <a:srgbClr val="8C7A3F"/>
                </a:solidFill>
                <a:latin typeface="Courier New" pitchFamily="34" charset="0"/>
                <a:ea typeface="Courier New" pitchFamily="34" charset="-122"/>
                <a:cs typeface="Courier New" pitchFamily="34" charset="-120"/>
              </a:rPr>
              <a:t>② 조사 방법 설계</a:t>
            </a:r>
            <a:endParaRPr lang="en-US" sz="1650" dirty="0"/>
          </a:p>
        </p:txBody>
      </p:sp>
      <p:sp>
        <p:nvSpPr>
          <p:cNvPr id="21" name="Text 19"/>
          <p:cNvSpPr/>
          <p:nvPr/>
        </p:nvSpPr>
        <p:spPr>
          <a:xfrm>
            <a:off x="9155311" y="3371850"/>
            <a:ext cx="728960"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dirty="0">
                <a:solidFill>
                  <a:srgbClr val="2155A4"/>
                </a:solidFill>
                <a:latin typeface="Georgia" pitchFamily="34" charset="0"/>
                <a:ea typeface="Georgia" pitchFamily="34" charset="-122"/>
                <a:cs typeface="Georgia" pitchFamily="34" charset="-120"/>
              </a:rPr>
              <a:t>50</a:t>
            </a:r>
            <a:endParaRPr lang="en-US" sz="4500" dirty="0"/>
          </a:p>
        </p:txBody>
      </p:sp>
      <p:sp>
        <p:nvSpPr>
          <p:cNvPr id="22" name="Text 20"/>
          <p:cNvSpPr/>
          <p:nvPr/>
        </p:nvSpPr>
        <p:spPr>
          <a:xfrm>
            <a:off x="9884271" y="3648075"/>
            <a:ext cx="304651" cy="323850"/>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Georgia" pitchFamily="34" charset="0"/>
                <a:ea typeface="Georgia" pitchFamily="34" charset="-122"/>
                <a:cs typeface="Georgia" pitchFamily="34" charset="-120"/>
              </a:rPr>
              <a:t>명</a:t>
            </a:r>
            <a:endParaRPr lang="en-US" sz="1800" dirty="0"/>
          </a:p>
        </p:txBody>
      </p:sp>
      <p:sp>
        <p:nvSpPr>
          <p:cNvPr id="23" name="Text 21"/>
          <p:cNvSpPr/>
          <p:nvPr/>
        </p:nvSpPr>
        <p:spPr>
          <a:xfrm>
            <a:off x="9155311" y="4057650"/>
            <a:ext cx="4221450" cy="333375"/>
          </a:xfrm>
          <a:prstGeom prst="rect">
            <a:avLst/>
          </a:prstGeom>
          <a:noFill/>
          <a:ln/>
        </p:spPr>
        <p:txBody>
          <a:bodyPr wrap="square" lIns="25400" tIns="25400" rIns="25400" bIns="25400" rtlCol="0" anchor="t">
            <a:normAutofit/>
          </a:bodyPr>
          <a:lstStyle/>
          <a:p>
            <a:pPr algn="l" indent="0" marL="0">
              <a:buNone/>
            </a:pPr>
            <a:r>
              <a:rPr lang="en-US" sz="1875" dirty="0">
                <a:solidFill>
                  <a:srgbClr val="20201E"/>
                </a:solidFill>
                <a:latin typeface="Georgia" pitchFamily="34" charset="0"/>
                <a:ea typeface="Georgia" pitchFamily="34" charset="-122"/>
                <a:cs typeface="Georgia" pitchFamily="34" charset="-120"/>
              </a:rPr>
              <a:t>설문 · Survey</a:t>
            </a:r>
            <a:endParaRPr lang="en-US" sz="1875" dirty="0"/>
          </a:p>
        </p:txBody>
      </p:sp>
      <p:sp>
        <p:nvSpPr>
          <p:cNvPr id="24" name="Text 22"/>
          <p:cNvSpPr/>
          <p:nvPr/>
        </p:nvSpPr>
        <p:spPr>
          <a:xfrm>
            <a:off x="9155311" y="4429125"/>
            <a:ext cx="3952812"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6E6A60"/>
                </a:solidFill>
                <a:latin typeface="Georgia" pitchFamily="34" charset="0"/>
                <a:ea typeface="Georgia" pitchFamily="34" charset="-122"/>
                <a:cs typeface="Georgia" pitchFamily="34" charset="-120"/>
              </a:rPr>
              <a:t>전반적 사용 행태와 반복 경험의 </a:t>
            </a:r>
            <a:pPr algn="l" indent="0" marL="0">
              <a:lnSpc>
                <a:spcPct val="145000"/>
              </a:lnSpc>
              <a:buNone/>
            </a:pPr>
            <a:r>
              <a:rPr lang="en-US" sz="1650" dirty="0">
                <a:solidFill>
                  <a:srgbClr val="8C7A3F"/>
                </a:solidFill>
                <a:latin typeface="Georgia" pitchFamily="34" charset="0"/>
                <a:ea typeface="Georgia" pitchFamily="34" charset="-122"/>
                <a:cs typeface="Georgia" pitchFamily="34" charset="-120"/>
              </a:rPr>
              <a:t>분포 </a:t>
            </a:r>
            <a:pPr algn="l" indent="0" marL="0">
              <a:lnSpc>
                <a:spcPct val="145000"/>
              </a:lnSpc>
              <a:buNone/>
            </a:pPr>
            <a:r>
              <a:rPr lang="en-US" sz="1650" dirty="0">
                <a:solidFill>
                  <a:srgbClr val="6E6A60"/>
                </a:solidFill>
                <a:latin typeface="Georgia" pitchFamily="34" charset="0"/>
                <a:ea typeface="Georgia" pitchFamily="34" charset="-122"/>
                <a:cs typeface="Georgia" pitchFamily="34" charset="-120"/>
              </a:rPr>
              <a:t>파악 · 대학생·직장인·구직/시험 준비 응답자</a:t>
            </a:r>
            <a:endParaRPr lang="en-US" sz="1650" dirty="0"/>
          </a:p>
        </p:txBody>
      </p:sp>
      <p:sp>
        <p:nvSpPr>
          <p:cNvPr id="25" name="Shape 23"/>
          <p:cNvSpPr/>
          <p:nvPr/>
        </p:nvSpPr>
        <p:spPr>
          <a:xfrm>
            <a:off x="13221593" y="3371850"/>
            <a:ext cx="9525" cy="1968550"/>
          </a:xfrm>
          <a:prstGeom prst="rect">
            <a:avLst/>
          </a:prstGeom>
          <a:solidFill>
            <a:srgbClr val="E4E0D6"/>
          </a:solidFill>
          <a:ln/>
        </p:spPr>
      </p:sp>
      <p:sp>
        <p:nvSpPr>
          <p:cNvPr id="26" name="Text 24"/>
          <p:cNvSpPr/>
          <p:nvPr/>
        </p:nvSpPr>
        <p:spPr>
          <a:xfrm>
            <a:off x="13459718" y="3371850"/>
            <a:ext cx="395436"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dirty="0">
                <a:solidFill>
                  <a:srgbClr val="2155A4"/>
                </a:solidFill>
                <a:latin typeface="Georgia" pitchFamily="34" charset="0"/>
                <a:ea typeface="Georgia" pitchFamily="34" charset="-122"/>
                <a:cs typeface="Georgia" pitchFamily="34" charset="-120"/>
              </a:rPr>
              <a:t>2</a:t>
            </a:r>
            <a:endParaRPr lang="en-US" sz="4500" dirty="0"/>
          </a:p>
        </p:txBody>
      </p:sp>
      <p:sp>
        <p:nvSpPr>
          <p:cNvPr id="27" name="Text 25"/>
          <p:cNvSpPr/>
          <p:nvPr/>
        </p:nvSpPr>
        <p:spPr>
          <a:xfrm>
            <a:off x="13855154" y="3648075"/>
            <a:ext cx="304651" cy="323850"/>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Georgia" pitchFamily="34" charset="0"/>
                <a:ea typeface="Georgia" pitchFamily="34" charset="-122"/>
                <a:cs typeface="Georgia" pitchFamily="34" charset="-120"/>
              </a:rPr>
              <a:t>명</a:t>
            </a:r>
            <a:endParaRPr lang="en-US" sz="1800" dirty="0"/>
          </a:p>
        </p:txBody>
      </p:sp>
      <p:sp>
        <p:nvSpPr>
          <p:cNvPr id="28" name="Text 26"/>
          <p:cNvSpPr/>
          <p:nvPr/>
        </p:nvSpPr>
        <p:spPr>
          <a:xfrm>
            <a:off x="13459718" y="4057650"/>
            <a:ext cx="4221450" cy="333375"/>
          </a:xfrm>
          <a:prstGeom prst="rect">
            <a:avLst/>
          </a:prstGeom>
          <a:noFill/>
          <a:ln/>
        </p:spPr>
        <p:txBody>
          <a:bodyPr wrap="square" lIns="25400" tIns="25400" rIns="25400" bIns="25400" rtlCol="0" anchor="t">
            <a:normAutofit/>
          </a:bodyPr>
          <a:lstStyle/>
          <a:p>
            <a:pPr algn="l" indent="0" marL="0">
              <a:buNone/>
            </a:pPr>
            <a:r>
              <a:rPr lang="en-US" sz="1875" dirty="0">
                <a:solidFill>
                  <a:srgbClr val="20201E"/>
                </a:solidFill>
                <a:latin typeface="Georgia" pitchFamily="34" charset="0"/>
                <a:ea typeface="Georgia" pitchFamily="34" charset="-122"/>
                <a:cs typeface="Georgia" pitchFamily="34" charset="-120"/>
              </a:rPr>
              <a:t>심층 인터뷰 · AI 파워 유저</a:t>
            </a:r>
            <a:endParaRPr lang="en-US" sz="1875" dirty="0"/>
          </a:p>
        </p:txBody>
      </p:sp>
      <p:sp>
        <p:nvSpPr>
          <p:cNvPr id="29" name="Text 27"/>
          <p:cNvSpPr/>
          <p:nvPr/>
        </p:nvSpPr>
        <p:spPr>
          <a:xfrm>
            <a:off x="13459718" y="4429125"/>
            <a:ext cx="3952812" cy="949375"/>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6E6A60"/>
                </a:solidFill>
                <a:latin typeface="Georgia" pitchFamily="34" charset="0"/>
                <a:ea typeface="Georgia" pitchFamily="34" charset="-122"/>
                <a:cs typeface="Georgia" pitchFamily="34" charset="-120"/>
              </a:rPr>
              <a:t>설문 결과 기반으로 선정 · 그 경향이 실제 작업 흐름에서 어떤 </a:t>
            </a:r>
            <a:pPr algn="l" indent="0" marL="0">
              <a:lnSpc>
                <a:spcPct val="145000"/>
              </a:lnSpc>
              <a:buNone/>
            </a:pPr>
            <a:r>
              <a:rPr lang="en-US" sz="1650" dirty="0">
                <a:solidFill>
                  <a:srgbClr val="8C7A3F"/>
                </a:solidFill>
                <a:latin typeface="Georgia" pitchFamily="34" charset="0"/>
                <a:ea typeface="Georgia" pitchFamily="34" charset="-122"/>
                <a:cs typeface="Georgia" pitchFamily="34" charset="-120"/>
              </a:rPr>
              <a:t>상황 </a:t>
            </a:r>
            <a:pPr algn="l" indent="0" marL="0">
              <a:lnSpc>
                <a:spcPct val="145000"/>
              </a:lnSpc>
              <a:buNone/>
            </a:pPr>
            <a:r>
              <a:rPr lang="en-US" sz="1650" dirty="0">
                <a:solidFill>
                  <a:srgbClr val="6E6A60"/>
                </a:solidFill>
                <a:latin typeface="Georgia" pitchFamily="34" charset="0"/>
                <a:ea typeface="Georgia" pitchFamily="34" charset="-122"/>
                <a:cs typeface="Georgia" pitchFamily="34" charset="-120"/>
              </a:rPr>
              <a:t>으로 나타나는지 질적 구체화</a:t>
            </a:r>
            <a:endParaRPr lang="en-US" sz="1650" dirty="0"/>
          </a:p>
        </p:txBody>
      </p:sp>
      <p:sp>
        <p:nvSpPr>
          <p:cNvPr id="30" name="Shape 28"/>
          <p:cNvSpPr/>
          <p:nvPr/>
        </p:nvSpPr>
        <p:spPr>
          <a:xfrm>
            <a:off x="9155311" y="5549950"/>
            <a:ext cx="8142089" cy="1293316"/>
          </a:xfrm>
          <a:prstGeom prst="rect">
            <a:avLst/>
          </a:prstGeom>
          <a:solidFill>
            <a:srgbClr val="F4F1E9"/>
          </a:solidFill>
          <a:ln w="9525">
            <a:solidFill>
              <a:srgbClr val="E4E0D6"/>
            </a:solidFill>
            <a:prstDash val="solid"/>
          </a:ln>
        </p:spPr>
      </p:sp>
      <p:sp>
        <p:nvSpPr>
          <p:cNvPr id="31" name="Text 29"/>
          <p:cNvSpPr/>
          <p:nvPr/>
        </p:nvSpPr>
        <p:spPr>
          <a:xfrm>
            <a:off x="9374386" y="5730925"/>
            <a:ext cx="8474333" cy="266700"/>
          </a:xfrm>
          <a:prstGeom prst="rect">
            <a:avLst/>
          </a:prstGeom>
          <a:noFill/>
          <a:ln/>
        </p:spPr>
        <p:txBody>
          <a:bodyPr wrap="square" lIns="25400" tIns="25400" rIns="25400" bIns="25400" rtlCol="0" anchor="t">
            <a:normAutofit/>
          </a:bodyPr>
          <a:lstStyle/>
          <a:p>
            <a:pPr algn="l" indent="0" marL="0">
              <a:buNone/>
            </a:pPr>
            <a:r>
              <a:rPr lang="en-US" sz="1500" spc="75" kern="0" dirty="0">
                <a:solidFill>
                  <a:srgbClr val="8C7A3F"/>
                </a:solidFill>
                <a:latin typeface="Courier New" pitchFamily="34" charset="0"/>
                <a:ea typeface="Courier New" pitchFamily="34" charset="-122"/>
                <a:cs typeface="Courier New" pitchFamily="34" charset="-120"/>
              </a:rPr>
              <a:t>인터뷰 대상자 선정 — 설문 기반 AI 파워 유저</a:t>
            </a:r>
            <a:endParaRPr lang="en-US" sz="1500" dirty="0"/>
          </a:p>
        </p:txBody>
      </p:sp>
      <p:sp>
        <p:nvSpPr>
          <p:cNvPr id="32" name="Text 30"/>
          <p:cNvSpPr/>
          <p:nvPr/>
        </p:nvSpPr>
        <p:spPr>
          <a:xfrm>
            <a:off x="9374386" y="6054775"/>
            <a:ext cx="7935057"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46443D"/>
                </a:solidFill>
                <a:latin typeface="Georgia" pitchFamily="34" charset="0"/>
                <a:ea typeface="Georgia" pitchFamily="34" charset="-122"/>
                <a:cs typeface="Georgia" pitchFamily="34" charset="-120"/>
              </a:rPr>
              <a:t>우리가 구현하려는 기능을 </a:t>
            </a:r>
            <a:pPr algn="l" indent="0" marL="0">
              <a:lnSpc>
                <a:spcPct val="145000"/>
              </a:lnSpc>
              <a:buNone/>
            </a:pPr>
            <a:r>
              <a:rPr lang="en-US" sz="1650" dirty="0">
                <a:solidFill>
                  <a:srgbClr val="2155A4"/>
                </a:solidFill>
                <a:latin typeface="Georgia" pitchFamily="34" charset="0"/>
                <a:ea typeface="Georgia" pitchFamily="34" charset="-122"/>
                <a:cs typeface="Georgia" pitchFamily="34" charset="-120"/>
              </a:rPr>
              <a:t>강하게 원했고</a:t>
            </a:r>
            <a:pPr algn="l" indent="0" marL="0">
              <a:lnSpc>
                <a:spcPct val="145000"/>
              </a:lnSpc>
              <a:buNone/>
            </a:pPr>
            <a:r>
              <a:rPr lang="en-US" sz="1650" dirty="0">
                <a:solidFill>
                  <a:srgbClr val="46443D"/>
                </a:solidFill>
                <a:latin typeface="Georgia" pitchFamily="34" charset="0"/>
                <a:ea typeface="Georgia" pitchFamily="34" charset="-122"/>
                <a:cs typeface="Georgia" pitchFamily="34" charset="-120"/>
              </a:rPr>
              <a:t>, 새 채팅 분리·복사·요약 같은 </a:t>
            </a:r>
            <a:pPr algn="l" indent="0" marL="0">
              <a:lnSpc>
                <a:spcPct val="145000"/>
              </a:lnSpc>
              <a:buNone/>
            </a:pPr>
            <a:r>
              <a:rPr lang="en-US" sz="1650" dirty="0">
                <a:solidFill>
                  <a:srgbClr val="20201E"/>
                </a:solidFill>
                <a:latin typeface="Georgia" pitchFamily="34" charset="0"/>
                <a:ea typeface="Georgia" pitchFamily="34" charset="-122"/>
                <a:cs typeface="Georgia" pitchFamily="34" charset="-120"/>
              </a:rPr>
              <a:t>우회 방식으로 이미 직접 해결 </a:t>
            </a:r>
            <a:pPr algn="l" indent="0" marL="0">
              <a:lnSpc>
                <a:spcPct val="145000"/>
              </a:lnSpc>
              <a:buNone/>
            </a:pPr>
            <a:r>
              <a:rPr lang="en-US" sz="1650" dirty="0">
                <a:solidFill>
                  <a:srgbClr val="46443D"/>
                </a:solidFill>
                <a:latin typeface="Georgia" pitchFamily="34" charset="0"/>
                <a:ea typeface="Georgia" pitchFamily="34" charset="-122"/>
                <a:cs typeface="Georgia" pitchFamily="34" charset="-120"/>
              </a:rPr>
              <a:t>하고 있던 사용자</a:t>
            </a:r>
            <a:endParaRPr lang="en-US" sz="1650" dirty="0"/>
          </a:p>
        </p:txBody>
      </p:sp>
      <p:sp>
        <p:nvSpPr>
          <p:cNvPr id="33" name="Shape 31"/>
          <p:cNvSpPr/>
          <p:nvPr/>
        </p:nvSpPr>
        <p:spPr>
          <a:xfrm>
            <a:off x="9155311" y="8020050"/>
            <a:ext cx="2669977" cy="400050"/>
          </a:xfrm>
          <a:prstGeom prst="rect">
            <a:avLst/>
          </a:prstGeom>
          <a:ln w="9525">
            <a:solidFill>
              <a:srgbClr val="E4E0D6"/>
            </a:solidFill>
            <a:prstDash val="solid"/>
          </a:ln>
        </p:spPr>
      </p:sp>
      <p:sp>
        <p:nvSpPr>
          <p:cNvPr id="34" name="Text 32"/>
          <p:cNvSpPr/>
          <p:nvPr/>
        </p:nvSpPr>
        <p:spPr>
          <a:xfrm>
            <a:off x="9298186" y="8105775"/>
            <a:ext cx="2464326" cy="266700"/>
          </a:xfrm>
          <a:prstGeom prst="rect">
            <a:avLst/>
          </a:prstGeom>
          <a:noFill/>
          <a:ln/>
        </p:spPr>
        <p:txBody>
          <a:bodyPr wrap="square" lIns="25400" tIns="25400" rIns="25400" bIns="25400" rtlCol="0" anchor="t">
            <a:normAutofit/>
          </a:bodyPr>
          <a:lstStyle/>
          <a:p>
            <a:pPr algn="l" indent="0" marL="0">
              <a:buNone/>
            </a:pPr>
            <a:r>
              <a:rPr lang="en-US" sz="1500" dirty="0">
                <a:solidFill>
                  <a:srgbClr val="6E6A60"/>
                </a:solidFill>
                <a:latin typeface="Courier New" pitchFamily="34" charset="0"/>
                <a:ea typeface="Courier New" pitchFamily="34" charset="-122"/>
                <a:cs typeface="Courier New" pitchFamily="34" charset="-120"/>
              </a:rPr>
              <a:t>확인 ① 지속 작업 활용 여부</a:t>
            </a:r>
            <a:endParaRPr lang="en-US" sz="1500" dirty="0"/>
          </a:p>
        </p:txBody>
      </p:sp>
      <p:sp>
        <p:nvSpPr>
          <p:cNvPr id="35" name="Shape 33"/>
          <p:cNvSpPr/>
          <p:nvPr/>
        </p:nvSpPr>
        <p:spPr>
          <a:xfrm>
            <a:off x="11958638" y="8020050"/>
            <a:ext cx="3113931" cy="400050"/>
          </a:xfrm>
          <a:prstGeom prst="rect">
            <a:avLst/>
          </a:prstGeom>
          <a:ln w="9525">
            <a:solidFill>
              <a:srgbClr val="E4E0D6"/>
            </a:solidFill>
            <a:prstDash val="solid"/>
          </a:ln>
        </p:spPr>
      </p:sp>
      <p:sp>
        <p:nvSpPr>
          <p:cNvPr id="36" name="Text 34"/>
          <p:cNvSpPr/>
          <p:nvPr/>
        </p:nvSpPr>
        <p:spPr>
          <a:xfrm>
            <a:off x="12101513" y="8105775"/>
            <a:ext cx="2921599" cy="266700"/>
          </a:xfrm>
          <a:prstGeom prst="rect">
            <a:avLst/>
          </a:prstGeom>
          <a:noFill/>
          <a:ln/>
        </p:spPr>
        <p:txBody>
          <a:bodyPr wrap="square" lIns="25400" tIns="25400" rIns="25400" bIns="25400" rtlCol="0" anchor="t">
            <a:normAutofit/>
          </a:bodyPr>
          <a:lstStyle/>
          <a:p>
            <a:pPr algn="l" indent="0" marL="0">
              <a:buNone/>
            </a:pPr>
            <a:r>
              <a:rPr lang="en-US" sz="1500" dirty="0">
                <a:solidFill>
                  <a:srgbClr val="6E6A60"/>
                </a:solidFill>
                <a:latin typeface="Courier New" pitchFamily="34" charset="0"/>
                <a:ea typeface="Courier New" pitchFamily="34" charset="-122"/>
                <a:cs typeface="Courier New" pitchFamily="34" charset="-120"/>
              </a:rPr>
              <a:t>확인 ② 자료 업로드 후 후속 질문</a:t>
            </a:r>
            <a:endParaRPr lang="en-US" sz="1500" dirty="0"/>
          </a:p>
        </p:txBody>
      </p:sp>
      <p:sp>
        <p:nvSpPr>
          <p:cNvPr id="37" name="Shape 35"/>
          <p:cNvSpPr/>
          <p:nvPr/>
        </p:nvSpPr>
        <p:spPr>
          <a:xfrm>
            <a:off x="9155311" y="8553450"/>
            <a:ext cx="3164384" cy="400050"/>
          </a:xfrm>
          <a:prstGeom prst="rect">
            <a:avLst/>
          </a:prstGeom>
          <a:ln w="9525">
            <a:solidFill>
              <a:srgbClr val="E4E0D6"/>
            </a:solidFill>
            <a:prstDash val="solid"/>
          </a:ln>
        </p:spPr>
      </p:sp>
      <p:sp>
        <p:nvSpPr>
          <p:cNvPr id="38" name="Text 36"/>
          <p:cNvSpPr/>
          <p:nvPr/>
        </p:nvSpPr>
        <p:spPr>
          <a:xfrm>
            <a:off x="9298186" y="8639175"/>
            <a:ext cx="2973565" cy="266700"/>
          </a:xfrm>
          <a:prstGeom prst="rect">
            <a:avLst/>
          </a:prstGeom>
          <a:noFill/>
          <a:ln/>
        </p:spPr>
        <p:txBody>
          <a:bodyPr wrap="square" lIns="25400" tIns="25400" rIns="25400" bIns="25400" rtlCol="0" anchor="t">
            <a:normAutofit/>
          </a:bodyPr>
          <a:lstStyle/>
          <a:p>
            <a:pPr algn="l" indent="0" marL="0">
              <a:buNone/>
            </a:pPr>
            <a:r>
              <a:rPr lang="en-US" sz="1500" dirty="0">
                <a:solidFill>
                  <a:srgbClr val="6E6A60"/>
                </a:solidFill>
                <a:latin typeface="Courier New" pitchFamily="34" charset="0"/>
                <a:ea typeface="Courier New" pitchFamily="34" charset="-122"/>
                <a:cs typeface="Courier New" pitchFamily="34" charset="-120"/>
              </a:rPr>
              <a:t>확인 ③ 재탐색·맥락 재구성 어려움</a:t>
            </a:r>
            <a:endParaRPr lang="en-US" sz="1500" dirty="0"/>
          </a:p>
        </p:txBody>
      </p:sp>
      <p:sp>
        <p:nvSpPr>
          <p:cNvPr id="39" name="Shape 37"/>
          <p:cNvSpPr/>
          <p:nvPr/>
        </p:nvSpPr>
        <p:spPr>
          <a:xfrm>
            <a:off x="990600" y="9239250"/>
            <a:ext cx="16306800" cy="9525"/>
          </a:xfrm>
          <a:prstGeom prst="rect">
            <a:avLst/>
          </a:prstGeom>
          <a:solidFill>
            <a:srgbClr val="E4E0D6"/>
          </a:solidFill>
          <a:ln/>
        </p:spPr>
      </p:sp>
      <p:sp>
        <p:nvSpPr>
          <p:cNvPr id="40" name="Text 38"/>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41" name="Text 39"/>
          <p:cNvSpPr/>
          <p:nvPr/>
        </p:nvSpPr>
        <p:spPr>
          <a:xfrm>
            <a:off x="14965263" y="9458325"/>
            <a:ext cx="2565350"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03 / Study Design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03 — CUSTOMER REQUIREMENTS</a:t>
            </a:r>
            <a:endParaRPr lang="en-US" sz="1875" dirty="0"/>
          </a:p>
        </p:txBody>
      </p:sp>
      <p:sp>
        <p:nvSpPr>
          <p:cNvPr id="3" name="Text 1"/>
          <p:cNvSpPr/>
          <p:nvPr/>
        </p:nvSpPr>
        <p:spPr>
          <a:xfrm>
            <a:off x="990600" y="1247775"/>
            <a:ext cx="17937480" cy="585788"/>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Requirements Elicitation — 조사 결과로 문제 영역을 확인</a:t>
            </a:r>
            <a:endParaRPr lang="en-US" sz="3750" dirty="0"/>
          </a:p>
        </p:txBody>
      </p:sp>
      <p:sp>
        <p:nvSpPr>
          <p:cNvPr id="4" name="Text 2"/>
          <p:cNvSpPr/>
          <p:nvPr/>
        </p:nvSpPr>
        <p:spPr>
          <a:xfrm>
            <a:off x="990600" y="1966912"/>
            <a:ext cx="16344900" cy="452438"/>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조사 결과, </a:t>
            </a:r>
            <a:pPr algn="l" indent="0" marL="0">
              <a:lnSpc>
                <a:spcPct val="150000"/>
              </a:lnSpc>
              <a:buNone/>
            </a:pPr>
            <a:r>
              <a:rPr lang="en-US" sz="2175" dirty="0">
                <a:solidFill>
                  <a:srgbClr val="2155A4"/>
                </a:solidFill>
                <a:latin typeface="Georgia" pitchFamily="34" charset="0"/>
                <a:ea typeface="Georgia" pitchFamily="34" charset="-122"/>
                <a:cs typeface="Georgia" pitchFamily="34" charset="-120"/>
              </a:rPr>
              <a:t>자료 기반 장시간 대화</a:t>
            </a:r>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가 실제로 존재했고, 그 과정에서 </a:t>
            </a:r>
            <a:pPr algn="l" indent="0" marL="0">
              <a:lnSpc>
                <a:spcPct val="150000"/>
              </a:lnSpc>
              <a:buNone/>
            </a:pPr>
            <a:r>
              <a:rPr lang="en-US" sz="2175" dirty="0">
                <a:solidFill>
                  <a:srgbClr val="8C7A3F"/>
                </a:solidFill>
                <a:latin typeface="Georgia" pitchFamily="34" charset="0"/>
                <a:ea typeface="Georgia" pitchFamily="34" charset="-122"/>
                <a:cs typeface="Georgia" pitchFamily="34" charset="-120"/>
              </a:rPr>
              <a:t>정보 재탐색의 어려움</a:t>
            </a:r>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이 다수 응답자에게 나타났다.</a:t>
            </a:r>
            <a:endParaRPr lang="en-US" sz="2175" dirty="0"/>
          </a:p>
        </p:txBody>
      </p:sp>
      <p:sp>
        <p:nvSpPr>
          <p:cNvPr id="5" name="Text 3"/>
          <p:cNvSpPr/>
          <p:nvPr/>
        </p:nvSpPr>
        <p:spPr>
          <a:xfrm>
            <a:off x="990600" y="2800350"/>
            <a:ext cx="1125885"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dirty="0">
                <a:solidFill>
                  <a:srgbClr val="2155A4"/>
                </a:solidFill>
                <a:latin typeface="Georgia" pitchFamily="34" charset="0"/>
                <a:ea typeface="Georgia" pitchFamily="34" charset="-122"/>
                <a:cs typeface="Georgia" pitchFamily="34" charset="-120"/>
              </a:rPr>
              <a:t>38</a:t>
            </a:r>
            <a:endParaRPr lang="en-US" sz="7200" dirty="0"/>
          </a:p>
        </p:txBody>
      </p:sp>
      <p:sp>
        <p:nvSpPr>
          <p:cNvPr id="6" name="Text 4"/>
          <p:cNvSpPr/>
          <p:nvPr/>
        </p:nvSpPr>
        <p:spPr>
          <a:xfrm>
            <a:off x="2116485" y="3257550"/>
            <a:ext cx="711398" cy="428625"/>
          </a:xfrm>
          <a:prstGeom prst="rect">
            <a:avLst/>
          </a:prstGeom>
          <a:noFill/>
          <a:ln/>
        </p:spPr>
        <p:txBody>
          <a:bodyPr wrap="square" lIns="25400" tIns="25400" rIns="25400" bIns="25400" rtlCol="0" anchor="t">
            <a:normAutofit/>
          </a:bodyPr>
          <a:lstStyle/>
          <a:p>
            <a:pPr algn="l" indent="0" marL="0">
              <a:buNone/>
            </a:pPr>
            <a:r>
              <a:rPr lang="en-US" sz="2700" dirty="0">
                <a:solidFill>
                  <a:srgbClr val="9A968C"/>
                </a:solidFill>
                <a:latin typeface="Georgia" pitchFamily="34" charset="0"/>
                <a:ea typeface="Georgia" pitchFamily="34" charset="-122"/>
                <a:cs typeface="Georgia" pitchFamily="34" charset="-120"/>
              </a:rPr>
              <a:t>/ 50</a:t>
            </a:r>
            <a:endParaRPr lang="en-US" sz="2700" dirty="0"/>
          </a:p>
        </p:txBody>
      </p:sp>
      <p:sp>
        <p:nvSpPr>
          <p:cNvPr id="7" name="Text 5"/>
          <p:cNvSpPr/>
          <p:nvPr/>
        </p:nvSpPr>
        <p:spPr>
          <a:xfrm>
            <a:off x="990600" y="3886200"/>
            <a:ext cx="5357440" cy="381000"/>
          </a:xfrm>
          <a:prstGeom prst="rect">
            <a:avLst/>
          </a:prstGeom>
          <a:noFill/>
          <a:ln/>
        </p:spPr>
        <p:txBody>
          <a:bodyPr wrap="square" lIns="25400" tIns="25400" rIns="25400" bIns="25400" rtlCol="0" anchor="t">
            <a:normAutofit/>
          </a:bodyPr>
          <a:lstStyle/>
          <a:p>
            <a:pPr algn="l" indent="0" marL="0">
              <a:buNone/>
            </a:pPr>
            <a:r>
              <a:rPr lang="en-US" sz="2175" dirty="0">
                <a:solidFill>
                  <a:srgbClr val="20201E"/>
                </a:solidFill>
                <a:latin typeface="Georgia" pitchFamily="34" charset="0"/>
                <a:ea typeface="Georgia" pitchFamily="34" charset="-122"/>
                <a:cs typeface="Georgia" pitchFamily="34" charset="-120"/>
              </a:rPr>
              <a:t>자료 업로드 경험</a:t>
            </a:r>
            <a:endParaRPr lang="en-US" sz="2175" dirty="0"/>
          </a:p>
        </p:txBody>
      </p:sp>
      <p:sp>
        <p:nvSpPr>
          <p:cNvPr id="8" name="Text 6"/>
          <p:cNvSpPr/>
          <p:nvPr/>
        </p:nvSpPr>
        <p:spPr>
          <a:xfrm>
            <a:off x="990600" y="4324350"/>
            <a:ext cx="5357440"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6A60"/>
                </a:solidFill>
                <a:latin typeface="Georgia" pitchFamily="34" charset="0"/>
                <a:ea typeface="Georgia" pitchFamily="34" charset="-122"/>
                <a:cs typeface="Georgia" pitchFamily="34" charset="-120"/>
              </a:rPr>
              <a:t>문서·코드·강의자료를 AI Chat에 제공</a:t>
            </a:r>
            <a:endParaRPr lang="en-US" sz="1800" dirty="0"/>
          </a:p>
        </p:txBody>
      </p:sp>
      <p:sp>
        <p:nvSpPr>
          <p:cNvPr id="9" name="Text 7"/>
          <p:cNvSpPr/>
          <p:nvPr/>
        </p:nvSpPr>
        <p:spPr>
          <a:xfrm>
            <a:off x="990600" y="4808190"/>
            <a:ext cx="5357440" cy="295275"/>
          </a:xfrm>
          <a:prstGeom prst="rect">
            <a:avLst/>
          </a:prstGeom>
          <a:noFill/>
          <a:ln/>
        </p:spPr>
        <p:txBody>
          <a:bodyPr wrap="square" lIns="25400" tIns="25400" rIns="25400" bIns="25400" rtlCol="0" anchor="t">
            <a:normAutofit/>
          </a:bodyPr>
          <a:lstStyle/>
          <a:p>
            <a:pPr algn="l" indent="0" marL="0">
              <a:buNone/>
            </a:pPr>
            <a:r>
              <a:rPr lang="en-US" sz="1800" dirty="0">
                <a:solidFill>
                  <a:srgbClr val="8C7A3F"/>
                </a:solidFill>
                <a:latin typeface="Courier New" pitchFamily="34" charset="0"/>
                <a:ea typeface="Courier New" pitchFamily="34" charset="-122"/>
                <a:cs typeface="Courier New" pitchFamily="34" charset="-120"/>
              </a:rPr>
              <a:t>≈ 76%</a:t>
            </a:r>
            <a:endParaRPr lang="en-US" sz="1800" dirty="0"/>
          </a:p>
        </p:txBody>
      </p:sp>
      <p:sp>
        <p:nvSpPr>
          <p:cNvPr id="10" name="Shape 8"/>
          <p:cNvSpPr/>
          <p:nvPr/>
        </p:nvSpPr>
        <p:spPr>
          <a:xfrm>
            <a:off x="6280100" y="2800350"/>
            <a:ext cx="9525" cy="2284065"/>
          </a:xfrm>
          <a:prstGeom prst="rect">
            <a:avLst/>
          </a:prstGeom>
          <a:solidFill>
            <a:srgbClr val="E4E0D6"/>
          </a:solidFill>
          <a:ln/>
        </p:spPr>
      </p:sp>
      <p:sp>
        <p:nvSpPr>
          <p:cNvPr id="11" name="Text 9"/>
          <p:cNvSpPr/>
          <p:nvPr/>
        </p:nvSpPr>
        <p:spPr>
          <a:xfrm>
            <a:off x="6708725" y="2800350"/>
            <a:ext cx="109731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dirty="0">
                <a:solidFill>
                  <a:srgbClr val="2155A4"/>
                </a:solidFill>
                <a:latin typeface="Georgia" pitchFamily="34" charset="0"/>
                <a:ea typeface="Georgia" pitchFamily="34" charset="-122"/>
                <a:cs typeface="Georgia" pitchFamily="34" charset="-120"/>
              </a:rPr>
              <a:t>34</a:t>
            </a:r>
            <a:endParaRPr lang="en-US" sz="7200" dirty="0"/>
          </a:p>
        </p:txBody>
      </p:sp>
      <p:sp>
        <p:nvSpPr>
          <p:cNvPr id="12" name="Text 10"/>
          <p:cNvSpPr/>
          <p:nvPr/>
        </p:nvSpPr>
        <p:spPr>
          <a:xfrm>
            <a:off x="7806035" y="3257550"/>
            <a:ext cx="711398" cy="428625"/>
          </a:xfrm>
          <a:prstGeom prst="rect">
            <a:avLst/>
          </a:prstGeom>
          <a:noFill/>
          <a:ln/>
        </p:spPr>
        <p:txBody>
          <a:bodyPr wrap="square" lIns="25400" tIns="25400" rIns="25400" bIns="25400" rtlCol="0" anchor="t">
            <a:normAutofit/>
          </a:bodyPr>
          <a:lstStyle/>
          <a:p>
            <a:pPr algn="l" indent="0" marL="0">
              <a:buNone/>
            </a:pPr>
            <a:r>
              <a:rPr lang="en-US" sz="2700" dirty="0">
                <a:solidFill>
                  <a:srgbClr val="9A968C"/>
                </a:solidFill>
                <a:latin typeface="Georgia" pitchFamily="34" charset="0"/>
                <a:ea typeface="Georgia" pitchFamily="34" charset="-122"/>
                <a:cs typeface="Georgia" pitchFamily="34" charset="-120"/>
              </a:rPr>
              <a:t>/ 50</a:t>
            </a:r>
            <a:endParaRPr lang="en-US" sz="2700" dirty="0"/>
          </a:p>
        </p:txBody>
      </p:sp>
      <p:sp>
        <p:nvSpPr>
          <p:cNvPr id="13" name="Text 11"/>
          <p:cNvSpPr/>
          <p:nvPr/>
        </p:nvSpPr>
        <p:spPr>
          <a:xfrm>
            <a:off x="6708725" y="3886200"/>
            <a:ext cx="5357604" cy="381000"/>
          </a:xfrm>
          <a:prstGeom prst="rect">
            <a:avLst/>
          </a:prstGeom>
          <a:noFill/>
          <a:ln/>
        </p:spPr>
        <p:txBody>
          <a:bodyPr wrap="square" lIns="25400" tIns="25400" rIns="25400" bIns="25400" rtlCol="0" anchor="t">
            <a:normAutofit/>
          </a:bodyPr>
          <a:lstStyle/>
          <a:p>
            <a:pPr algn="l" indent="0" marL="0">
              <a:buNone/>
            </a:pPr>
            <a:r>
              <a:rPr lang="en-US" sz="2175" dirty="0">
                <a:solidFill>
                  <a:srgbClr val="20201E"/>
                </a:solidFill>
                <a:latin typeface="Georgia" pitchFamily="34" charset="0"/>
                <a:ea typeface="Georgia" pitchFamily="34" charset="-122"/>
                <a:cs typeface="Georgia" pitchFamily="34" charset="-120"/>
              </a:rPr>
              <a:t>10회 이상 질문</a:t>
            </a:r>
            <a:endParaRPr lang="en-US" sz="2175" dirty="0"/>
          </a:p>
        </p:txBody>
      </p:sp>
      <p:sp>
        <p:nvSpPr>
          <p:cNvPr id="14" name="Text 12"/>
          <p:cNvSpPr/>
          <p:nvPr/>
        </p:nvSpPr>
        <p:spPr>
          <a:xfrm>
            <a:off x="6708725" y="4324350"/>
            <a:ext cx="5357604"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6A60"/>
                </a:solidFill>
                <a:latin typeface="Georgia" pitchFamily="34" charset="0"/>
                <a:ea typeface="Georgia" pitchFamily="34" charset="-122"/>
                <a:cs typeface="Georgia" pitchFamily="34" charset="-120"/>
              </a:rPr>
              <a:t>하나의 대화에서 반복 후속 질문 수행</a:t>
            </a:r>
            <a:endParaRPr lang="en-US" sz="1800" dirty="0"/>
          </a:p>
        </p:txBody>
      </p:sp>
      <p:sp>
        <p:nvSpPr>
          <p:cNvPr id="15" name="Text 13"/>
          <p:cNvSpPr/>
          <p:nvPr/>
        </p:nvSpPr>
        <p:spPr>
          <a:xfrm>
            <a:off x="6708725" y="4808190"/>
            <a:ext cx="5357604" cy="295275"/>
          </a:xfrm>
          <a:prstGeom prst="rect">
            <a:avLst/>
          </a:prstGeom>
          <a:noFill/>
          <a:ln/>
        </p:spPr>
        <p:txBody>
          <a:bodyPr wrap="square" lIns="25400" tIns="25400" rIns="25400" bIns="25400" rtlCol="0" anchor="t">
            <a:normAutofit/>
          </a:bodyPr>
          <a:lstStyle/>
          <a:p>
            <a:pPr algn="l" indent="0" marL="0">
              <a:buNone/>
            </a:pPr>
            <a:r>
              <a:rPr lang="en-US" sz="1800" dirty="0">
                <a:solidFill>
                  <a:srgbClr val="8C7A3F"/>
                </a:solidFill>
                <a:latin typeface="Courier New" pitchFamily="34" charset="0"/>
                <a:ea typeface="Courier New" pitchFamily="34" charset="-122"/>
                <a:cs typeface="Courier New" pitchFamily="34" charset="-120"/>
              </a:rPr>
              <a:t>≈ 68%</a:t>
            </a:r>
            <a:endParaRPr lang="en-US" sz="1800" dirty="0"/>
          </a:p>
        </p:txBody>
      </p:sp>
      <p:sp>
        <p:nvSpPr>
          <p:cNvPr id="16" name="Shape 14"/>
          <p:cNvSpPr/>
          <p:nvPr/>
        </p:nvSpPr>
        <p:spPr>
          <a:xfrm>
            <a:off x="11998375" y="2800350"/>
            <a:ext cx="9525" cy="2284065"/>
          </a:xfrm>
          <a:prstGeom prst="rect">
            <a:avLst/>
          </a:prstGeom>
          <a:solidFill>
            <a:srgbClr val="E4E0D6"/>
          </a:solidFill>
          <a:ln/>
        </p:spPr>
      </p:sp>
      <p:sp>
        <p:nvSpPr>
          <p:cNvPr id="17" name="Text 15"/>
          <p:cNvSpPr/>
          <p:nvPr/>
        </p:nvSpPr>
        <p:spPr>
          <a:xfrm>
            <a:off x="12427000" y="2800350"/>
            <a:ext cx="1103561"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dirty="0">
                <a:solidFill>
                  <a:srgbClr val="2155A4"/>
                </a:solidFill>
                <a:latin typeface="Georgia" pitchFamily="34" charset="0"/>
                <a:ea typeface="Georgia" pitchFamily="34" charset="-122"/>
                <a:cs typeface="Georgia" pitchFamily="34" charset="-120"/>
              </a:rPr>
              <a:t>42</a:t>
            </a:r>
            <a:endParaRPr lang="en-US" sz="7200" dirty="0"/>
          </a:p>
        </p:txBody>
      </p:sp>
      <p:sp>
        <p:nvSpPr>
          <p:cNvPr id="18" name="Text 16"/>
          <p:cNvSpPr/>
          <p:nvPr/>
        </p:nvSpPr>
        <p:spPr>
          <a:xfrm>
            <a:off x="13530560" y="3257550"/>
            <a:ext cx="711398" cy="428625"/>
          </a:xfrm>
          <a:prstGeom prst="rect">
            <a:avLst/>
          </a:prstGeom>
          <a:noFill/>
          <a:ln/>
        </p:spPr>
        <p:txBody>
          <a:bodyPr wrap="square" lIns="25400" tIns="25400" rIns="25400" bIns="25400" rtlCol="0" anchor="t">
            <a:normAutofit/>
          </a:bodyPr>
          <a:lstStyle/>
          <a:p>
            <a:pPr algn="l" indent="0" marL="0">
              <a:buNone/>
            </a:pPr>
            <a:r>
              <a:rPr lang="en-US" sz="2700" dirty="0">
                <a:solidFill>
                  <a:srgbClr val="9A968C"/>
                </a:solidFill>
                <a:latin typeface="Georgia" pitchFamily="34" charset="0"/>
                <a:ea typeface="Georgia" pitchFamily="34" charset="-122"/>
                <a:cs typeface="Georgia" pitchFamily="34" charset="-120"/>
              </a:rPr>
              <a:t>/ 50</a:t>
            </a:r>
            <a:endParaRPr lang="en-US" sz="2700" dirty="0"/>
          </a:p>
        </p:txBody>
      </p:sp>
      <p:sp>
        <p:nvSpPr>
          <p:cNvPr id="19" name="Text 17"/>
          <p:cNvSpPr/>
          <p:nvPr/>
        </p:nvSpPr>
        <p:spPr>
          <a:xfrm>
            <a:off x="12427000" y="3886200"/>
            <a:ext cx="5357440" cy="381000"/>
          </a:xfrm>
          <a:prstGeom prst="rect">
            <a:avLst/>
          </a:prstGeom>
          <a:noFill/>
          <a:ln/>
        </p:spPr>
        <p:txBody>
          <a:bodyPr wrap="square" lIns="25400" tIns="25400" rIns="25400" bIns="25400" rtlCol="0" anchor="t">
            <a:normAutofit/>
          </a:bodyPr>
          <a:lstStyle/>
          <a:p>
            <a:pPr algn="l" indent="0" marL="0">
              <a:buNone/>
            </a:pPr>
            <a:r>
              <a:rPr lang="en-US" sz="2175" dirty="0">
                <a:solidFill>
                  <a:srgbClr val="20201E"/>
                </a:solidFill>
                <a:latin typeface="Georgia" pitchFamily="34" charset="0"/>
                <a:ea typeface="Georgia" pitchFamily="34" charset="-122"/>
                <a:cs typeface="Georgia" pitchFamily="34" charset="-120"/>
              </a:rPr>
              <a:t>재탐색 어려움</a:t>
            </a:r>
            <a:endParaRPr lang="en-US" sz="2175" dirty="0"/>
          </a:p>
        </p:txBody>
      </p:sp>
      <p:sp>
        <p:nvSpPr>
          <p:cNvPr id="20" name="Text 18"/>
          <p:cNvSpPr/>
          <p:nvPr/>
        </p:nvSpPr>
        <p:spPr>
          <a:xfrm>
            <a:off x="12427000" y="4324350"/>
            <a:ext cx="5357440"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6A60"/>
                </a:solidFill>
                <a:latin typeface="Georgia" pitchFamily="34" charset="0"/>
                <a:ea typeface="Georgia" pitchFamily="34" charset="-122"/>
                <a:cs typeface="Georgia" pitchFamily="34" charset="-120"/>
              </a:rPr>
              <a:t>긴 대화에서 이전 내용을 다시 찾기 어려움</a:t>
            </a:r>
            <a:endParaRPr lang="en-US" sz="1800" dirty="0"/>
          </a:p>
        </p:txBody>
      </p:sp>
      <p:sp>
        <p:nvSpPr>
          <p:cNvPr id="21" name="Text 19"/>
          <p:cNvSpPr/>
          <p:nvPr/>
        </p:nvSpPr>
        <p:spPr>
          <a:xfrm>
            <a:off x="12427000" y="4808190"/>
            <a:ext cx="535744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8C7A3F"/>
                </a:solidFill>
                <a:latin typeface="Courier New" pitchFamily="34" charset="0"/>
                <a:ea typeface="Courier New" pitchFamily="34" charset="-122"/>
                <a:cs typeface="Courier New" pitchFamily="34" charset="-120"/>
              </a:rPr>
              <a:t>≈ 84% (가끔 이상)</a:t>
            </a:r>
            <a:endParaRPr lang="en-US" sz="1800" dirty="0"/>
          </a:p>
        </p:txBody>
      </p:sp>
      <p:sp>
        <p:nvSpPr>
          <p:cNvPr id="22" name="Shape 20"/>
          <p:cNvSpPr/>
          <p:nvPr/>
        </p:nvSpPr>
        <p:spPr>
          <a:xfrm>
            <a:off x="990600" y="7210425"/>
            <a:ext cx="16306800" cy="1724025"/>
          </a:xfrm>
          <a:prstGeom prst="rect">
            <a:avLst/>
          </a:prstGeom>
          <a:solidFill>
            <a:srgbClr val="F8F5EE"/>
          </a:solidFill>
          <a:ln w="9525">
            <a:solidFill>
              <a:srgbClr val="E4E0D6"/>
            </a:solidFill>
            <a:prstDash val="solid"/>
          </a:ln>
        </p:spPr>
      </p:sp>
      <p:sp>
        <p:nvSpPr>
          <p:cNvPr id="23" name="Text 21"/>
          <p:cNvSpPr/>
          <p:nvPr/>
        </p:nvSpPr>
        <p:spPr>
          <a:xfrm>
            <a:off x="1362075" y="7505700"/>
            <a:ext cx="17120235" cy="295275"/>
          </a:xfrm>
          <a:prstGeom prst="rect">
            <a:avLst/>
          </a:prstGeom>
          <a:noFill/>
          <a:ln/>
        </p:spPr>
        <p:txBody>
          <a:bodyPr wrap="square" lIns="25400" tIns="25400" rIns="25400" bIns="25400" rtlCol="0" anchor="t">
            <a:normAutofit/>
          </a:bodyPr>
          <a:lstStyle/>
          <a:p>
            <a:pPr algn="l" indent="0" marL="0">
              <a:buNone/>
            </a:pPr>
            <a:r>
              <a:rPr lang="en-US" sz="1650" spc="132" kern="0" dirty="0">
                <a:solidFill>
                  <a:srgbClr val="8C7A3F"/>
                </a:solidFill>
                <a:latin typeface="Courier New" pitchFamily="34" charset="0"/>
                <a:ea typeface="Courier New" pitchFamily="34" charset="-122"/>
                <a:cs typeface="Courier New" pitchFamily="34" charset="-120"/>
              </a:rPr>
              <a:t>심층 인터뷰에서 확인한 작업 상황</a:t>
            </a:r>
            <a:endParaRPr lang="en-US" sz="1650" dirty="0"/>
          </a:p>
        </p:txBody>
      </p:sp>
      <p:sp>
        <p:nvSpPr>
          <p:cNvPr id="24" name="Text 22"/>
          <p:cNvSpPr/>
          <p:nvPr/>
        </p:nvSpPr>
        <p:spPr>
          <a:xfrm>
            <a:off x="1362075" y="7972425"/>
            <a:ext cx="350639" cy="704850"/>
          </a:xfrm>
          <a:prstGeom prst="rect">
            <a:avLst/>
          </a:prstGeom>
          <a:noFill/>
          <a:ln/>
        </p:spPr>
        <p:txBody>
          <a:bodyPr wrap="square" lIns="25400" tIns="25400" rIns="25400" bIns="25400" rtlCol="0" anchor="t">
            <a:normAutofit/>
          </a:bodyPr>
          <a:lstStyle/>
          <a:p>
            <a:pPr algn="l" indent="0" marL="0">
              <a:buNone/>
            </a:pPr>
            <a:r>
              <a:rPr lang="en-US" sz="1800" dirty="0">
                <a:solidFill>
                  <a:srgbClr val="2155A4"/>
                </a:solidFill>
                <a:latin typeface="Courier New" pitchFamily="34" charset="0"/>
                <a:ea typeface="Courier New" pitchFamily="34" charset="-122"/>
                <a:cs typeface="Courier New" pitchFamily="34" charset="-120"/>
              </a:rPr>
              <a:t>1.</a:t>
            </a:r>
            <a:endParaRPr lang="en-US" sz="1800" dirty="0"/>
          </a:p>
        </p:txBody>
      </p:sp>
      <p:sp>
        <p:nvSpPr>
          <p:cNvPr id="25" name="Text 23"/>
          <p:cNvSpPr/>
          <p:nvPr/>
        </p:nvSpPr>
        <p:spPr>
          <a:xfrm>
            <a:off x="1769864" y="7972425"/>
            <a:ext cx="4289137" cy="70485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46443D"/>
                </a:solidFill>
                <a:latin typeface="Georgia" pitchFamily="34" charset="0"/>
                <a:ea typeface="Georgia" pitchFamily="34" charset="-122"/>
                <a:cs typeface="Georgia" pitchFamily="34" charset="-120"/>
              </a:rPr>
              <a:t>하나의 채팅에서 기존 자료와 대화 맥락을 유지하려 함</a:t>
            </a:r>
            <a:endParaRPr lang="en-US" sz="1875" dirty="0"/>
          </a:p>
        </p:txBody>
      </p:sp>
      <p:sp>
        <p:nvSpPr>
          <p:cNvPr id="26" name="Shape 24"/>
          <p:cNvSpPr/>
          <p:nvPr/>
        </p:nvSpPr>
        <p:spPr>
          <a:xfrm>
            <a:off x="6391275" y="7972425"/>
            <a:ext cx="9525" cy="666750"/>
          </a:xfrm>
          <a:prstGeom prst="rect">
            <a:avLst/>
          </a:prstGeom>
          <a:solidFill>
            <a:srgbClr val="E4E0D6"/>
          </a:solidFill>
          <a:ln/>
        </p:spPr>
      </p:sp>
      <p:sp>
        <p:nvSpPr>
          <p:cNvPr id="27" name="Text 25"/>
          <p:cNvSpPr/>
          <p:nvPr/>
        </p:nvSpPr>
        <p:spPr>
          <a:xfrm>
            <a:off x="6858000" y="7972425"/>
            <a:ext cx="350639" cy="704850"/>
          </a:xfrm>
          <a:prstGeom prst="rect">
            <a:avLst/>
          </a:prstGeom>
          <a:noFill/>
          <a:ln/>
        </p:spPr>
        <p:txBody>
          <a:bodyPr wrap="square" lIns="25400" tIns="25400" rIns="25400" bIns="25400" rtlCol="0" anchor="t">
            <a:normAutofit/>
          </a:bodyPr>
          <a:lstStyle/>
          <a:p>
            <a:pPr algn="l" indent="0" marL="0">
              <a:buNone/>
            </a:pPr>
            <a:r>
              <a:rPr lang="en-US" sz="1800" dirty="0">
                <a:solidFill>
                  <a:srgbClr val="2155A4"/>
                </a:solidFill>
                <a:latin typeface="Courier New" pitchFamily="34" charset="0"/>
                <a:ea typeface="Courier New" pitchFamily="34" charset="-122"/>
                <a:cs typeface="Courier New" pitchFamily="34" charset="-120"/>
              </a:rPr>
              <a:t>2.</a:t>
            </a:r>
            <a:endParaRPr lang="en-US" sz="1800" dirty="0"/>
          </a:p>
        </p:txBody>
      </p:sp>
      <p:sp>
        <p:nvSpPr>
          <p:cNvPr id="28" name="Text 26"/>
          <p:cNvSpPr/>
          <p:nvPr/>
        </p:nvSpPr>
        <p:spPr>
          <a:xfrm>
            <a:off x="7265789" y="7972425"/>
            <a:ext cx="4289137" cy="70485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46443D"/>
                </a:solidFill>
                <a:latin typeface="Georgia" pitchFamily="34" charset="0"/>
                <a:ea typeface="Georgia" pitchFamily="34" charset="-122"/>
                <a:cs typeface="Georgia" pitchFamily="34" charset="-120"/>
              </a:rPr>
              <a:t>세부 질문이 누적되면 원래 작업 흐름으로 복귀하기 어려움</a:t>
            </a:r>
            <a:endParaRPr lang="en-US" sz="1875" dirty="0"/>
          </a:p>
        </p:txBody>
      </p:sp>
      <p:sp>
        <p:nvSpPr>
          <p:cNvPr id="29" name="Shape 27"/>
          <p:cNvSpPr/>
          <p:nvPr/>
        </p:nvSpPr>
        <p:spPr>
          <a:xfrm>
            <a:off x="11887200" y="7972425"/>
            <a:ext cx="9525" cy="666750"/>
          </a:xfrm>
          <a:prstGeom prst="rect">
            <a:avLst/>
          </a:prstGeom>
          <a:solidFill>
            <a:srgbClr val="E4E0D6"/>
          </a:solidFill>
          <a:ln/>
        </p:spPr>
      </p:sp>
      <p:sp>
        <p:nvSpPr>
          <p:cNvPr id="30" name="Text 28"/>
          <p:cNvSpPr/>
          <p:nvPr/>
        </p:nvSpPr>
        <p:spPr>
          <a:xfrm>
            <a:off x="12353925" y="7972425"/>
            <a:ext cx="350639" cy="704850"/>
          </a:xfrm>
          <a:prstGeom prst="rect">
            <a:avLst/>
          </a:prstGeom>
          <a:noFill/>
          <a:ln/>
        </p:spPr>
        <p:txBody>
          <a:bodyPr wrap="square" lIns="25400" tIns="25400" rIns="25400" bIns="25400" rtlCol="0" anchor="t">
            <a:normAutofit/>
          </a:bodyPr>
          <a:lstStyle/>
          <a:p>
            <a:pPr algn="l" indent="0" marL="0">
              <a:buNone/>
            </a:pPr>
            <a:r>
              <a:rPr lang="en-US" sz="1800" dirty="0">
                <a:solidFill>
                  <a:srgbClr val="2155A4"/>
                </a:solidFill>
                <a:latin typeface="Courier New" pitchFamily="34" charset="0"/>
                <a:ea typeface="Courier New" pitchFamily="34" charset="-122"/>
                <a:cs typeface="Courier New" pitchFamily="34" charset="-120"/>
              </a:rPr>
              <a:t>3.</a:t>
            </a:r>
            <a:endParaRPr lang="en-US" sz="1800" dirty="0"/>
          </a:p>
        </p:txBody>
      </p:sp>
      <p:sp>
        <p:nvSpPr>
          <p:cNvPr id="31" name="Text 29"/>
          <p:cNvSpPr/>
          <p:nvPr/>
        </p:nvSpPr>
        <p:spPr>
          <a:xfrm>
            <a:off x="12761714" y="7972425"/>
            <a:ext cx="4289137" cy="70485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46443D"/>
                </a:solidFill>
                <a:latin typeface="Georgia" pitchFamily="34" charset="0"/>
                <a:ea typeface="Georgia" pitchFamily="34" charset="-122"/>
                <a:cs typeface="Georgia" pitchFamily="34" charset="-120"/>
              </a:rPr>
              <a:t>새 채팅 생성 시 기존 자료와 배경 맥락을 다시 제공해야 함</a:t>
            </a:r>
            <a:endParaRPr lang="en-US" sz="1875" dirty="0"/>
          </a:p>
        </p:txBody>
      </p:sp>
      <p:sp>
        <p:nvSpPr>
          <p:cNvPr id="32" name="Shape 30"/>
          <p:cNvSpPr/>
          <p:nvPr/>
        </p:nvSpPr>
        <p:spPr>
          <a:xfrm>
            <a:off x="990600" y="9239250"/>
            <a:ext cx="16306800" cy="9525"/>
          </a:xfrm>
          <a:prstGeom prst="rect">
            <a:avLst/>
          </a:prstGeom>
          <a:solidFill>
            <a:srgbClr val="E4E0D6"/>
          </a:solidFill>
          <a:ln/>
        </p:spPr>
      </p:sp>
      <p:sp>
        <p:nvSpPr>
          <p:cNvPr id="33" name="Text 31"/>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34" name="Text 32"/>
          <p:cNvSpPr/>
          <p:nvPr/>
        </p:nvSpPr>
        <p:spPr>
          <a:xfrm>
            <a:off x="15513993" y="9458325"/>
            <a:ext cx="1961748"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03 / Findings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03 — CUSTOMER REQUIREMENTS</a:t>
            </a:r>
            <a:endParaRPr lang="en-US" sz="1875" dirty="0"/>
          </a:p>
        </p:txBody>
      </p:sp>
      <p:sp>
        <p:nvSpPr>
          <p:cNvPr id="3" name="Text 1"/>
          <p:cNvSpPr/>
          <p:nvPr/>
        </p:nvSpPr>
        <p:spPr>
          <a:xfrm>
            <a:off x="990600" y="1247775"/>
            <a:ext cx="17937480" cy="585788"/>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Target User 도출 — 조사 결과에서 사용자를 정의</a:t>
            </a:r>
            <a:endParaRPr lang="en-US" sz="3750" dirty="0"/>
          </a:p>
        </p:txBody>
      </p:sp>
      <p:sp>
        <p:nvSpPr>
          <p:cNvPr id="4" name="Text 2"/>
          <p:cNvSpPr/>
          <p:nvPr/>
        </p:nvSpPr>
        <p:spPr>
          <a:xfrm>
            <a:off x="990600" y="1947863"/>
            <a:ext cx="16344900" cy="452438"/>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타겟을 미리 정하지 않고, 조사에서 </a:t>
            </a:r>
            <a:pPr algn="l" indent="0" marL="0">
              <a:lnSpc>
                <a:spcPct val="150000"/>
              </a:lnSpc>
              <a:buNone/>
            </a:pPr>
            <a:r>
              <a:rPr lang="en-US" sz="2175" dirty="0">
                <a:solidFill>
                  <a:srgbClr val="2155A4"/>
                </a:solidFill>
                <a:latin typeface="Georgia" pitchFamily="34" charset="0"/>
                <a:ea typeface="Georgia" pitchFamily="34" charset="-122"/>
                <a:cs typeface="Georgia" pitchFamily="34" charset="-120"/>
              </a:rPr>
              <a:t>공통으로 관찰된 사용 행태</a:t>
            </a:r>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로부터 사용자를 정의했다.</a:t>
            </a:r>
            <a:endParaRPr lang="en-US" sz="2175" dirty="0"/>
          </a:p>
        </p:txBody>
      </p:sp>
      <p:sp>
        <p:nvSpPr>
          <p:cNvPr id="5" name="Shape 3"/>
          <p:cNvSpPr/>
          <p:nvPr/>
        </p:nvSpPr>
        <p:spPr>
          <a:xfrm>
            <a:off x="990600" y="3152775"/>
            <a:ext cx="6785074" cy="9525"/>
          </a:xfrm>
          <a:prstGeom prst="rect">
            <a:avLst/>
          </a:prstGeom>
          <a:solidFill>
            <a:srgbClr val="E4E0D6"/>
          </a:solidFill>
          <a:ln/>
        </p:spPr>
      </p:sp>
      <p:sp>
        <p:nvSpPr>
          <p:cNvPr id="6" name="Text 4"/>
          <p:cNvSpPr/>
          <p:nvPr/>
        </p:nvSpPr>
        <p:spPr>
          <a:xfrm>
            <a:off x="990600" y="2743200"/>
            <a:ext cx="6988626" cy="295275"/>
          </a:xfrm>
          <a:prstGeom prst="rect">
            <a:avLst/>
          </a:prstGeom>
          <a:noFill/>
          <a:ln/>
        </p:spPr>
        <p:txBody>
          <a:bodyPr wrap="square" lIns="25400" tIns="25400" rIns="25400" bIns="25400" rtlCol="0" anchor="t">
            <a:normAutofit/>
          </a:bodyPr>
          <a:lstStyle/>
          <a:p>
            <a:pPr algn="l" indent="0" marL="0">
              <a:buNone/>
            </a:pPr>
            <a:r>
              <a:rPr lang="en-US" sz="1650" spc="83" kern="0" dirty="0">
                <a:solidFill>
                  <a:srgbClr val="8C7A3F"/>
                </a:solidFill>
                <a:latin typeface="Courier New" pitchFamily="34" charset="0"/>
                <a:ea typeface="Courier New" pitchFamily="34" charset="-122"/>
                <a:cs typeface="Courier New" pitchFamily="34" charset="-120"/>
              </a:rPr>
              <a:t>조사에서 관찰된 사용 행태</a:t>
            </a:r>
            <a:endParaRPr lang="en-US" sz="1650" dirty="0"/>
          </a:p>
        </p:txBody>
      </p:sp>
      <p:sp>
        <p:nvSpPr>
          <p:cNvPr id="7" name="Text 5"/>
          <p:cNvSpPr/>
          <p:nvPr/>
        </p:nvSpPr>
        <p:spPr>
          <a:xfrm>
            <a:off x="990600" y="3419475"/>
            <a:ext cx="187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2155A4"/>
                </a:solidFill>
                <a:latin typeface="Georgia" pitchFamily="34" charset="0"/>
                <a:ea typeface="Georgia" pitchFamily="34" charset="-122"/>
                <a:cs typeface="Georgia" pitchFamily="34" charset="-120"/>
              </a:rPr>
              <a:t>▸</a:t>
            </a:r>
            <a:endParaRPr lang="en-US" sz="1650" dirty="0"/>
          </a:p>
        </p:txBody>
      </p:sp>
      <p:sp>
        <p:nvSpPr>
          <p:cNvPr id="8" name="Text 6"/>
          <p:cNvSpPr/>
          <p:nvPr/>
        </p:nvSpPr>
        <p:spPr>
          <a:xfrm>
            <a:off x="1254175" y="3371850"/>
            <a:ext cx="5242679"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0201E"/>
                </a:solidFill>
                <a:latin typeface="Georgia" pitchFamily="34" charset="0"/>
                <a:ea typeface="Georgia" pitchFamily="34" charset="-122"/>
                <a:cs typeface="Georgia" pitchFamily="34" charset="-120"/>
              </a:rPr>
              <a:t>외부 자료(문서·코드·강의자료)를 대화에 활용</a:t>
            </a:r>
            <a:endParaRPr lang="en-US" sz="1875" dirty="0"/>
          </a:p>
        </p:txBody>
      </p:sp>
      <p:sp>
        <p:nvSpPr>
          <p:cNvPr id="9" name="Text 7"/>
          <p:cNvSpPr/>
          <p:nvPr/>
        </p:nvSpPr>
        <p:spPr>
          <a:xfrm>
            <a:off x="990600" y="3924300"/>
            <a:ext cx="187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2155A4"/>
                </a:solidFill>
                <a:latin typeface="Georgia" pitchFamily="34" charset="0"/>
                <a:ea typeface="Georgia" pitchFamily="34" charset="-122"/>
                <a:cs typeface="Georgia" pitchFamily="34" charset="-120"/>
              </a:rPr>
              <a:t>▸</a:t>
            </a:r>
            <a:endParaRPr lang="en-US" sz="1650" dirty="0"/>
          </a:p>
        </p:txBody>
      </p:sp>
      <p:sp>
        <p:nvSpPr>
          <p:cNvPr id="10" name="Text 8"/>
          <p:cNvSpPr/>
          <p:nvPr/>
        </p:nvSpPr>
        <p:spPr>
          <a:xfrm>
            <a:off x="1254175" y="3876675"/>
            <a:ext cx="4827836"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0201E"/>
                </a:solidFill>
                <a:latin typeface="Georgia" pitchFamily="34" charset="0"/>
                <a:ea typeface="Georgia" pitchFamily="34" charset="-122"/>
                <a:cs typeface="Georgia" pitchFamily="34" charset="-120"/>
              </a:rPr>
              <a:t>하나의 대화에서 여러 차례 후속 질문 수행</a:t>
            </a:r>
            <a:endParaRPr lang="en-US" sz="1875" dirty="0"/>
          </a:p>
        </p:txBody>
      </p:sp>
      <p:sp>
        <p:nvSpPr>
          <p:cNvPr id="11" name="Text 9"/>
          <p:cNvSpPr/>
          <p:nvPr/>
        </p:nvSpPr>
        <p:spPr>
          <a:xfrm>
            <a:off x="990600" y="4429125"/>
            <a:ext cx="187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2155A4"/>
                </a:solidFill>
                <a:latin typeface="Georgia" pitchFamily="34" charset="0"/>
                <a:ea typeface="Georgia" pitchFamily="34" charset="-122"/>
                <a:cs typeface="Georgia" pitchFamily="34" charset="-120"/>
              </a:rPr>
              <a:t>▸</a:t>
            </a:r>
            <a:endParaRPr lang="en-US" sz="1650" dirty="0"/>
          </a:p>
        </p:txBody>
      </p:sp>
      <p:sp>
        <p:nvSpPr>
          <p:cNvPr id="12" name="Text 10"/>
          <p:cNvSpPr/>
          <p:nvPr/>
        </p:nvSpPr>
        <p:spPr>
          <a:xfrm>
            <a:off x="1254175" y="4381500"/>
            <a:ext cx="3916293"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0201E"/>
                </a:solidFill>
                <a:latin typeface="Georgia" pitchFamily="34" charset="0"/>
                <a:ea typeface="Georgia" pitchFamily="34" charset="-122"/>
                <a:cs typeface="Georgia" pitchFamily="34" charset="-120"/>
              </a:rPr>
              <a:t>이전 답변과 맥락을 지속해서 참조</a:t>
            </a:r>
            <a:endParaRPr lang="en-US" sz="1875" dirty="0"/>
          </a:p>
        </p:txBody>
      </p:sp>
      <p:sp>
        <p:nvSpPr>
          <p:cNvPr id="13" name="Text 11"/>
          <p:cNvSpPr/>
          <p:nvPr/>
        </p:nvSpPr>
        <p:spPr>
          <a:xfrm>
            <a:off x="990600" y="4933950"/>
            <a:ext cx="187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2155A4"/>
                </a:solidFill>
                <a:latin typeface="Georgia" pitchFamily="34" charset="0"/>
                <a:ea typeface="Georgia" pitchFamily="34" charset="-122"/>
                <a:cs typeface="Georgia" pitchFamily="34" charset="-120"/>
              </a:rPr>
              <a:t>▸</a:t>
            </a:r>
            <a:endParaRPr lang="en-US" sz="1650" dirty="0"/>
          </a:p>
        </p:txBody>
      </p:sp>
      <p:sp>
        <p:nvSpPr>
          <p:cNvPr id="14" name="Text 12"/>
          <p:cNvSpPr/>
          <p:nvPr/>
        </p:nvSpPr>
        <p:spPr>
          <a:xfrm>
            <a:off x="1254175" y="4886325"/>
            <a:ext cx="5089446"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0201E"/>
                </a:solidFill>
                <a:latin typeface="Georgia" pitchFamily="34" charset="0"/>
                <a:ea typeface="Georgia" pitchFamily="34" charset="-122"/>
                <a:cs typeface="Georgia" pitchFamily="34" charset="-120"/>
              </a:rPr>
              <a:t>하나의 작업에서 여러 세부 주제를 확장 탐색</a:t>
            </a:r>
            <a:endParaRPr lang="en-US" sz="1875" dirty="0"/>
          </a:p>
        </p:txBody>
      </p:sp>
      <p:sp>
        <p:nvSpPr>
          <p:cNvPr id="15" name="Shape 13"/>
          <p:cNvSpPr/>
          <p:nvPr/>
        </p:nvSpPr>
        <p:spPr>
          <a:xfrm>
            <a:off x="990600" y="8515350"/>
            <a:ext cx="6785074" cy="9525"/>
          </a:xfrm>
          <a:prstGeom prst="rect">
            <a:avLst/>
          </a:prstGeom>
          <a:solidFill>
            <a:srgbClr val="D6D2C6"/>
          </a:solidFill>
          <a:ln/>
        </p:spPr>
      </p:sp>
      <p:sp>
        <p:nvSpPr>
          <p:cNvPr id="16" name="Text 14"/>
          <p:cNvSpPr/>
          <p:nvPr/>
        </p:nvSpPr>
        <p:spPr>
          <a:xfrm>
            <a:off x="990600" y="8696325"/>
            <a:ext cx="927050" cy="295275"/>
          </a:xfrm>
          <a:prstGeom prst="rect">
            <a:avLst/>
          </a:prstGeom>
          <a:noFill/>
          <a:ln/>
        </p:spPr>
        <p:txBody>
          <a:bodyPr wrap="square" lIns="25400" tIns="25400" rIns="25400" bIns="25400" rtlCol="0" anchor="t">
            <a:normAutofit/>
          </a:bodyPr>
          <a:lstStyle/>
          <a:p>
            <a:pPr algn="l" indent="0" marL="0">
              <a:buNone/>
            </a:pPr>
            <a:r>
              <a:rPr lang="en-US" sz="1650" dirty="0">
                <a:solidFill>
                  <a:srgbClr val="2155A4"/>
                </a:solidFill>
                <a:latin typeface="Courier New" pitchFamily="34" charset="0"/>
                <a:ea typeface="Courier New" pitchFamily="34" charset="-122"/>
                <a:cs typeface="Courier New" pitchFamily="34" charset="-120"/>
              </a:rPr>
              <a:t>조사 결과</a:t>
            </a:r>
            <a:endParaRPr lang="en-US" sz="1650" dirty="0"/>
          </a:p>
        </p:txBody>
      </p:sp>
      <p:sp>
        <p:nvSpPr>
          <p:cNvPr id="17" name="Text 15"/>
          <p:cNvSpPr/>
          <p:nvPr/>
        </p:nvSpPr>
        <p:spPr>
          <a:xfrm>
            <a:off x="1974800" y="8705850"/>
            <a:ext cx="20196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C3BBAC"/>
                </a:solidFill>
                <a:latin typeface="Courier New" pitchFamily="34" charset="0"/>
                <a:ea typeface="Courier New" pitchFamily="34" charset="-122"/>
                <a:cs typeface="Courier New" pitchFamily="34" charset="-120"/>
              </a:rPr>
              <a:t>→</a:t>
            </a:r>
            <a:endParaRPr lang="en-US" sz="1650" dirty="0"/>
          </a:p>
        </p:txBody>
      </p:sp>
      <p:sp>
        <p:nvSpPr>
          <p:cNvPr id="18" name="Text 16"/>
          <p:cNvSpPr/>
          <p:nvPr/>
        </p:nvSpPr>
        <p:spPr>
          <a:xfrm>
            <a:off x="2233910" y="8696325"/>
            <a:ext cx="927050" cy="29527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사용 행태</a:t>
            </a:r>
            <a:endParaRPr lang="en-US" sz="1650" dirty="0"/>
          </a:p>
        </p:txBody>
      </p:sp>
      <p:sp>
        <p:nvSpPr>
          <p:cNvPr id="19" name="Text 17"/>
          <p:cNvSpPr/>
          <p:nvPr/>
        </p:nvSpPr>
        <p:spPr>
          <a:xfrm>
            <a:off x="3218111" y="8705850"/>
            <a:ext cx="20196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C3BBAC"/>
                </a:solidFill>
                <a:latin typeface="Courier New" pitchFamily="34" charset="0"/>
                <a:ea typeface="Courier New" pitchFamily="34" charset="-122"/>
                <a:cs typeface="Courier New" pitchFamily="34" charset="-120"/>
              </a:rPr>
              <a:t>→</a:t>
            </a:r>
            <a:endParaRPr lang="en-US" sz="1650" dirty="0"/>
          </a:p>
        </p:txBody>
      </p:sp>
      <p:sp>
        <p:nvSpPr>
          <p:cNvPr id="20" name="Text 18"/>
          <p:cNvSpPr/>
          <p:nvPr/>
        </p:nvSpPr>
        <p:spPr>
          <a:xfrm>
            <a:off x="3477220" y="8705850"/>
            <a:ext cx="1521693" cy="276225"/>
          </a:xfrm>
          <a:prstGeom prst="rect">
            <a:avLst/>
          </a:prstGeom>
          <a:noFill/>
          <a:ln/>
        </p:spPr>
        <p:txBody>
          <a:bodyPr wrap="square" lIns="25400" tIns="25400" rIns="25400" bIns="25400" rtlCol="0" anchor="t">
            <a:normAutofit/>
          </a:bodyPr>
          <a:lstStyle/>
          <a:p>
            <a:pPr algn="l" indent="0" marL="0">
              <a:buNone/>
            </a:pPr>
            <a:r>
              <a:rPr lang="en-US" sz="1650" dirty="0">
                <a:solidFill>
                  <a:srgbClr val="20201E"/>
                </a:solidFill>
                <a:latin typeface="Courier New" pitchFamily="34" charset="0"/>
                <a:ea typeface="Courier New" pitchFamily="34" charset="-122"/>
                <a:cs typeface="Courier New" pitchFamily="34" charset="-120"/>
              </a:rPr>
              <a:t>Target User</a:t>
            </a:r>
            <a:endParaRPr lang="en-US" sz="1650" dirty="0"/>
          </a:p>
        </p:txBody>
      </p:sp>
      <p:sp>
        <p:nvSpPr>
          <p:cNvPr id="21" name="Shape 19"/>
          <p:cNvSpPr/>
          <p:nvPr/>
        </p:nvSpPr>
        <p:spPr>
          <a:xfrm>
            <a:off x="8385274" y="2743200"/>
            <a:ext cx="9525" cy="6210300"/>
          </a:xfrm>
          <a:prstGeom prst="rect">
            <a:avLst/>
          </a:prstGeom>
          <a:solidFill>
            <a:srgbClr val="E4E0D6"/>
          </a:solidFill>
          <a:ln/>
        </p:spPr>
      </p:sp>
      <p:sp>
        <p:nvSpPr>
          <p:cNvPr id="22" name="Shape 20"/>
          <p:cNvSpPr/>
          <p:nvPr/>
        </p:nvSpPr>
        <p:spPr>
          <a:xfrm>
            <a:off x="9004399" y="2743200"/>
            <a:ext cx="8293001" cy="2009775"/>
          </a:xfrm>
          <a:prstGeom prst="rect">
            <a:avLst/>
          </a:prstGeom>
          <a:solidFill>
            <a:srgbClr val="F1F4FA"/>
          </a:solidFill>
          <a:ln w="9525">
            <a:solidFill>
              <a:srgbClr val="C9D4E6"/>
            </a:solidFill>
            <a:prstDash val="solid"/>
          </a:ln>
        </p:spPr>
      </p:sp>
      <p:sp>
        <p:nvSpPr>
          <p:cNvPr id="23" name="Text 21"/>
          <p:cNvSpPr/>
          <p:nvPr/>
        </p:nvSpPr>
        <p:spPr>
          <a:xfrm>
            <a:off x="9299674" y="3076575"/>
            <a:ext cx="956518" cy="276225"/>
          </a:xfrm>
          <a:prstGeom prst="rect">
            <a:avLst/>
          </a:prstGeom>
          <a:noFill/>
          <a:ln/>
        </p:spPr>
        <p:txBody>
          <a:bodyPr wrap="square" lIns="25400" tIns="25400" rIns="25400" bIns="25400" rtlCol="0" anchor="t">
            <a:normAutofit/>
          </a:bodyPr>
          <a:lstStyle/>
          <a:p>
            <a:pPr algn="l" indent="0" marL="0">
              <a:buNone/>
            </a:pPr>
            <a:r>
              <a:rPr lang="en-US" sz="1650" dirty="0">
                <a:solidFill>
                  <a:srgbClr val="2155A4"/>
                </a:solidFill>
                <a:latin typeface="Courier New" pitchFamily="34" charset="0"/>
                <a:ea typeface="Courier New" pitchFamily="34" charset="-122"/>
                <a:cs typeface="Courier New" pitchFamily="34" charset="-120"/>
              </a:rPr>
              <a:t>PRIMARY</a:t>
            </a:r>
            <a:endParaRPr lang="en-US" sz="1650" dirty="0"/>
          </a:p>
        </p:txBody>
      </p:sp>
      <p:sp>
        <p:nvSpPr>
          <p:cNvPr id="24" name="Text 22"/>
          <p:cNvSpPr/>
          <p:nvPr/>
        </p:nvSpPr>
        <p:spPr>
          <a:xfrm>
            <a:off x="10313343" y="3000375"/>
            <a:ext cx="4920496" cy="371475"/>
          </a:xfrm>
          <a:prstGeom prst="rect">
            <a:avLst/>
          </a:prstGeom>
          <a:noFill/>
          <a:ln/>
        </p:spPr>
        <p:txBody>
          <a:bodyPr wrap="square" lIns="25400" tIns="25400" rIns="25400" bIns="25400" rtlCol="0" anchor="t">
            <a:normAutofit/>
          </a:bodyPr>
          <a:lstStyle/>
          <a:p>
            <a:pPr algn="l" indent="0" marL="0">
              <a:buNone/>
            </a:pPr>
            <a:r>
              <a:rPr lang="en-US" sz="2100" dirty="0">
                <a:solidFill>
                  <a:srgbClr val="20201E"/>
                </a:solidFill>
                <a:latin typeface="Georgia" pitchFamily="34" charset="0"/>
                <a:ea typeface="Georgia" pitchFamily="34" charset="-122"/>
                <a:cs typeface="Georgia" pitchFamily="34" charset="-120"/>
              </a:rPr>
              <a:t>헤비 지식 노동자 </a:t>
            </a:r>
            <a:pPr algn="l" indent="0" marL="0">
              <a:buNone/>
            </a:pPr>
            <a:r>
              <a:rPr lang="en-US" sz="1650" dirty="0">
                <a:solidFill>
                  <a:srgbClr val="9A968C"/>
                </a:solidFill>
                <a:latin typeface="Georgia" pitchFamily="34" charset="0"/>
                <a:ea typeface="Georgia" pitchFamily="34" charset="-122"/>
                <a:cs typeface="Georgia" pitchFamily="34" charset="-120"/>
              </a:rPr>
              <a:t>Heavy Knowledge Worker</a:t>
            </a:r>
            <a:endParaRPr lang="en-US" sz="2100" dirty="0"/>
          </a:p>
        </p:txBody>
      </p:sp>
      <p:sp>
        <p:nvSpPr>
          <p:cNvPr id="25" name="Text 23"/>
          <p:cNvSpPr/>
          <p:nvPr/>
        </p:nvSpPr>
        <p:spPr>
          <a:xfrm>
            <a:off x="9299674" y="3467100"/>
            <a:ext cx="7933524" cy="10668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46443D"/>
                </a:solidFill>
                <a:latin typeface="Georgia" pitchFamily="34" charset="0"/>
                <a:ea typeface="Georgia" pitchFamily="34" charset="-122"/>
                <a:cs typeface="Georgia" pitchFamily="34" charset="-120"/>
              </a:rPr>
              <a:t>자료·이전 맥락을 바탕으로 하나의 작업을 지속 확장하고 파생 주제를 별도 탐색하는 사용자. 직업군이 아니라 </a:t>
            </a:r>
            <a:pPr algn="l" indent="0" marL="0">
              <a:lnSpc>
                <a:spcPct val="150000"/>
              </a:lnSpc>
              <a:buNone/>
            </a:pPr>
            <a:r>
              <a:rPr lang="en-US" sz="1800" dirty="0">
                <a:solidFill>
                  <a:srgbClr val="20201E"/>
                </a:solidFill>
                <a:latin typeface="Georgia" pitchFamily="34" charset="0"/>
                <a:ea typeface="Georgia" pitchFamily="34" charset="-122"/>
                <a:cs typeface="Georgia" pitchFamily="34" charset="-120"/>
              </a:rPr>
              <a:t>사용 행태를 가리키는 분석적 명칭 </a:t>
            </a:r>
            <a:pPr algn="l" indent="0" marL="0">
              <a:lnSpc>
                <a:spcPct val="150000"/>
              </a:lnSpc>
              <a:buNone/>
            </a:pPr>
            <a:r>
              <a:rPr lang="en-US" sz="1800" dirty="0">
                <a:solidFill>
                  <a:srgbClr val="46443D"/>
                </a:solidFill>
                <a:latin typeface="Georgia" pitchFamily="34" charset="0"/>
                <a:ea typeface="Georgia" pitchFamily="34" charset="-122"/>
                <a:cs typeface="Georgia" pitchFamily="34" charset="-120"/>
              </a:rPr>
              <a:t>— </a:t>
            </a:r>
            <a:pPr algn="l" indent="0" marL="0">
              <a:lnSpc>
                <a:spcPct val="150000"/>
              </a:lnSpc>
              <a:buNone/>
            </a:pPr>
            <a:r>
              <a:rPr lang="en-US" sz="1800" dirty="0">
                <a:solidFill>
                  <a:srgbClr val="2155A4"/>
                </a:solidFill>
                <a:latin typeface="Georgia" pitchFamily="34" charset="0"/>
                <a:ea typeface="Georgia" pitchFamily="34" charset="-122"/>
                <a:cs typeface="Georgia" pitchFamily="34" charset="-120"/>
              </a:rPr>
              <a:t>초기 요구 분석의 중심</a:t>
            </a:r>
            <a:endParaRPr lang="en-US" sz="1800" dirty="0"/>
          </a:p>
        </p:txBody>
      </p:sp>
      <p:sp>
        <p:nvSpPr>
          <p:cNvPr id="26" name="Shape 24"/>
          <p:cNvSpPr/>
          <p:nvPr/>
        </p:nvSpPr>
        <p:spPr>
          <a:xfrm>
            <a:off x="9004399" y="4924425"/>
            <a:ext cx="8293001" cy="1666875"/>
          </a:xfrm>
          <a:prstGeom prst="rect">
            <a:avLst/>
          </a:prstGeom>
          <a:solidFill>
            <a:srgbClr val="F8F5EE"/>
          </a:solidFill>
          <a:ln w="9525">
            <a:solidFill>
              <a:srgbClr val="E4E0D6"/>
            </a:solidFill>
            <a:prstDash val="solid"/>
          </a:ln>
        </p:spPr>
      </p:sp>
      <p:sp>
        <p:nvSpPr>
          <p:cNvPr id="27" name="Text 25"/>
          <p:cNvSpPr/>
          <p:nvPr/>
        </p:nvSpPr>
        <p:spPr>
          <a:xfrm>
            <a:off x="9299674" y="5257800"/>
            <a:ext cx="1208038" cy="27622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SECONDARY</a:t>
            </a:r>
            <a:endParaRPr lang="en-US" sz="1650" dirty="0"/>
          </a:p>
        </p:txBody>
      </p:sp>
      <p:sp>
        <p:nvSpPr>
          <p:cNvPr id="28" name="Text 26"/>
          <p:cNvSpPr/>
          <p:nvPr/>
        </p:nvSpPr>
        <p:spPr>
          <a:xfrm>
            <a:off x="10564862" y="5181600"/>
            <a:ext cx="2861340" cy="371475"/>
          </a:xfrm>
          <a:prstGeom prst="rect">
            <a:avLst/>
          </a:prstGeom>
          <a:noFill/>
          <a:ln/>
        </p:spPr>
        <p:txBody>
          <a:bodyPr wrap="square" lIns="25400" tIns="25400" rIns="25400" bIns="25400" rtlCol="0" anchor="t">
            <a:normAutofit/>
          </a:bodyPr>
          <a:lstStyle/>
          <a:p>
            <a:pPr algn="l" indent="0" marL="0">
              <a:buNone/>
            </a:pPr>
            <a:r>
              <a:rPr lang="en-US" sz="2100" dirty="0">
                <a:solidFill>
                  <a:srgbClr val="20201E"/>
                </a:solidFill>
                <a:latin typeface="Georgia" pitchFamily="34" charset="0"/>
                <a:ea typeface="Georgia" pitchFamily="34" charset="-122"/>
                <a:cs typeface="Georgia" pitchFamily="34" charset="-120"/>
              </a:rPr>
              <a:t>간헐적·짧은 질의 위주</a:t>
            </a:r>
            <a:endParaRPr lang="en-US" sz="2100" dirty="0"/>
          </a:p>
        </p:txBody>
      </p:sp>
      <p:sp>
        <p:nvSpPr>
          <p:cNvPr id="29" name="Text 27"/>
          <p:cNvSpPr/>
          <p:nvPr/>
        </p:nvSpPr>
        <p:spPr>
          <a:xfrm>
            <a:off x="9299674" y="5648325"/>
            <a:ext cx="7933524"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6E6A60"/>
                </a:solidFill>
                <a:latin typeface="Georgia" pitchFamily="34" charset="0"/>
                <a:ea typeface="Georgia" pitchFamily="34" charset="-122"/>
                <a:cs typeface="Georgia" pitchFamily="34" charset="-120"/>
              </a:rPr>
              <a:t>평소 장시간 대화 빈도는 낮지만 특정 과제에서는 자료 기반 대화를 사용. 초기 분석 중심에서는 제외하되 </a:t>
            </a:r>
            <a:pPr algn="l" indent="0" marL="0">
              <a:lnSpc>
                <a:spcPct val="150000"/>
              </a:lnSpc>
              <a:buNone/>
            </a:pPr>
            <a:r>
              <a:rPr lang="en-US" sz="1800" dirty="0">
                <a:solidFill>
                  <a:srgbClr val="9A968C"/>
                </a:solidFill>
                <a:latin typeface="Georgia" pitchFamily="34" charset="0"/>
                <a:ea typeface="Georgia" pitchFamily="34" charset="-122"/>
                <a:cs typeface="Georgia" pitchFamily="34" charset="-120"/>
              </a:rPr>
              <a:t>적용 범위·일반 사용성 검토에 고려</a:t>
            </a:r>
            <a:endParaRPr lang="en-US" sz="1800" dirty="0"/>
          </a:p>
        </p:txBody>
      </p:sp>
      <p:sp>
        <p:nvSpPr>
          <p:cNvPr id="30" name="Shape 28"/>
          <p:cNvSpPr/>
          <p:nvPr/>
        </p:nvSpPr>
        <p:spPr>
          <a:xfrm>
            <a:off x="990600" y="9239250"/>
            <a:ext cx="16306800" cy="9525"/>
          </a:xfrm>
          <a:prstGeom prst="rect">
            <a:avLst/>
          </a:prstGeom>
          <a:solidFill>
            <a:srgbClr val="E4E0D6"/>
          </a:solidFill>
          <a:ln/>
        </p:spPr>
      </p:sp>
      <p:sp>
        <p:nvSpPr>
          <p:cNvPr id="31" name="Text 29"/>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32" name="Text 30"/>
          <p:cNvSpPr/>
          <p:nvPr/>
        </p:nvSpPr>
        <p:spPr>
          <a:xfrm>
            <a:off x="15102483" y="9458325"/>
            <a:ext cx="241440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03 / Target User</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04 — REQUIREMENT TRACEABILITY</a:t>
            </a:r>
            <a:endParaRPr lang="en-US" sz="1875" dirty="0"/>
          </a:p>
        </p:txBody>
      </p:sp>
      <p:sp>
        <p:nvSpPr>
          <p:cNvPr id="3" name="Text 1"/>
          <p:cNvSpPr/>
          <p:nvPr/>
        </p:nvSpPr>
        <p:spPr>
          <a:xfrm>
            <a:off x="990600" y="1247775"/>
            <a:ext cx="17937480" cy="585788"/>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사용자 문제 → 사용자 요구 → FR/NFR로 변환</a:t>
            </a:r>
            <a:endParaRPr lang="en-US" sz="3750" dirty="0"/>
          </a:p>
        </p:txBody>
      </p:sp>
      <p:sp>
        <p:nvSpPr>
          <p:cNvPr id="4" name="Text 2"/>
          <p:cNvSpPr/>
          <p:nvPr/>
        </p:nvSpPr>
        <p:spPr>
          <a:xfrm>
            <a:off x="990600" y="1947863"/>
            <a:ext cx="16344900" cy="452438"/>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핵심: "분기 기능" 자체보다, 사용자 문제를 </a:t>
            </a:r>
            <a:pPr algn="l" indent="0" marL="0">
              <a:lnSpc>
                <a:spcPct val="150000"/>
              </a:lnSpc>
              <a:buNone/>
            </a:pPr>
            <a:r>
              <a:rPr lang="en-US" sz="2175" dirty="0">
                <a:solidFill>
                  <a:srgbClr val="8C7A3F"/>
                </a:solidFill>
                <a:latin typeface="Georgia" pitchFamily="34" charset="0"/>
                <a:ea typeface="Georgia" pitchFamily="34" charset="-122"/>
                <a:cs typeface="Georgia" pitchFamily="34" charset="-120"/>
              </a:rPr>
              <a:t>요구사항으로 변환한 과정</a:t>
            </a:r>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을 먼저 제시한다.</a:t>
            </a:r>
            <a:endParaRPr lang="en-US" sz="2175" dirty="0"/>
          </a:p>
        </p:txBody>
      </p:sp>
      <p:sp>
        <p:nvSpPr>
          <p:cNvPr id="5" name="Shape 3"/>
          <p:cNvSpPr/>
          <p:nvPr/>
        </p:nvSpPr>
        <p:spPr>
          <a:xfrm>
            <a:off x="990600" y="3133725"/>
            <a:ext cx="16306800" cy="19050"/>
          </a:xfrm>
          <a:prstGeom prst="rect">
            <a:avLst/>
          </a:prstGeom>
          <a:solidFill>
            <a:srgbClr val="20201E"/>
          </a:solidFill>
          <a:ln/>
        </p:spPr>
      </p:sp>
      <p:sp>
        <p:nvSpPr>
          <p:cNvPr id="6" name="Text 4"/>
          <p:cNvSpPr/>
          <p:nvPr/>
        </p:nvSpPr>
        <p:spPr>
          <a:xfrm>
            <a:off x="990600" y="2724150"/>
            <a:ext cx="5381179" cy="295275"/>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8C7A3F"/>
                </a:solidFill>
                <a:latin typeface="Courier New" pitchFamily="34" charset="0"/>
                <a:ea typeface="Courier New" pitchFamily="34" charset="-122"/>
                <a:cs typeface="Courier New" pitchFamily="34" charset="-120"/>
              </a:rPr>
              <a:t>사용자 문제</a:t>
            </a:r>
            <a:endParaRPr lang="en-US" sz="1650" dirty="0"/>
          </a:p>
        </p:txBody>
      </p:sp>
      <p:sp>
        <p:nvSpPr>
          <p:cNvPr id="7" name="Text 5"/>
          <p:cNvSpPr/>
          <p:nvPr/>
        </p:nvSpPr>
        <p:spPr>
          <a:xfrm>
            <a:off x="5882580" y="2724150"/>
            <a:ext cx="4783306" cy="295275"/>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8C7A3F"/>
                </a:solidFill>
                <a:latin typeface="Courier New" pitchFamily="34" charset="0"/>
                <a:ea typeface="Courier New" pitchFamily="34" charset="-122"/>
                <a:cs typeface="Courier New" pitchFamily="34" charset="-120"/>
              </a:rPr>
              <a:t>해석된 요구</a:t>
            </a:r>
            <a:endParaRPr lang="en-US" sz="1650" dirty="0"/>
          </a:p>
        </p:txBody>
      </p:sp>
      <p:sp>
        <p:nvSpPr>
          <p:cNvPr id="8" name="Text 6"/>
          <p:cNvSpPr/>
          <p:nvPr/>
        </p:nvSpPr>
        <p:spPr>
          <a:xfrm>
            <a:off x="10231041" y="2724150"/>
            <a:ext cx="3786798" cy="295275"/>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8C7A3F"/>
                </a:solidFill>
                <a:latin typeface="Courier New" pitchFamily="34" charset="0"/>
                <a:ea typeface="Courier New" pitchFamily="34" charset="-122"/>
                <a:cs typeface="Courier New" pitchFamily="34" charset="-120"/>
              </a:rPr>
              <a:t>대응 요구사항</a:t>
            </a:r>
            <a:endParaRPr lang="en-US" sz="1650" dirty="0"/>
          </a:p>
        </p:txBody>
      </p:sp>
      <p:sp>
        <p:nvSpPr>
          <p:cNvPr id="9" name="Text 7"/>
          <p:cNvSpPr/>
          <p:nvPr/>
        </p:nvSpPr>
        <p:spPr>
          <a:xfrm>
            <a:off x="13673584" y="2724150"/>
            <a:ext cx="3986198" cy="295275"/>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8C7A3F"/>
                </a:solidFill>
                <a:latin typeface="Courier New" pitchFamily="34" charset="0"/>
                <a:ea typeface="Courier New" pitchFamily="34" charset="-122"/>
                <a:cs typeface="Courier New" pitchFamily="34" charset="-120"/>
              </a:rPr>
              <a:t>기능 후보</a:t>
            </a:r>
            <a:endParaRPr lang="en-US" sz="1650" dirty="0"/>
          </a:p>
        </p:txBody>
      </p:sp>
      <p:sp>
        <p:nvSpPr>
          <p:cNvPr id="10" name="Shape 8"/>
          <p:cNvSpPr/>
          <p:nvPr/>
        </p:nvSpPr>
        <p:spPr>
          <a:xfrm>
            <a:off x="990600" y="4624388"/>
            <a:ext cx="16306800" cy="9525"/>
          </a:xfrm>
          <a:prstGeom prst="rect">
            <a:avLst/>
          </a:prstGeom>
          <a:solidFill>
            <a:srgbClr val="E4E0D6"/>
          </a:solidFill>
          <a:ln/>
        </p:spPr>
      </p:sp>
      <p:sp>
        <p:nvSpPr>
          <p:cNvPr id="11" name="Text 9"/>
          <p:cNvSpPr/>
          <p:nvPr/>
        </p:nvSpPr>
        <p:spPr>
          <a:xfrm>
            <a:off x="990600" y="3567113"/>
            <a:ext cx="4810140" cy="681038"/>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20201E"/>
                </a:solidFill>
                <a:latin typeface="Georgia" pitchFamily="34" charset="0"/>
                <a:ea typeface="Georgia" pitchFamily="34" charset="-122"/>
                <a:cs typeface="Georgia" pitchFamily="34" charset="-120"/>
              </a:rPr>
              <a:t>같은 채팅에 세부 질문이 누적되면 메인 흐름이 흐려짐</a:t>
            </a:r>
            <a:endParaRPr lang="en-US" sz="1875" dirty="0"/>
          </a:p>
        </p:txBody>
      </p:sp>
      <p:sp>
        <p:nvSpPr>
          <p:cNvPr id="12" name="Text 10"/>
          <p:cNvSpPr/>
          <p:nvPr/>
        </p:nvSpPr>
        <p:spPr>
          <a:xfrm>
            <a:off x="5882580" y="3727847"/>
            <a:ext cx="4554706" cy="359569"/>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46443D"/>
                </a:solidFill>
                <a:latin typeface="Georgia" pitchFamily="34" charset="0"/>
                <a:ea typeface="Georgia" pitchFamily="34" charset="-122"/>
                <a:cs typeface="Georgia" pitchFamily="34" charset="-120"/>
              </a:rPr>
              <a:t>세부 탐색을 기존 흐름과 분리하고 싶다</a:t>
            </a:r>
            <a:endParaRPr lang="en-US" sz="1875" dirty="0"/>
          </a:p>
        </p:txBody>
      </p:sp>
      <p:sp>
        <p:nvSpPr>
          <p:cNvPr id="13" name="Shape 11"/>
          <p:cNvSpPr/>
          <p:nvPr/>
        </p:nvSpPr>
        <p:spPr>
          <a:xfrm>
            <a:off x="10231041" y="3740944"/>
            <a:ext cx="828824" cy="295275"/>
          </a:xfrm>
          <a:prstGeom prst="rect">
            <a:avLst/>
          </a:prstGeom>
          <a:ln w="9525">
            <a:solidFill>
              <a:srgbClr val="C9D4E6"/>
            </a:solidFill>
            <a:prstDash val="solid"/>
          </a:ln>
        </p:spPr>
      </p:sp>
      <p:sp>
        <p:nvSpPr>
          <p:cNvPr id="14" name="Text 12"/>
          <p:cNvSpPr/>
          <p:nvPr/>
        </p:nvSpPr>
        <p:spPr>
          <a:xfrm>
            <a:off x="10345341" y="3779044"/>
            <a:ext cx="683106" cy="257175"/>
          </a:xfrm>
          <a:prstGeom prst="rect">
            <a:avLst/>
          </a:prstGeom>
          <a:noFill/>
          <a:ln/>
        </p:spPr>
        <p:txBody>
          <a:bodyPr wrap="square" lIns="25400" tIns="25400" rIns="25400" bIns="25400" rtlCol="0" anchor="t">
            <a:normAutofit/>
          </a:bodyPr>
          <a:lstStyle/>
          <a:p>
            <a:pPr algn="l" indent="0" marL="0">
              <a:buNone/>
            </a:pPr>
            <a:r>
              <a:rPr lang="en-US" sz="1575" dirty="0">
                <a:solidFill>
                  <a:srgbClr val="2155A4"/>
                </a:solidFill>
                <a:latin typeface="Courier New" pitchFamily="34" charset="0"/>
                <a:ea typeface="Courier New" pitchFamily="34" charset="-122"/>
                <a:cs typeface="Courier New" pitchFamily="34" charset="-120"/>
              </a:rPr>
              <a:t>FR-01</a:t>
            </a:r>
            <a:endParaRPr lang="en-US" sz="1575" dirty="0"/>
          </a:p>
        </p:txBody>
      </p:sp>
      <p:sp>
        <p:nvSpPr>
          <p:cNvPr id="15" name="Shape 13"/>
          <p:cNvSpPr/>
          <p:nvPr/>
        </p:nvSpPr>
        <p:spPr>
          <a:xfrm>
            <a:off x="11136064" y="3740944"/>
            <a:ext cx="828824" cy="295275"/>
          </a:xfrm>
          <a:prstGeom prst="rect">
            <a:avLst/>
          </a:prstGeom>
          <a:ln w="9525">
            <a:solidFill>
              <a:srgbClr val="C9D4E6"/>
            </a:solidFill>
            <a:prstDash val="solid"/>
          </a:ln>
        </p:spPr>
      </p:sp>
      <p:sp>
        <p:nvSpPr>
          <p:cNvPr id="16" name="Text 14"/>
          <p:cNvSpPr/>
          <p:nvPr/>
        </p:nvSpPr>
        <p:spPr>
          <a:xfrm>
            <a:off x="11250364" y="3779044"/>
            <a:ext cx="683106" cy="257175"/>
          </a:xfrm>
          <a:prstGeom prst="rect">
            <a:avLst/>
          </a:prstGeom>
          <a:noFill/>
          <a:ln/>
        </p:spPr>
        <p:txBody>
          <a:bodyPr wrap="square" lIns="25400" tIns="25400" rIns="25400" bIns="25400" rtlCol="0" anchor="t">
            <a:normAutofit/>
          </a:bodyPr>
          <a:lstStyle/>
          <a:p>
            <a:pPr algn="l" indent="0" marL="0">
              <a:buNone/>
            </a:pPr>
            <a:r>
              <a:rPr lang="en-US" sz="1575" dirty="0">
                <a:solidFill>
                  <a:srgbClr val="2155A4"/>
                </a:solidFill>
                <a:latin typeface="Courier New" pitchFamily="34" charset="0"/>
                <a:ea typeface="Courier New" pitchFamily="34" charset="-122"/>
                <a:cs typeface="Courier New" pitchFamily="34" charset="-120"/>
              </a:rPr>
              <a:t>FR-03</a:t>
            </a:r>
            <a:endParaRPr lang="en-US" sz="1575" dirty="0"/>
          </a:p>
        </p:txBody>
      </p:sp>
      <p:sp>
        <p:nvSpPr>
          <p:cNvPr id="17" name="Text 15"/>
          <p:cNvSpPr/>
          <p:nvPr/>
        </p:nvSpPr>
        <p:spPr>
          <a:xfrm>
            <a:off x="13673584" y="3734246"/>
            <a:ext cx="3986198"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6E6A60"/>
                </a:solidFill>
                <a:latin typeface="Georgia" pitchFamily="34" charset="0"/>
                <a:ea typeface="Georgia" pitchFamily="34" charset="-122"/>
                <a:cs typeface="Georgia" pitchFamily="34" charset="-120"/>
              </a:rPr>
              <a:t>대화 분기 · 맥락 분리</a:t>
            </a:r>
            <a:endParaRPr lang="en-US" sz="1800" dirty="0"/>
          </a:p>
        </p:txBody>
      </p:sp>
      <p:sp>
        <p:nvSpPr>
          <p:cNvPr id="18" name="Shape 16"/>
          <p:cNvSpPr/>
          <p:nvPr/>
        </p:nvSpPr>
        <p:spPr>
          <a:xfrm>
            <a:off x="990600" y="6105525"/>
            <a:ext cx="16306800" cy="9525"/>
          </a:xfrm>
          <a:prstGeom prst="rect">
            <a:avLst/>
          </a:prstGeom>
          <a:solidFill>
            <a:srgbClr val="E4E0D6"/>
          </a:solidFill>
          <a:ln/>
        </p:spPr>
      </p:sp>
      <p:sp>
        <p:nvSpPr>
          <p:cNvPr id="19" name="Text 17"/>
          <p:cNvSpPr/>
          <p:nvPr/>
        </p:nvSpPr>
        <p:spPr>
          <a:xfrm>
            <a:off x="990600" y="5208984"/>
            <a:ext cx="5152579" cy="359569"/>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20201E"/>
                </a:solidFill>
                <a:latin typeface="Georgia" pitchFamily="34" charset="0"/>
                <a:ea typeface="Georgia" pitchFamily="34" charset="-122"/>
                <a:cs typeface="Georgia" pitchFamily="34" charset="-120"/>
              </a:rPr>
              <a:t>자료 기반 작업 공간으로 사용</a:t>
            </a:r>
            <a:endParaRPr lang="en-US" sz="1875" dirty="0"/>
          </a:p>
        </p:txBody>
      </p:sp>
      <p:sp>
        <p:nvSpPr>
          <p:cNvPr id="20" name="Text 18"/>
          <p:cNvSpPr/>
          <p:nvPr/>
        </p:nvSpPr>
        <p:spPr>
          <a:xfrm>
            <a:off x="5882580" y="5208984"/>
            <a:ext cx="4554706" cy="359569"/>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46443D"/>
                </a:solidFill>
                <a:latin typeface="Georgia" pitchFamily="34" charset="0"/>
                <a:ea typeface="Georgia" pitchFamily="34" charset="-122"/>
                <a:cs typeface="Georgia" pitchFamily="34" charset="-120"/>
              </a:rPr>
              <a:t>자료와 대화 맥락을 작업 단위로 유지</a:t>
            </a:r>
            <a:endParaRPr lang="en-US" sz="1875" dirty="0"/>
          </a:p>
        </p:txBody>
      </p:sp>
      <p:sp>
        <p:nvSpPr>
          <p:cNvPr id="21" name="Shape 19"/>
          <p:cNvSpPr/>
          <p:nvPr/>
        </p:nvSpPr>
        <p:spPr>
          <a:xfrm>
            <a:off x="10231041" y="5222081"/>
            <a:ext cx="828824" cy="295275"/>
          </a:xfrm>
          <a:prstGeom prst="rect">
            <a:avLst/>
          </a:prstGeom>
          <a:ln w="9525">
            <a:solidFill>
              <a:srgbClr val="C9D4E6"/>
            </a:solidFill>
            <a:prstDash val="solid"/>
          </a:ln>
        </p:spPr>
      </p:sp>
      <p:sp>
        <p:nvSpPr>
          <p:cNvPr id="22" name="Text 20"/>
          <p:cNvSpPr/>
          <p:nvPr/>
        </p:nvSpPr>
        <p:spPr>
          <a:xfrm>
            <a:off x="10345341" y="5260181"/>
            <a:ext cx="683106" cy="257175"/>
          </a:xfrm>
          <a:prstGeom prst="rect">
            <a:avLst/>
          </a:prstGeom>
          <a:noFill/>
          <a:ln/>
        </p:spPr>
        <p:txBody>
          <a:bodyPr wrap="square" lIns="25400" tIns="25400" rIns="25400" bIns="25400" rtlCol="0" anchor="t">
            <a:normAutofit/>
          </a:bodyPr>
          <a:lstStyle/>
          <a:p>
            <a:pPr algn="l" indent="0" marL="0">
              <a:buNone/>
            </a:pPr>
            <a:r>
              <a:rPr lang="en-US" sz="1575" dirty="0">
                <a:solidFill>
                  <a:srgbClr val="2155A4"/>
                </a:solidFill>
                <a:latin typeface="Courier New" pitchFamily="34" charset="0"/>
                <a:ea typeface="Courier New" pitchFamily="34" charset="-122"/>
                <a:cs typeface="Courier New" pitchFamily="34" charset="-120"/>
              </a:rPr>
              <a:t>FR-02</a:t>
            </a:r>
            <a:endParaRPr lang="en-US" sz="1575" dirty="0"/>
          </a:p>
        </p:txBody>
      </p:sp>
      <p:sp>
        <p:nvSpPr>
          <p:cNvPr id="23" name="Shape 21"/>
          <p:cNvSpPr/>
          <p:nvPr/>
        </p:nvSpPr>
        <p:spPr>
          <a:xfrm>
            <a:off x="11136064" y="5222081"/>
            <a:ext cx="828824" cy="295275"/>
          </a:xfrm>
          <a:prstGeom prst="rect">
            <a:avLst/>
          </a:prstGeom>
          <a:ln w="9525">
            <a:solidFill>
              <a:srgbClr val="C9D4E6"/>
            </a:solidFill>
            <a:prstDash val="solid"/>
          </a:ln>
        </p:spPr>
      </p:sp>
      <p:sp>
        <p:nvSpPr>
          <p:cNvPr id="24" name="Text 22"/>
          <p:cNvSpPr/>
          <p:nvPr/>
        </p:nvSpPr>
        <p:spPr>
          <a:xfrm>
            <a:off x="11250364" y="5260181"/>
            <a:ext cx="683106" cy="257175"/>
          </a:xfrm>
          <a:prstGeom prst="rect">
            <a:avLst/>
          </a:prstGeom>
          <a:noFill/>
          <a:ln/>
        </p:spPr>
        <p:txBody>
          <a:bodyPr wrap="square" lIns="25400" tIns="25400" rIns="25400" bIns="25400" rtlCol="0" anchor="t">
            <a:normAutofit/>
          </a:bodyPr>
          <a:lstStyle/>
          <a:p>
            <a:pPr algn="l" indent="0" marL="0">
              <a:buNone/>
            </a:pPr>
            <a:r>
              <a:rPr lang="en-US" sz="1575" dirty="0">
                <a:solidFill>
                  <a:srgbClr val="2155A4"/>
                </a:solidFill>
                <a:latin typeface="Courier New" pitchFamily="34" charset="0"/>
                <a:ea typeface="Courier New" pitchFamily="34" charset="-122"/>
                <a:cs typeface="Courier New" pitchFamily="34" charset="-120"/>
              </a:rPr>
              <a:t>FR-07</a:t>
            </a:r>
            <a:endParaRPr lang="en-US" sz="1575" dirty="0"/>
          </a:p>
        </p:txBody>
      </p:sp>
      <p:sp>
        <p:nvSpPr>
          <p:cNvPr id="25" name="Text 23"/>
          <p:cNvSpPr/>
          <p:nvPr/>
        </p:nvSpPr>
        <p:spPr>
          <a:xfrm>
            <a:off x="13673584" y="5215384"/>
            <a:ext cx="3986198"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6E6A60"/>
                </a:solidFill>
                <a:latin typeface="Georgia" pitchFamily="34" charset="0"/>
                <a:ea typeface="Georgia" pitchFamily="34" charset="-122"/>
                <a:cs typeface="Georgia" pitchFamily="34" charset="-120"/>
              </a:rPr>
              <a:t>맥락 상속 · 자료 재사용</a:t>
            </a:r>
            <a:endParaRPr lang="en-US" sz="1800" dirty="0"/>
          </a:p>
        </p:txBody>
      </p:sp>
      <p:sp>
        <p:nvSpPr>
          <p:cNvPr id="26" name="Shape 24"/>
          <p:cNvSpPr/>
          <p:nvPr/>
        </p:nvSpPr>
        <p:spPr>
          <a:xfrm>
            <a:off x="990600" y="7586663"/>
            <a:ext cx="16306800" cy="9525"/>
          </a:xfrm>
          <a:prstGeom prst="rect">
            <a:avLst/>
          </a:prstGeom>
          <a:solidFill>
            <a:srgbClr val="E4E0D6"/>
          </a:solidFill>
          <a:ln/>
        </p:spPr>
      </p:sp>
      <p:sp>
        <p:nvSpPr>
          <p:cNvPr id="27" name="Text 25"/>
          <p:cNvSpPr/>
          <p:nvPr/>
        </p:nvSpPr>
        <p:spPr>
          <a:xfrm>
            <a:off x="990600" y="6690122"/>
            <a:ext cx="5152579" cy="359569"/>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20201E"/>
                </a:solidFill>
                <a:latin typeface="Georgia" pitchFamily="34" charset="0"/>
                <a:ea typeface="Georgia" pitchFamily="34" charset="-122"/>
                <a:cs typeface="Georgia" pitchFamily="34" charset="-120"/>
              </a:rPr>
              <a:t>이전 답변 재탐색 어려움</a:t>
            </a:r>
            <a:endParaRPr lang="en-US" sz="1875" dirty="0"/>
          </a:p>
        </p:txBody>
      </p:sp>
      <p:sp>
        <p:nvSpPr>
          <p:cNvPr id="28" name="Text 26"/>
          <p:cNvSpPr/>
          <p:nvPr/>
        </p:nvSpPr>
        <p:spPr>
          <a:xfrm>
            <a:off x="5882580" y="6690122"/>
            <a:ext cx="4554706" cy="359569"/>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46443D"/>
                </a:solidFill>
                <a:latin typeface="Georgia" pitchFamily="34" charset="0"/>
                <a:ea typeface="Georgia" pitchFamily="34" charset="-122"/>
                <a:cs typeface="Georgia" pitchFamily="34" charset="-120"/>
              </a:rPr>
              <a:t>과거 답변과 근거를 빠르게 찾기</a:t>
            </a:r>
            <a:endParaRPr lang="en-US" sz="1875" dirty="0"/>
          </a:p>
        </p:txBody>
      </p:sp>
      <p:sp>
        <p:nvSpPr>
          <p:cNvPr id="29" name="Shape 27"/>
          <p:cNvSpPr/>
          <p:nvPr/>
        </p:nvSpPr>
        <p:spPr>
          <a:xfrm>
            <a:off x="10231041" y="6703219"/>
            <a:ext cx="828824" cy="295275"/>
          </a:xfrm>
          <a:prstGeom prst="rect">
            <a:avLst/>
          </a:prstGeom>
          <a:ln w="9525">
            <a:solidFill>
              <a:srgbClr val="C9D4E6"/>
            </a:solidFill>
            <a:prstDash val="solid"/>
          </a:ln>
        </p:spPr>
      </p:sp>
      <p:sp>
        <p:nvSpPr>
          <p:cNvPr id="30" name="Text 28"/>
          <p:cNvSpPr/>
          <p:nvPr/>
        </p:nvSpPr>
        <p:spPr>
          <a:xfrm>
            <a:off x="10345341" y="6741319"/>
            <a:ext cx="683106" cy="257175"/>
          </a:xfrm>
          <a:prstGeom prst="rect">
            <a:avLst/>
          </a:prstGeom>
          <a:noFill/>
          <a:ln/>
        </p:spPr>
        <p:txBody>
          <a:bodyPr wrap="square" lIns="25400" tIns="25400" rIns="25400" bIns="25400" rtlCol="0" anchor="t">
            <a:normAutofit/>
          </a:bodyPr>
          <a:lstStyle/>
          <a:p>
            <a:pPr algn="l" indent="0" marL="0">
              <a:buNone/>
            </a:pPr>
            <a:r>
              <a:rPr lang="en-US" sz="1575" dirty="0">
                <a:solidFill>
                  <a:srgbClr val="2155A4"/>
                </a:solidFill>
                <a:latin typeface="Courier New" pitchFamily="34" charset="0"/>
                <a:ea typeface="Courier New" pitchFamily="34" charset="-122"/>
                <a:cs typeface="Courier New" pitchFamily="34" charset="-120"/>
              </a:rPr>
              <a:t>FR-05</a:t>
            </a:r>
            <a:endParaRPr lang="en-US" sz="1575" dirty="0"/>
          </a:p>
        </p:txBody>
      </p:sp>
      <p:sp>
        <p:nvSpPr>
          <p:cNvPr id="31" name="Shape 29"/>
          <p:cNvSpPr/>
          <p:nvPr/>
        </p:nvSpPr>
        <p:spPr>
          <a:xfrm>
            <a:off x="11136064" y="6703219"/>
            <a:ext cx="828824" cy="295275"/>
          </a:xfrm>
          <a:prstGeom prst="rect">
            <a:avLst/>
          </a:prstGeom>
          <a:ln w="9525">
            <a:solidFill>
              <a:srgbClr val="C9D4E6"/>
            </a:solidFill>
            <a:prstDash val="solid"/>
          </a:ln>
        </p:spPr>
      </p:sp>
      <p:sp>
        <p:nvSpPr>
          <p:cNvPr id="32" name="Text 30"/>
          <p:cNvSpPr/>
          <p:nvPr/>
        </p:nvSpPr>
        <p:spPr>
          <a:xfrm>
            <a:off x="11250364" y="6741319"/>
            <a:ext cx="683106" cy="257175"/>
          </a:xfrm>
          <a:prstGeom prst="rect">
            <a:avLst/>
          </a:prstGeom>
          <a:noFill/>
          <a:ln/>
        </p:spPr>
        <p:txBody>
          <a:bodyPr wrap="square" lIns="25400" tIns="25400" rIns="25400" bIns="25400" rtlCol="0" anchor="t">
            <a:normAutofit/>
          </a:bodyPr>
          <a:lstStyle/>
          <a:p>
            <a:pPr algn="l" indent="0" marL="0">
              <a:buNone/>
            </a:pPr>
            <a:r>
              <a:rPr lang="en-US" sz="1575" dirty="0">
                <a:solidFill>
                  <a:srgbClr val="2155A4"/>
                </a:solidFill>
                <a:latin typeface="Courier New" pitchFamily="34" charset="0"/>
                <a:ea typeface="Courier New" pitchFamily="34" charset="-122"/>
                <a:cs typeface="Courier New" pitchFamily="34" charset="-120"/>
              </a:rPr>
              <a:t>FR-06</a:t>
            </a:r>
            <a:endParaRPr lang="en-US" sz="1575" dirty="0"/>
          </a:p>
        </p:txBody>
      </p:sp>
      <p:sp>
        <p:nvSpPr>
          <p:cNvPr id="33" name="Shape 31"/>
          <p:cNvSpPr/>
          <p:nvPr/>
        </p:nvSpPr>
        <p:spPr>
          <a:xfrm>
            <a:off x="12041088" y="6703219"/>
            <a:ext cx="828824" cy="295275"/>
          </a:xfrm>
          <a:prstGeom prst="rect">
            <a:avLst/>
          </a:prstGeom>
          <a:ln w="9525">
            <a:solidFill>
              <a:srgbClr val="C9D4E6"/>
            </a:solidFill>
            <a:prstDash val="solid"/>
          </a:ln>
        </p:spPr>
      </p:sp>
      <p:sp>
        <p:nvSpPr>
          <p:cNvPr id="34" name="Text 32"/>
          <p:cNvSpPr/>
          <p:nvPr/>
        </p:nvSpPr>
        <p:spPr>
          <a:xfrm>
            <a:off x="12155388" y="6741319"/>
            <a:ext cx="683106" cy="257175"/>
          </a:xfrm>
          <a:prstGeom prst="rect">
            <a:avLst/>
          </a:prstGeom>
          <a:noFill/>
          <a:ln/>
        </p:spPr>
        <p:txBody>
          <a:bodyPr wrap="square" lIns="25400" tIns="25400" rIns="25400" bIns="25400" rtlCol="0" anchor="t">
            <a:normAutofit/>
          </a:bodyPr>
          <a:lstStyle/>
          <a:p>
            <a:pPr algn="l" indent="0" marL="0">
              <a:buNone/>
            </a:pPr>
            <a:r>
              <a:rPr lang="en-US" sz="1575" dirty="0">
                <a:solidFill>
                  <a:srgbClr val="2155A4"/>
                </a:solidFill>
                <a:latin typeface="Courier New" pitchFamily="34" charset="0"/>
                <a:ea typeface="Courier New" pitchFamily="34" charset="-122"/>
                <a:cs typeface="Courier New" pitchFamily="34" charset="-120"/>
              </a:rPr>
              <a:t>FR-08</a:t>
            </a:r>
            <a:endParaRPr lang="en-US" sz="1575" dirty="0"/>
          </a:p>
        </p:txBody>
      </p:sp>
      <p:sp>
        <p:nvSpPr>
          <p:cNvPr id="35" name="Text 33"/>
          <p:cNvSpPr/>
          <p:nvPr/>
        </p:nvSpPr>
        <p:spPr>
          <a:xfrm>
            <a:off x="13673584" y="6696521"/>
            <a:ext cx="3986198"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6E6A60"/>
                </a:solidFill>
                <a:latin typeface="Georgia" pitchFamily="34" charset="0"/>
                <a:ea typeface="Georgia" pitchFamily="34" charset="-122"/>
                <a:cs typeface="Georgia" pitchFamily="34" charset="-120"/>
              </a:rPr>
              <a:t>탐색 구조 · 검색</a:t>
            </a:r>
            <a:endParaRPr lang="en-US" sz="1800" dirty="0"/>
          </a:p>
        </p:txBody>
      </p:sp>
      <p:sp>
        <p:nvSpPr>
          <p:cNvPr id="36" name="Text 34"/>
          <p:cNvSpPr/>
          <p:nvPr/>
        </p:nvSpPr>
        <p:spPr>
          <a:xfrm>
            <a:off x="990600" y="8171259"/>
            <a:ext cx="5152579" cy="359569"/>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20201E"/>
                </a:solidFill>
                <a:latin typeface="Georgia" pitchFamily="34" charset="0"/>
                <a:ea typeface="Georgia" pitchFamily="34" charset="-122"/>
                <a:cs typeface="Georgia" pitchFamily="34" charset="-120"/>
              </a:rPr>
              <a:t>관련 대화 관계 파악 어려움</a:t>
            </a:r>
            <a:endParaRPr lang="en-US" sz="1875" dirty="0"/>
          </a:p>
        </p:txBody>
      </p:sp>
      <p:sp>
        <p:nvSpPr>
          <p:cNvPr id="37" name="Text 35"/>
          <p:cNvSpPr/>
          <p:nvPr/>
        </p:nvSpPr>
        <p:spPr>
          <a:xfrm>
            <a:off x="5882580" y="8171259"/>
            <a:ext cx="4554706" cy="359569"/>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46443D"/>
                </a:solidFill>
                <a:latin typeface="Georgia" pitchFamily="34" charset="0"/>
                <a:ea typeface="Georgia" pitchFamily="34" charset="-122"/>
                <a:cs typeface="Georgia" pitchFamily="34" charset="-120"/>
              </a:rPr>
              <a:t>부모·하위 흐름과 현재 위치 확인</a:t>
            </a:r>
            <a:endParaRPr lang="en-US" sz="1875" dirty="0"/>
          </a:p>
        </p:txBody>
      </p:sp>
      <p:sp>
        <p:nvSpPr>
          <p:cNvPr id="38" name="Shape 36"/>
          <p:cNvSpPr/>
          <p:nvPr/>
        </p:nvSpPr>
        <p:spPr>
          <a:xfrm>
            <a:off x="10231041" y="8184356"/>
            <a:ext cx="828824" cy="295275"/>
          </a:xfrm>
          <a:prstGeom prst="rect">
            <a:avLst/>
          </a:prstGeom>
          <a:ln w="9525">
            <a:solidFill>
              <a:srgbClr val="C9D4E6"/>
            </a:solidFill>
            <a:prstDash val="solid"/>
          </a:ln>
        </p:spPr>
      </p:sp>
      <p:sp>
        <p:nvSpPr>
          <p:cNvPr id="39" name="Text 37"/>
          <p:cNvSpPr/>
          <p:nvPr/>
        </p:nvSpPr>
        <p:spPr>
          <a:xfrm>
            <a:off x="10345341" y="8222456"/>
            <a:ext cx="683106" cy="257175"/>
          </a:xfrm>
          <a:prstGeom prst="rect">
            <a:avLst/>
          </a:prstGeom>
          <a:noFill/>
          <a:ln/>
        </p:spPr>
        <p:txBody>
          <a:bodyPr wrap="square" lIns="25400" tIns="25400" rIns="25400" bIns="25400" rtlCol="0" anchor="t">
            <a:normAutofit/>
          </a:bodyPr>
          <a:lstStyle/>
          <a:p>
            <a:pPr algn="l" indent="0" marL="0">
              <a:buNone/>
            </a:pPr>
            <a:r>
              <a:rPr lang="en-US" sz="1575" dirty="0">
                <a:solidFill>
                  <a:srgbClr val="2155A4"/>
                </a:solidFill>
                <a:latin typeface="Courier New" pitchFamily="34" charset="0"/>
                <a:ea typeface="Courier New" pitchFamily="34" charset="-122"/>
                <a:cs typeface="Courier New" pitchFamily="34" charset="-120"/>
              </a:rPr>
              <a:t>FR-05</a:t>
            </a:r>
            <a:endParaRPr lang="en-US" sz="1575" dirty="0"/>
          </a:p>
        </p:txBody>
      </p:sp>
      <p:sp>
        <p:nvSpPr>
          <p:cNvPr id="40" name="Shape 38"/>
          <p:cNvSpPr/>
          <p:nvPr/>
        </p:nvSpPr>
        <p:spPr>
          <a:xfrm>
            <a:off x="11136064" y="8184356"/>
            <a:ext cx="828824" cy="295275"/>
          </a:xfrm>
          <a:prstGeom prst="rect">
            <a:avLst/>
          </a:prstGeom>
          <a:ln w="9525">
            <a:solidFill>
              <a:srgbClr val="C9D4E6"/>
            </a:solidFill>
            <a:prstDash val="solid"/>
          </a:ln>
        </p:spPr>
      </p:sp>
      <p:sp>
        <p:nvSpPr>
          <p:cNvPr id="41" name="Text 39"/>
          <p:cNvSpPr/>
          <p:nvPr/>
        </p:nvSpPr>
        <p:spPr>
          <a:xfrm>
            <a:off x="11250364" y="8222456"/>
            <a:ext cx="683106" cy="257175"/>
          </a:xfrm>
          <a:prstGeom prst="rect">
            <a:avLst/>
          </a:prstGeom>
          <a:noFill/>
          <a:ln/>
        </p:spPr>
        <p:txBody>
          <a:bodyPr wrap="square" lIns="25400" tIns="25400" rIns="25400" bIns="25400" rtlCol="0" anchor="t">
            <a:normAutofit/>
          </a:bodyPr>
          <a:lstStyle/>
          <a:p>
            <a:pPr algn="l" indent="0" marL="0">
              <a:buNone/>
            </a:pPr>
            <a:r>
              <a:rPr lang="en-US" sz="1575" dirty="0">
                <a:solidFill>
                  <a:srgbClr val="2155A4"/>
                </a:solidFill>
                <a:latin typeface="Courier New" pitchFamily="34" charset="0"/>
                <a:ea typeface="Courier New" pitchFamily="34" charset="-122"/>
                <a:cs typeface="Courier New" pitchFamily="34" charset="-120"/>
              </a:rPr>
              <a:t>FR-06</a:t>
            </a:r>
            <a:endParaRPr lang="en-US" sz="1575" dirty="0"/>
          </a:p>
        </p:txBody>
      </p:sp>
      <p:sp>
        <p:nvSpPr>
          <p:cNvPr id="42" name="Text 40"/>
          <p:cNvSpPr/>
          <p:nvPr/>
        </p:nvSpPr>
        <p:spPr>
          <a:xfrm>
            <a:off x="13673584" y="8177659"/>
            <a:ext cx="3986198"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6E6A60"/>
                </a:solidFill>
                <a:latin typeface="Georgia" pitchFamily="34" charset="0"/>
                <a:ea typeface="Georgia" pitchFamily="34" charset="-122"/>
                <a:cs typeface="Georgia" pitchFamily="34" charset="-120"/>
              </a:rPr>
              <a:t>트리/그래프/목록형 탐색</a:t>
            </a:r>
            <a:endParaRPr lang="en-US" sz="1800" dirty="0"/>
          </a:p>
        </p:txBody>
      </p:sp>
      <p:sp>
        <p:nvSpPr>
          <p:cNvPr id="43" name="Shape 41"/>
          <p:cNvSpPr/>
          <p:nvPr/>
        </p:nvSpPr>
        <p:spPr>
          <a:xfrm>
            <a:off x="990600" y="9239250"/>
            <a:ext cx="16306800" cy="9525"/>
          </a:xfrm>
          <a:prstGeom prst="rect">
            <a:avLst/>
          </a:prstGeom>
          <a:solidFill>
            <a:srgbClr val="E4E0D6"/>
          </a:solidFill>
          <a:ln/>
        </p:spPr>
      </p:sp>
      <p:sp>
        <p:nvSpPr>
          <p:cNvPr id="44" name="Text 42"/>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45" name="Text 43"/>
          <p:cNvSpPr/>
          <p:nvPr/>
        </p:nvSpPr>
        <p:spPr>
          <a:xfrm>
            <a:off x="14965263" y="9458325"/>
            <a:ext cx="2565350"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04 / Traceability</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05 — SRS QUALITY</a:t>
            </a:r>
            <a:endParaRPr lang="en-US" sz="1875" dirty="0"/>
          </a:p>
        </p:txBody>
      </p:sp>
      <p:sp>
        <p:nvSpPr>
          <p:cNvPr id="3" name="Text 1"/>
          <p:cNvSpPr/>
          <p:nvPr/>
        </p:nvSpPr>
        <p:spPr>
          <a:xfrm>
            <a:off x="990600" y="1247775"/>
            <a:ext cx="17937480" cy="585788"/>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Derived Requirements — 검증 가능한 요구사항으로 정리</a:t>
            </a:r>
            <a:endParaRPr lang="en-US" sz="3750" dirty="0"/>
          </a:p>
        </p:txBody>
      </p:sp>
      <p:sp>
        <p:nvSpPr>
          <p:cNvPr id="4" name="Shape 2"/>
          <p:cNvSpPr/>
          <p:nvPr/>
        </p:nvSpPr>
        <p:spPr>
          <a:xfrm>
            <a:off x="990600" y="2605088"/>
            <a:ext cx="7539037" cy="9525"/>
          </a:xfrm>
          <a:prstGeom prst="rect">
            <a:avLst/>
          </a:prstGeom>
          <a:solidFill>
            <a:srgbClr val="E4E0D6"/>
          </a:solidFill>
          <a:ln/>
        </p:spPr>
      </p:sp>
      <p:sp>
        <p:nvSpPr>
          <p:cNvPr id="5" name="Text 3"/>
          <p:cNvSpPr/>
          <p:nvPr/>
        </p:nvSpPr>
        <p:spPr>
          <a:xfrm>
            <a:off x="990600" y="2195513"/>
            <a:ext cx="7765209" cy="276225"/>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8C7A3F"/>
                </a:solidFill>
                <a:latin typeface="Courier New" pitchFamily="34" charset="0"/>
                <a:ea typeface="Courier New" pitchFamily="34" charset="-122"/>
                <a:cs typeface="Courier New" pitchFamily="34" charset="-120"/>
              </a:rPr>
              <a:t>MUST · FUNCTIONAL REQUIREMENTS</a:t>
            </a:r>
            <a:endParaRPr lang="en-US" sz="1650" dirty="0"/>
          </a:p>
        </p:txBody>
      </p:sp>
      <p:sp>
        <p:nvSpPr>
          <p:cNvPr id="6" name="Text 4"/>
          <p:cNvSpPr/>
          <p:nvPr/>
        </p:nvSpPr>
        <p:spPr>
          <a:xfrm>
            <a:off x="990600" y="2881313"/>
            <a:ext cx="78105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2155A4"/>
                </a:solidFill>
                <a:latin typeface="Courier New" pitchFamily="34" charset="0"/>
                <a:ea typeface="Courier New" pitchFamily="34" charset="-122"/>
                <a:cs typeface="Courier New" pitchFamily="34" charset="-120"/>
              </a:rPr>
              <a:t>FR-01</a:t>
            </a:r>
            <a:endParaRPr lang="en-US" sz="1650" dirty="0"/>
          </a:p>
        </p:txBody>
      </p:sp>
      <p:sp>
        <p:nvSpPr>
          <p:cNvPr id="7" name="Text 5"/>
          <p:cNvSpPr/>
          <p:nvPr/>
        </p:nvSpPr>
        <p:spPr>
          <a:xfrm>
            <a:off x="1866900" y="2805113"/>
            <a:ext cx="4887426"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0201E"/>
                </a:solidFill>
                <a:latin typeface="Georgia" pitchFamily="34" charset="0"/>
                <a:ea typeface="Georgia" pitchFamily="34" charset="-122"/>
                <a:cs typeface="Georgia" pitchFamily="34" charset="-120"/>
              </a:rPr>
              <a:t>특정 메시지/응답에서 별도 질문 흐름 생성</a:t>
            </a:r>
            <a:endParaRPr lang="en-US" sz="1875" dirty="0"/>
          </a:p>
        </p:txBody>
      </p:sp>
      <p:sp>
        <p:nvSpPr>
          <p:cNvPr id="8" name="Text 6"/>
          <p:cNvSpPr/>
          <p:nvPr/>
        </p:nvSpPr>
        <p:spPr>
          <a:xfrm>
            <a:off x="990600" y="3386138"/>
            <a:ext cx="78105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2155A4"/>
                </a:solidFill>
                <a:latin typeface="Courier New" pitchFamily="34" charset="0"/>
                <a:ea typeface="Courier New" pitchFamily="34" charset="-122"/>
                <a:cs typeface="Courier New" pitchFamily="34" charset="-120"/>
              </a:rPr>
              <a:t>FR-02</a:t>
            </a:r>
            <a:endParaRPr lang="en-US" sz="1650" dirty="0"/>
          </a:p>
        </p:txBody>
      </p:sp>
      <p:sp>
        <p:nvSpPr>
          <p:cNvPr id="9" name="Text 7"/>
          <p:cNvSpPr/>
          <p:nvPr/>
        </p:nvSpPr>
        <p:spPr>
          <a:xfrm>
            <a:off x="1866900" y="3309938"/>
            <a:ext cx="5947618"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0201E"/>
                </a:solidFill>
                <a:latin typeface="Georgia" pitchFamily="34" charset="0"/>
                <a:ea typeface="Georgia" pitchFamily="34" charset="-122"/>
                <a:cs typeface="Georgia" pitchFamily="34" charset="-120"/>
              </a:rPr>
              <a:t>선택 지점까지의 대화·참조 자료를 초기 맥락에 포함</a:t>
            </a:r>
            <a:endParaRPr lang="en-US" sz="1875" dirty="0"/>
          </a:p>
        </p:txBody>
      </p:sp>
      <p:sp>
        <p:nvSpPr>
          <p:cNvPr id="10" name="Text 8"/>
          <p:cNvSpPr/>
          <p:nvPr/>
        </p:nvSpPr>
        <p:spPr>
          <a:xfrm>
            <a:off x="990600" y="3890962"/>
            <a:ext cx="78105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2155A4"/>
                </a:solidFill>
                <a:latin typeface="Courier New" pitchFamily="34" charset="0"/>
                <a:ea typeface="Courier New" pitchFamily="34" charset="-122"/>
                <a:cs typeface="Courier New" pitchFamily="34" charset="-120"/>
              </a:rPr>
              <a:t>FR-03</a:t>
            </a:r>
            <a:endParaRPr lang="en-US" sz="1650" dirty="0"/>
          </a:p>
        </p:txBody>
      </p:sp>
      <p:sp>
        <p:nvSpPr>
          <p:cNvPr id="11" name="Text 9"/>
          <p:cNvSpPr/>
          <p:nvPr/>
        </p:nvSpPr>
        <p:spPr>
          <a:xfrm>
            <a:off x="1866900" y="3814763"/>
            <a:ext cx="6785982"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0201E"/>
                </a:solidFill>
                <a:latin typeface="Georgia" pitchFamily="34" charset="0"/>
                <a:ea typeface="Georgia" pitchFamily="34" charset="-122"/>
                <a:cs typeface="Georgia" pitchFamily="34" charset="-120"/>
              </a:rPr>
              <a:t>다른 흐름의 메시지를 현재 응답 맥락에 자동 포함하지 않음</a:t>
            </a:r>
            <a:endParaRPr lang="en-US" sz="1875" dirty="0"/>
          </a:p>
        </p:txBody>
      </p:sp>
      <p:sp>
        <p:nvSpPr>
          <p:cNvPr id="12" name="Text 10"/>
          <p:cNvSpPr/>
          <p:nvPr/>
        </p:nvSpPr>
        <p:spPr>
          <a:xfrm>
            <a:off x="990600" y="4395788"/>
            <a:ext cx="78105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2155A4"/>
                </a:solidFill>
                <a:latin typeface="Courier New" pitchFamily="34" charset="0"/>
                <a:ea typeface="Courier New" pitchFamily="34" charset="-122"/>
                <a:cs typeface="Courier New" pitchFamily="34" charset="-120"/>
              </a:rPr>
              <a:t>FR-05</a:t>
            </a:r>
            <a:endParaRPr lang="en-US" sz="1650" dirty="0"/>
          </a:p>
        </p:txBody>
      </p:sp>
      <p:sp>
        <p:nvSpPr>
          <p:cNvPr id="13" name="Text 11"/>
          <p:cNvSpPr/>
          <p:nvPr/>
        </p:nvSpPr>
        <p:spPr>
          <a:xfrm>
            <a:off x="1866900" y="4319588"/>
            <a:ext cx="5434221"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0201E"/>
                </a:solidFill>
                <a:latin typeface="Georgia" pitchFamily="34" charset="0"/>
                <a:ea typeface="Georgia" pitchFamily="34" charset="-122"/>
                <a:cs typeface="Georgia" pitchFamily="34" charset="-120"/>
              </a:rPr>
              <a:t>부모·하위 흐름·생성 지점을 확인하는 탐색 구조</a:t>
            </a:r>
            <a:endParaRPr lang="en-US" sz="1875" dirty="0"/>
          </a:p>
        </p:txBody>
      </p:sp>
      <p:sp>
        <p:nvSpPr>
          <p:cNvPr id="14" name="Text 12"/>
          <p:cNvSpPr/>
          <p:nvPr/>
        </p:nvSpPr>
        <p:spPr>
          <a:xfrm>
            <a:off x="990600" y="4900613"/>
            <a:ext cx="78105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2155A4"/>
                </a:solidFill>
                <a:latin typeface="Courier New" pitchFamily="34" charset="0"/>
                <a:ea typeface="Courier New" pitchFamily="34" charset="-122"/>
                <a:cs typeface="Courier New" pitchFamily="34" charset="-120"/>
              </a:rPr>
              <a:t>FR-06</a:t>
            </a:r>
            <a:endParaRPr lang="en-US" sz="1650" dirty="0"/>
          </a:p>
        </p:txBody>
      </p:sp>
      <p:sp>
        <p:nvSpPr>
          <p:cNvPr id="15" name="Text 13"/>
          <p:cNvSpPr/>
          <p:nvPr/>
        </p:nvSpPr>
        <p:spPr>
          <a:xfrm>
            <a:off x="1866900" y="4824413"/>
            <a:ext cx="4178067"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0201E"/>
                </a:solidFill>
                <a:latin typeface="Georgia" pitchFamily="34" charset="0"/>
                <a:ea typeface="Georgia" pitchFamily="34" charset="-122"/>
                <a:cs typeface="Georgia" pitchFamily="34" charset="-120"/>
              </a:rPr>
              <a:t>탐색 구조에서 선택한 흐름으로 이동</a:t>
            </a:r>
            <a:endParaRPr lang="en-US" sz="1875" dirty="0"/>
          </a:p>
        </p:txBody>
      </p:sp>
      <p:sp>
        <p:nvSpPr>
          <p:cNvPr id="16" name="Shape 14"/>
          <p:cNvSpPr/>
          <p:nvPr/>
        </p:nvSpPr>
        <p:spPr>
          <a:xfrm>
            <a:off x="9139238" y="2195513"/>
            <a:ext cx="9525" cy="5729288"/>
          </a:xfrm>
          <a:prstGeom prst="rect">
            <a:avLst/>
          </a:prstGeom>
          <a:solidFill>
            <a:srgbClr val="E4E0D6"/>
          </a:solidFill>
          <a:ln/>
        </p:spPr>
      </p:sp>
      <p:sp>
        <p:nvSpPr>
          <p:cNvPr id="17" name="Shape 15"/>
          <p:cNvSpPr/>
          <p:nvPr/>
        </p:nvSpPr>
        <p:spPr>
          <a:xfrm>
            <a:off x="9758363" y="2605088"/>
            <a:ext cx="7539037" cy="9525"/>
          </a:xfrm>
          <a:prstGeom prst="rect">
            <a:avLst/>
          </a:prstGeom>
          <a:solidFill>
            <a:srgbClr val="E4E0D6"/>
          </a:solidFill>
          <a:ln/>
        </p:spPr>
      </p:sp>
      <p:sp>
        <p:nvSpPr>
          <p:cNvPr id="18" name="Text 16"/>
          <p:cNvSpPr/>
          <p:nvPr/>
        </p:nvSpPr>
        <p:spPr>
          <a:xfrm>
            <a:off x="9758363" y="2195513"/>
            <a:ext cx="7765209" cy="276225"/>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8C7A3F"/>
                </a:solidFill>
                <a:latin typeface="Courier New" pitchFamily="34" charset="0"/>
                <a:ea typeface="Courier New" pitchFamily="34" charset="-122"/>
                <a:cs typeface="Courier New" pitchFamily="34" charset="-120"/>
              </a:rPr>
              <a:t>NON-FUNCTIONAL REQUIREMENTS</a:t>
            </a:r>
            <a:endParaRPr lang="en-US" sz="1650" dirty="0"/>
          </a:p>
        </p:txBody>
      </p:sp>
      <p:sp>
        <p:nvSpPr>
          <p:cNvPr id="19" name="Text 17"/>
          <p:cNvSpPr/>
          <p:nvPr/>
        </p:nvSpPr>
        <p:spPr>
          <a:xfrm>
            <a:off x="9758363" y="2881313"/>
            <a:ext cx="64770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U-01</a:t>
            </a:r>
            <a:endParaRPr lang="en-US" sz="1650" dirty="0"/>
          </a:p>
        </p:txBody>
      </p:sp>
      <p:sp>
        <p:nvSpPr>
          <p:cNvPr id="20" name="Text 18"/>
          <p:cNvSpPr/>
          <p:nvPr/>
        </p:nvSpPr>
        <p:spPr>
          <a:xfrm>
            <a:off x="10501313" y="2805113"/>
            <a:ext cx="5630019"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0201E"/>
                </a:solidFill>
                <a:latin typeface="Georgia" pitchFamily="34" charset="0"/>
                <a:ea typeface="Georgia" pitchFamily="34" charset="-122"/>
                <a:cs typeface="Georgia" pitchFamily="34" charset="-120"/>
              </a:rPr>
              <a:t>도움말 없이 </a:t>
            </a:r>
            <a:pPr algn="l" indent="0" marL="0">
              <a:lnSpc>
                <a:spcPct val="140000"/>
              </a:lnSpc>
              <a:buNone/>
            </a:pPr>
            <a:r>
              <a:rPr lang="en-US" sz="1875" dirty="0">
                <a:solidFill>
                  <a:srgbClr val="2155A4"/>
                </a:solidFill>
                <a:latin typeface="Georgia" pitchFamily="34" charset="0"/>
                <a:ea typeface="Georgia" pitchFamily="34" charset="-122"/>
                <a:cs typeface="Georgia" pitchFamily="34" charset="-120"/>
              </a:rPr>
              <a:t>80% 이상이 3분 이내 </a:t>
            </a:r>
            <a:pPr algn="l" indent="0" marL="0">
              <a:lnSpc>
                <a:spcPct val="140000"/>
              </a:lnSpc>
              <a:buNone/>
            </a:pPr>
            <a:r>
              <a:rPr lang="en-US" sz="1875" dirty="0">
                <a:solidFill>
                  <a:srgbClr val="20201E"/>
                </a:solidFill>
                <a:latin typeface="Georgia" pitchFamily="34" charset="0"/>
                <a:ea typeface="Georgia" pitchFamily="34" charset="-122"/>
                <a:cs typeface="Georgia" pitchFamily="34" charset="-120"/>
              </a:rPr>
              <a:t>별도 흐름 생성</a:t>
            </a:r>
            <a:endParaRPr lang="en-US" sz="1875" dirty="0"/>
          </a:p>
        </p:txBody>
      </p:sp>
      <p:sp>
        <p:nvSpPr>
          <p:cNvPr id="21" name="Text 19"/>
          <p:cNvSpPr/>
          <p:nvPr/>
        </p:nvSpPr>
        <p:spPr>
          <a:xfrm>
            <a:off x="9758363" y="3357563"/>
            <a:ext cx="64770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U-02</a:t>
            </a:r>
            <a:endParaRPr lang="en-US" sz="1650" dirty="0"/>
          </a:p>
        </p:txBody>
      </p:sp>
      <p:sp>
        <p:nvSpPr>
          <p:cNvPr id="22" name="Text 20"/>
          <p:cNvSpPr/>
          <p:nvPr/>
        </p:nvSpPr>
        <p:spPr>
          <a:xfrm>
            <a:off x="10501313" y="3281363"/>
            <a:ext cx="4968300"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155A4"/>
                </a:solidFill>
                <a:latin typeface="Georgia" pitchFamily="34" charset="0"/>
                <a:ea typeface="Georgia" pitchFamily="34" charset="-122"/>
                <a:cs typeface="Georgia" pitchFamily="34" charset="-120"/>
              </a:rPr>
              <a:t>80% 이상이 </a:t>
            </a:r>
            <a:pPr algn="l" indent="0" marL="0">
              <a:lnSpc>
                <a:spcPct val="140000"/>
              </a:lnSpc>
              <a:buNone/>
            </a:pPr>
            <a:r>
              <a:rPr lang="en-US" sz="1875" dirty="0">
                <a:solidFill>
                  <a:srgbClr val="20201E"/>
                </a:solidFill>
                <a:latin typeface="Georgia" pitchFamily="34" charset="0"/>
                <a:ea typeface="Georgia" pitchFamily="34" charset="-122"/>
                <a:cs typeface="Georgia" pitchFamily="34" charset="-120"/>
              </a:rPr>
              <a:t>현재 위치·부모/하위 관계 식별</a:t>
            </a:r>
            <a:endParaRPr lang="en-US" sz="1875" dirty="0"/>
          </a:p>
        </p:txBody>
      </p:sp>
      <p:sp>
        <p:nvSpPr>
          <p:cNvPr id="23" name="Text 21"/>
          <p:cNvSpPr/>
          <p:nvPr/>
        </p:nvSpPr>
        <p:spPr>
          <a:xfrm>
            <a:off x="9758363" y="3833812"/>
            <a:ext cx="64770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P-01</a:t>
            </a:r>
            <a:endParaRPr lang="en-US" sz="1650" dirty="0"/>
          </a:p>
        </p:txBody>
      </p:sp>
      <p:sp>
        <p:nvSpPr>
          <p:cNvPr id="24" name="Text 22"/>
          <p:cNvSpPr/>
          <p:nvPr/>
        </p:nvSpPr>
        <p:spPr>
          <a:xfrm>
            <a:off x="10501313" y="3757613"/>
            <a:ext cx="4617631"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0201E"/>
                </a:solidFill>
                <a:latin typeface="Georgia" pitchFamily="34" charset="0"/>
                <a:ea typeface="Georgia" pitchFamily="34" charset="-122"/>
                <a:cs typeface="Georgia" pitchFamily="34" charset="-120"/>
              </a:rPr>
              <a:t>1,000턴 대화 기준 탐색 UI </a:t>
            </a:r>
            <a:pPr algn="l" indent="0" marL="0">
              <a:lnSpc>
                <a:spcPct val="140000"/>
              </a:lnSpc>
              <a:buNone/>
            </a:pPr>
            <a:r>
              <a:rPr lang="en-US" sz="1875" dirty="0">
                <a:solidFill>
                  <a:srgbClr val="2155A4"/>
                </a:solidFill>
                <a:latin typeface="Georgia" pitchFamily="34" charset="0"/>
                <a:ea typeface="Georgia" pitchFamily="34" charset="-122"/>
                <a:cs typeface="Georgia" pitchFamily="34" charset="-120"/>
              </a:rPr>
              <a:t>P95 2초 이내</a:t>
            </a:r>
            <a:endParaRPr lang="en-US" sz="1875" dirty="0"/>
          </a:p>
        </p:txBody>
      </p:sp>
      <p:sp>
        <p:nvSpPr>
          <p:cNvPr id="25" name="Text 23"/>
          <p:cNvSpPr/>
          <p:nvPr/>
        </p:nvSpPr>
        <p:spPr>
          <a:xfrm>
            <a:off x="9758363" y="4310063"/>
            <a:ext cx="64770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R-01</a:t>
            </a:r>
            <a:endParaRPr lang="en-US" sz="1650" dirty="0"/>
          </a:p>
        </p:txBody>
      </p:sp>
      <p:sp>
        <p:nvSpPr>
          <p:cNvPr id="26" name="Text 24"/>
          <p:cNvSpPr/>
          <p:nvPr/>
        </p:nvSpPr>
        <p:spPr>
          <a:xfrm>
            <a:off x="10501313" y="4233863"/>
            <a:ext cx="5602352"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0201E"/>
                </a:solidFill>
                <a:latin typeface="Georgia" pitchFamily="34" charset="0"/>
                <a:ea typeface="Georgia" pitchFamily="34" charset="-122"/>
                <a:cs typeface="Georgia" pitchFamily="34" charset="-120"/>
              </a:rPr>
              <a:t>분기 생성 실패 시 원본 데이터 </a:t>
            </a:r>
            <a:pPr algn="l" indent="0" marL="0">
              <a:lnSpc>
                <a:spcPct val="140000"/>
              </a:lnSpc>
              <a:buNone/>
            </a:pPr>
            <a:r>
              <a:rPr lang="en-US" sz="1875" dirty="0">
                <a:solidFill>
                  <a:srgbClr val="2155A4"/>
                </a:solidFill>
                <a:latin typeface="Georgia" pitchFamily="34" charset="0"/>
                <a:ea typeface="Georgia" pitchFamily="34" charset="-122"/>
                <a:cs typeface="Georgia" pitchFamily="34" charset="-120"/>
              </a:rPr>
              <a:t>무결성 100% 유지</a:t>
            </a:r>
            <a:endParaRPr lang="en-US" sz="1875" dirty="0"/>
          </a:p>
        </p:txBody>
      </p:sp>
      <p:sp>
        <p:nvSpPr>
          <p:cNvPr id="27" name="Text 25"/>
          <p:cNvSpPr/>
          <p:nvPr/>
        </p:nvSpPr>
        <p:spPr>
          <a:xfrm>
            <a:off x="9758363" y="4786313"/>
            <a:ext cx="64770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S-01</a:t>
            </a:r>
            <a:endParaRPr lang="en-US" sz="1650" dirty="0"/>
          </a:p>
        </p:txBody>
      </p:sp>
      <p:sp>
        <p:nvSpPr>
          <p:cNvPr id="28" name="Text 26"/>
          <p:cNvSpPr/>
          <p:nvPr/>
        </p:nvSpPr>
        <p:spPr>
          <a:xfrm>
            <a:off x="10501313" y="4710113"/>
            <a:ext cx="4104561"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0201E"/>
                </a:solidFill>
                <a:latin typeface="Georgia" pitchFamily="34" charset="0"/>
                <a:ea typeface="Georgia" pitchFamily="34" charset="-122"/>
                <a:cs typeface="Georgia" pitchFamily="34" charset="-120"/>
              </a:rPr>
              <a:t>다른 프로젝트 자료 참조 </a:t>
            </a:r>
            <a:pPr algn="l" indent="0" marL="0">
              <a:lnSpc>
                <a:spcPct val="140000"/>
              </a:lnSpc>
              <a:buNone/>
            </a:pPr>
            <a:r>
              <a:rPr lang="en-US" sz="1875" dirty="0">
                <a:solidFill>
                  <a:srgbClr val="2155A4"/>
                </a:solidFill>
                <a:latin typeface="Georgia" pitchFamily="34" charset="0"/>
                <a:ea typeface="Georgia" pitchFamily="34" charset="-122"/>
                <a:cs typeface="Georgia" pitchFamily="34" charset="-120"/>
              </a:rPr>
              <a:t>100% 차단</a:t>
            </a:r>
            <a:endParaRPr lang="en-US" sz="1875" dirty="0"/>
          </a:p>
        </p:txBody>
      </p:sp>
      <p:sp>
        <p:nvSpPr>
          <p:cNvPr id="29" name="Text 27"/>
          <p:cNvSpPr/>
          <p:nvPr/>
        </p:nvSpPr>
        <p:spPr>
          <a:xfrm>
            <a:off x="9758363" y="5262563"/>
            <a:ext cx="64770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Courier New" pitchFamily="34" charset="0"/>
                <a:ea typeface="Courier New" pitchFamily="34" charset="-122"/>
                <a:cs typeface="Courier New" pitchFamily="34" charset="-120"/>
              </a:rPr>
              <a:t>M-01</a:t>
            </a:r>
            <a:endParaRPr lang="en-US" sz="1650" dirty="0"/>
          </a:p>
        </p:txBody>
      </p:sp>
      <p:sp>
        <p:nvSpPr>
          <p:cNvPr id="30" name="Text 28"/>
          <p:cNvSpPr/>
          <p:nvPr/>
        </p:nvSpPr>
        <p:spPr>
          <a:xfrm>
            <a:off x="10501313" y="5186363"/>
            <a:ext cx="3093809"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0201E"/>
                </a:solidFill>
                <a:latin typeface="Georgia" pitchFamily="34" charset="0"/>
                <a:ea typeface="Georgia" pitchFamily="34" charset="-122"/>
                <a:cs typeface="Georgia" pitchFamily="34" charset="-120"/>
              </a:rPr>
              <a:t>주요 모듈 간 </a:t>
            </a:r>
            <a:pPr algn="l" indent="0" marL="0">
              <a:lnSpc>
                <a:spcPct val="140000"/>
              </a:lnSpc>
              <a:buNone/>
            </a:pPr>
            <a:r>
              <a:rPr lang="en-US" sz="1875" dirty="0">
                <a:solidFill>
                  <a:srgbClr val="2155A4"/>
                </a:solidFill>
                <a:latin typeface="Georgia" pitchFamily="34" charset="0"/>
                <a:ea typeface="Georgia" pitchFamily="34" charset="-122"/>
                <a:cs typeface="Georgia" pitchFamily="34" charset="-120"/>
              </a:rPr>
              <a:t>순환 의존 0건</a:t>
            </a:r>
            <a:endParaRPr lang="en-US" sz="1875" dirty="0"/>
          </a:p>
        </p:txBody>
      </p:sp>
      <p:sp>
        <p:nvSpPr>
          <p:cNvPr id="31" name="Shape 29"/>
          <p:cNvSpPr/>
          <p:nvPr/>
        </p:nvSpPr>
        <p:spPr>
          <a:xfrm>
            <a:off x="990600" y="8210550"/>
            <a:ext cx="16306800" cy="742950"/>
          </a:xfrm>
          <a:prstGeom prst="rect">
            <a:avLst/>
          </a:prstGeom>
          <a:solidFill>
            <a:srgbClr val="F4F1E9"/>
          </a:solidFill>
          <a:ln w="9525">
            <a:solidFill>
              <a:srgbClr val="E4E0D6"/>
            </a:solidFill>
            <a:prstDash val="solid"/>
          </a:ln>
        </p:spPr>
      </p:sp>
      <p:sp>
        <p:nvSpPr>
          <p:cNvPr id="32" name="Text 30"/>
          <p:cNvSpPr/>
          <p:nvPr/>
        </p:nvSpPr>
        <p:spPr>
          <a:xfrm>
            <a:off x="1323975" y="8453438"/>
            <a:ext cx="2056209" cy="295275"/>
          </a:xfrm>
          <a:prstGeom prst="rect">
            <a:avLst/>
          </a:prstGeom>
          <a:noFill/>
          <a:ln/>
        </p:spPr>
        <p:txBody>
          <a:bodyPr wrap="square" lIns="25400" tIns="25400" rIns="25400" bIns="25400" rtlCol="0" anchor="t">
            <a:normAutofit/>
          </a:bodyPr>
          <a:lstStyle/>
          <a:p>
            <a:pPr algn="l" indent="0" marL="0">
              <a:buNone/>
            </a:pPr>
            <a:r>
              <a:rPr lang="en-US" sz="1650" spc="132" kern="0" dirty="0">
                <a:solidFill>
                  <a:srgbClr val="8C7A3F"/>
                </a:solidFill>
                <a:latin typeface="Courier New" pitchFamily="34" charset="0"/>
                <a:ea typeface="Courier New" pitchFamily="34" charset="-122"/>
                <a:cs typeface="Courier New" pitchFamily="34" charset="-120"/>
              </a:rPr>
              <a:t>요구사항 품질 기준</a:t>
            </a:r>
            <a:endParaRPr lang="en-US" sz="1650" dirty="0"/>
          </a:p>
        </p:txBody>
      </p:sp>
      <p:sp>
        <p:nvSpPr>
          <p:cNvPr id="33" name="Text 31"/>
          <p:cNvSpPr/>
          <p:nvPr/>
        </p:nvSpPr>
        <p:spPr>
          <a:xfrm>
            <a:off x="3421856" y="8448675"/>
            <a:ext cx="8167375" cy="304800"/>
          </a:xfrm>
          <a:prstGeom prst="rect">
            <a:avLst/>
          </a:prstGeom>
          <a:noFill/>
          <a:ln/>
        </p:spPr>
        <p:txBody>
          <a:bodyPr wrap="square" lIns="25400" tIns="25400" rIns="25400" bIns="25400" rtlCol="0" anchor="t">
            <a:normAutofit/>
          </a:bodyPr>
          <a:lstStyle/>
          <a:p>
            <a:pPr algn="l" indent="0" marL="0">
              <a:buNone/>
            </a:pPr>
            <a:r>
              <a:rPr lang="en-US" sz="1725" dirty="0">
                <a:solidFill>
                  <a:srgbClr val="46443D"/>
                </a:solidFill>
                <a:latin typeface="Courier New" pitchFamily="34" charset="0"/>
                <a:ea typeface="Courier New" pitchFamily="34" charset="-122"/>
                <a:cs typeface="Courier New" pitchFamily="34" charset="-120"/>
              </a:rPr>
              <a:t>원자성 · 완전성 · 비모호성 · 일관성 · 추적성 · 우선순위 · 테스트 가능성</a:t>
            </a:r>
            <a:endParaRPr lang="en-US" sz="1725" dirty="0"/>
          </a:p>
        </p:txBody>
      </p:sp>
      <p:sp>
        <p:nvSpPr>
          <p:cNvPr id="34" name="Shape 32"/>
          <p:cNvSpPr/>
          <p:nvPr/>
        </p:nvSpPr>
        <p:spPr>
          <a:xfrm>
            <a:off x="990600" y="9239250"/>
            <a:ext cx="16306800" cy="9525"/>
          </a:xfrm>
          <a:prstGeom prst="rect">
            <a:avLst/>
          </a:prstGeom>
          <a:solidFill>
            <a:srgbClr val="E4E0D6"/>
          </a:solidFill>
          <a:ln/>
        </p:spPr>
      </p:sp>
      <p:sp>
        <p:nvSpPr>
          <p:cNvPr id="35" name="Text 33"/>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36" name="Text 34"/>
          <p:cNvSpPr/>
          <p:nvPr/>
        </p:nvSpPr>
        <p:spPr>
          <a:xfrm>
            <a:off x="16199941" y="9458325"/>
            <a:ext cx="117365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05 / SRS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06 — SERVICE DESIGN</a:t>
            </a:r>
            <a:endParaRPr lang="en-US" sz="1875" dirty="0"/>
          </a:p>
        </p:txBody>
      </p:sp>
      <p:sp>
        <p:nvSpPr>
          <p:cNvPr id="3" name="Text 1"/>
          <p:cNvSpPr/>
          <p:nvPr/>
        </p:nvSpPr>
        <p:spPr>
          <a:xfrm>
            <a:off x="990600" y="1247775"/>
            <a:ext cx="17937480" cy="585788"/>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Service Overview — 대화 흐름을 구조화하는 AI Chat Workspace</a:t>
            </a:r>
            <a:endParaRPr lang="en-US" sz="3750" dirty="0"/>
          </a:p>
        </p:txBody>
      </p:sp>
      <p:sp>
        <p:nvSpPr>
          <p:cNvPr id="4" name="Text 2"/>
          <p:cNvSpPr/>
          <p:nvPr/>
        </p:nvSpPr>
        <p:spPr>
          <a:xfrm>
            <a:off x="990600" y="1966912"/>
            <a:ext cx="16344900" cy="452438"/>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AIT는 LLM 자체가 아니라, </a:t>
            </a:r>
            <a:pPr algn="l" indent="0" marL="0">
              <a:lnSpc>
                <a:spcPct val="150000"/>
              </a:lnSpc>
              <a:buNone/>
            </a:pPr>
            <a:r>
              <a:rPr lang="en-US" sz="2175" dirty="0">
                <a:solidFill>
                  <a:srgbClr val="2155A4"/>
                </a:solidFill>
                <a:latin typeface="Georgia" pitchFamily="34" charset="0"/>
                <a:ea typeface="Georgia" pitchFamily="34" charset="-122"/>
                <a:cs typeface="Georgia" pitchFamily="34" charset="-120"/>
              </a:rPr>
              <a:t>외부 LLM을 활용</a:t>
            </a:r>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해 자료·이전 답변·파생 질문을 관리하는 인터페이스/서비스이다.</a:t>
            </a:r>
            <a:endParaRPr lang="en-US" sz="2175" dirty="0"/>
          </a:p>
        </p:txBody>
      </p:sp>
      <p:sp>
        <p:nvSpPr>
          <p:cNvPr id="5" name="Text 3"/>
          <p:cNvSpPr/>
          <p:nvPr/>
        </p:nvSpPr>
        <p:spPr>
          <a:xfrm>
            <a:off x="990600" y="2857500"/>
            <a:ext cx="3847862" cy="276225"/>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8C7A3F"/>
                </a:solidFill>
                <a:latin typeface="Courier New" pitchFamily="34" charset="0"/>
                <a:ea typeface="Courier New" pitchFamily="34" charset="-122"/>
                <a:cs typeface="Courier New" pitchFamily="34" charset="-120"/>
              </a:rPr>
              <a:t>CORE 01</a:t>
            </a:r>
            <a:endParaRPr lang="en-US" sz="1650" dirty="0"/>
          </a:p>
        </p:txBody>
      </p:sp>
      <p:sp>
        <p:nvSpPr>
          <p:cNvPr id="6" name="Text 4"/>
          <p:cNvSpPr/>
          <p:nvPr/>
        </p:nvSpPr>
        <p:spPr>
          <a:xfrm>
            <a:off x="990600" y="3286125"/>
            <a:ext cx="3847862" cy="392311"/>
          </a:xfrm>
          <a:prstGeom prst="rect">
            <a:avLst/>
          </a:prstGeom>
          <a:noFill/>
          <a:ln/>
        </p:spPr>
        <p:txBody>
          <a:bodyPr wrap="square" lIns="25400" tIns="25400" rIns="25400" bIns="25400" rtlCol="0" anchor="t">
            <a:normAutofit/>
          </a:bodyPr>
          <a:lstStyle/>
          <a:p>
            <a:pPr algn="l" indent="0" marL="0">
              <a:lnSpc>
                <a:spcPct val="120000"/>
              </a:lnSpc>
              <a:buNone/>
            </a:pPr>
            <a:r>
              <a:rPr lang="en-US" sz="2325" dirty="0">
                <a:solidFill>
                  <a:srgbClr val="20201E"/>
                </a:solidFill>
                <a:latin typeface="Georgia" pitchFamily="34" charset="0"/>
                <a:ea typeface="Georgia" pitchFamily="34" charset="-122"/>
                <a:cs typeface="Georgia" pitchFamily="34" charset="-120"/>
              </a:rPr>
              <a:t>별도 질문 흐름 생성</a:t>
            </a:r>
            <a:endParaRPr lang="en-US" sz="2325" dirty="0"/>
          </a:p>
        </p:txBody>
      </p:sp>
      <p:sp>
        <p:nvSpPr>
          <p:cNvPr id="7" name="Text 5"/>
          <p:cNvSpPr/>
          <p:nvPr/>
        </p:nvSpPr>
        <p:spPr>
          <a:xfrm>
            <a:off x="990600" y="3792736"/>
            <a:ext cx="3602998" cy="752475"/>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6E6A60"/>
                </a:solidFill>
                <a:latin typeface="Georgia" pitchFamily="34" charset="0"/>
                <a:ea typeface="Georgia" pitchFamily="34" charset="-122"/>
                <a:cs typeface="Georgia" pitchFamily="34" charset="-120"/>
              </a:rPr>
              <a:t>특정 메시지에서 새 흐름(branch) 시작</a:t>
            </a:r>
            <a:endParaRPr lang="en-US" sz="1875" dirty="0"/>
          </a:p>
        </p:txBody>
      </p:sp>
      <p:sp>
        <p:nvSpPr>
          <p:cNvPr id="8" name="Shape 6"/>
          <p:cNvSpPr/>
          <p:nvPr/>
        </p:nvSpPr>
        <p:spPr>
          <a:xfrm>
            <a:off x="4869656" y="2857500"/>
            <a:ext cx="9525" cy="4879777"/>
          </a:xfrm>
          <a:prstGeom prst="rect">
            <a:avLst/>
          </a:prstGeom>
          <a:solidFill>
            <a:srgbClr val="E4E0D6"/>
          </a:solidFill>
          <a:ln/>
        </p:spPr>
      </p:sp>
      <p:sp>
        <p:nvSpPr>
          <p:cNvPr id="9" name="Text 7"/>
          <p:cNvSpPr/>
          <p:nvPr/>
        </p:nvSpPr>
        <p:spPr>
          <a:xfrm>
            <a:off x="5260181" y="2857500"/>
            <a:ext cx="3847862" cy="276225"/>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8C7A3F"/>
                </a:solidFill>
                <a:latin typeface="Courier New" pitchFamily="34" charset="0"/>
                <a:ea typeface="Courier New" pitchFamily="34" charset="-122"/>
                <a:cs typeface="Courier New" pitchFamily="34" charset="-120"/>
              </a:rPr>
              <a:t>CORE 02</a:t>
            </a:r>
            <a:endParaRPr lang="en-US" sz="1650" dirty="0"/>
          </a:p>
        </p:txBody>
      </p:sp>
      <p:sp>
        <p:nvSpPr>
          <p:cNvPr id="10" name="Text 8"/>
          <p:cNvSpPr/>
          <p:nvPr/>
        </p:nvSpPr>
        <p:spPr>
          <a:xfrm>
            <a:off x="5260181" y="3286125"/>
            <a:ext cx="3847862" cy="392311"/>
          </a:xfrm>
          <a:prstGeom prst="rect">
            <a:avLst/>
          </a:prstGeom>
          <a:noFill/>
          <a:ln/>
        </p:spPr>
        <p:txBody>
          <a:bodyPr wrap="square" lIns="25400" tIns="25400" rIns="25400" bIns="25400" rtlCol="0" anchor="t">
            <a:normAutofit/>
          </a:bodyPr>
          <a:lstStyle/>
          <a:p>
            <a:pPr algn="l" indent="0" marL="0">
              <a:lnSpc>
                <a:spcPct val="120000"/>
              </a:lnSpc>
              <a:buNone/>
            </a:pPr>
            <a:r>
              <a:rPr lang="en-US" sz="2325" dirty="0">
                <a:solidFill>
                  <a:srgbClr val="20201E"/>
                </a:solidFill>
                <a:latin typeface="Georgia" pitchFamily="34" charset="0"/>
                <a:ea typeface="Georgia" pitchFamily="34" charset="-122"/>
                <a:cs typeface="Georgia" pitchFamily="34" charset="-120"/>
              </a:rPr>
              <a:t>맥락 상속 · 분리</a:t>
            </a:r>
            <a:endParaRPr lang="en-US" sz="2325" dirty="0"/>
          </a:p>
        </p:txBody>
      </p:sp>
      <p:sp>
        <p:nvSpPr>
          <p:cNvPr id="11" name="Text 9"/>
          <p:cNvSpPr/>
          <p:nvPr/>
        </p:nvSpPr>
        <p:spPr>
          <a:xfrm>
            <a:off x="5260181" y="3792736"/>
            <a:ext cx="3602998" cy="752475"/>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6E6A60"/>
                </a:solidFill>
                <a:latin typeface="Georgia" pitchFamily="34" charset="0"/>
                <a:ea typeface="Georgia" pitchFamily="34" charset="-122"/>
                <a:cs typeface="Georgia" pitchFamily="34" charset="-120"/>
              </a:rPr>
              <a:t>선택 지점 이전만 자동 포함, 이후는 독립</a:t>
            </a:r>
            <a:endParaRPr lang="en-US" sz="1875" dirty="0"/>
          </a:p>
        </p:txBody>
      </p:sp>
      <p:sp>
        <p:nvSpPr>
          <p:cNvPr id="12" name="Shape 10"/>
          <p:cNvSpPr/>
          <p:nvPr/>
        </p:nvSpPr>
        <p:spPr>
          <a:xfrm>
            <a:off x="9139238" y="2857500"/>
            <a:ext cx="9525" cy="4879777"/>
          </a:xfrm>
          <a:prstGeom prst="rect">
            <a:avLst/>
          </a:prstGeom>
          <a:solidFill>
            <a:srgbClr val="E4E0D6"/>
          </a:solidFill>
          <a:ln/>
        </p:spPr>
      </p:sp>
      <p:sp>
        <p:nvSpPr>
          <p:cNvPr id="13" name="Text 11"/>
          <p:cNvSpPr/>
          <p:nvPr/>
        </p:nvSpPr>
        <p:spPr>
          <a:xfrm>
            <a:off x="9529763" y="2857500"/>
            <a:ext cx="3847862" cy="276225"/>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8C7A3F"/>
                </a:solidFill>
                <a:latin typeface="Courier New" pitchFamily="34" charset="0"/>
                <a:ea typeface="Courier New" pitchFamily="34" charset="-122"/>
                <a:cs typeface="Courier New" pitchFamily="34" charset="-120"/>
              </a:rPr>
              <a:t>CORE 03</a:t>
            </a:r>
            <a:endParaRPr lang="en-US" sz="1650" dirty="0"/>
          </a:p>
        </p:txBody>
      </p:sp>
      <p:sp>
        <p:nvSpPr>
          <p:cNvPr id="14" name="Text 12"/>
          <p:cNvSpPr/>
          <p:nvPr/>
        </p:nvSpPr>
        <p:spPr>
          <a:xfrm>
            <a:off x="9529763" y="3286125"/>
            <a:ext cx="3847862" cy="392311"/>
          </a:xfrm>
          <a:prstGeom prst="rect">
            <a:avLst/>
          </a:prstGeom>
          <a:noFill/>
          <a:ln/>
        </p:spPr>
        <p:txBody>
          <a:bodyPr wrap="square" lIns="25400" tIns="25400" rIns="25400" bIns="25400" rtlCol="0" anchor="t">
            <a:normAutofit/>
          </a:bodyPr>
          <a:lstStyle/>
          <a:p>
            <a:pPr algn="l" indent="0" marL="0">
              <a:lnSpc>
                <a:spcPct val="120000"/>
              </a:lnSpc>
              <a:buNone/>
            </a:pPr>
            <a:r>
              <a:rPr lang="en-US" sz="2325" dirty="0">
                <a:solidFill>
                  <a:srgbClr val="20201E"/>
                </a:solidFill>
                <a:latin typeface="Georgia" pitchFamily="34" charset="0"/>
                <a:ea typeface="Georgia" pitchFamily="34" charset="-122"/>
                <a:cs typeface="Georgia" pitchFamily="34" charset="-120"/>
              </a:rPr>
              <a:t>대화 흐름 탐색</a:t>
            </a:r>
            <a:endParaRPr lang="en-US" sz="2325" dirty="0"/>
          </a:p>
        </p:txBody>
      </p:sp>
      <p:sp>
        <p:nvSpPr>
          <p:cNvPr id="15" name="Text 13"/>
          <p:cNvSpPr/>
          <p:nvPr/>
        </p:nvSpPr>
        <p:spPr>
          <a:xfrm>
            <a:off x="9529763" y="3792736"/>
            <a:ext cx="3847862" cy="395288"/>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6E6A60"/>
                </a:solidFill>
                <a:latin typeface="Georgia" pitchFamily="34" charset="0"/>
                <a:ea typeface="Georgia" pitchFamily="34" charset="-122"/>
                <a:cs typeface="Georgia" pitchFamily="34" charset="-120"/>
              </a:rPr>
              <a:t>부모·하위·현재 위치 확인 및 이동</a:t>
            </a:r>
            <a:endParaRPr lang="en-US" sz="1875" dirty="0"/>
          </a:p>
        </p:txBody>
      </p:sp>
      <p:sp>
        <p:nvSpPr>
          <p:cNvPr id="16" name="Shape 14"/>
          <p:cNvSpPr/>
          <p:nvPr/>
        </p:nvSpPr>
        <p:spPr>
          <a:xfrm>
            <a:off x="13408819" y="2857500"/>
            <a:ext cx="9525" cy="4879777"/>
          </a:xfrm>
          <a:prstGeom prst="rect">
            <a:avLst/>
          </a:prstGeom>
          <a:solidFill>
            <a:srgbClr val="E4E0D6"/>
          </a:solidFill>
          <a:ln/>
        </p:spPr>
      </p:sp>
      <p:sp>
        <p:nvSpPr>
          <p:cNvPr id="17" name="Text 15"/>
          <p:cNvSpPr/>
          <p:nvPr/>
        </p:nvSpPr>
        <p:spPr>
          <a:xfrm>
            <a:off x="13799344" y="2857500"/>
            <a:ext cx="3847862" cy="276225"/>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8C7A3F"/>
                </a:solidFill>
                <a:latin typeface="Courier New" pitchFamily="34" charset="0"/>
                <a:ea typeface="Courier New" pitchFamily="34" charset="-122"/>
                <a:cs typeface="Courier New" pitchFamily="34" charset="-120"/>
              </a:rPr>
              <a:t>CORE 04</a:t>
            </a:r>
            <a:endParaRPr lang="en-US" sz="1650" dirty="0"/>
          </a:p>
        </p:txBody>
      </p:sp>
      <p:sp>
        <p:nvSpPr>
          <p:cNvPr id="18" name="Text 16"/>
          <p:cNvSpPr/>
          <p:nvPr/>
        </p:nvSpPr>
        <p:spPr>
          <a:xfrm>
            <a:off x="13799344" y="3286125"/>
            <a:ext cx="3847862" cy="392311"/>
          </a:xfrm>
          <a:prstGeom prst="rect">
            <a:avLst/>
          </a:prstGeom>
          <a:noFill/>
          <a:ln/>
        </p:spPr>
        <p:txBody>
          <a:bodyPr wrap="square" lIns="25400" tIns="25400" rIns="25400" bIns="25400" rtlCol="0" anchor="t">
            <a:normAutofit/>
          </a:bodyPr>
          <a:lstStyle/>
          <a:p>
            <a:pPr algn="l" indent="0" marL="0">
              <a:lnSpc>
                <a:spcPct val="120000"/>
              </a:lnSpc>
              <a:buNone/>
            </a:pPr>
            <a:r>
              <a:rPr lang="en-US" sz="2325" dirty="0">
                <a:solidFill>
                  <a:srgbClr val="20201E"/>
                </a:solidFill>
                <a:latin typeface="Georgia" pitchFamily="34" charset="0"/>
                <a:ea typeface="Georgia" pitchFamily="34" charset="-122"/>
                <a:cs typeface="Georgia" pitchFamily="34" charset="-120"/>
              </a:rPr>
              <a:t>검색 · 정보 재참조</a:t>
            </a:r>
            <a:endParaRPr lang="en-US" sz="2325" dirty="0"/>
          </a:p>
        </p:txBody>
      </p:sp>
      <p:sp>
        <p:nvSpPr>
          <p:cNvPr id="19" name="Text 17"/>
          <p:cNvSpPr/>
          <p:nvPr/>
        </p:nvSpPr>
        <p:spPr>
          <a:xfrm>
            <a:off x="13799344" y="3792736"/>
            <a:ext cx="3602998" cy="752475"/>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6E6A60"/>
                </a:solidFill>
                <a:latin typeface="Georgia" pitchFamily="34" charset="0"/>
                <a:ea typeface="Georgia" pitchFamily="34" charset="-122"/>
                <a:cs typeface="Georgia" pitchFamily="34" charset="-120"/>
              </a:rPr>
              <a:t>프로젝트 내 대화와 업로드 자료 검색</a:t>
            </a:r>
            <a:endParaRPr lang="en-US" sz="1875" dirty="0"/>
          </a:p>
        </p:txBody>
      </p:sp>
      <p:sp>
        <p:nvSpPr>
          <p:cNvPr id="20" name="Shape 18"/>
          <p:cNvSpPr/>
          <p:nvPr/>
        </p:nvSpPr>
        <p:spPr>
          <a:xfrm>
            <a:off x="990600" y="8061127"/>
            <a:ext cx="16306800" cy="873323"/>
          </a:xfrm>
          <a:prstGeom prst="rect">
            <a:avLst/>
          </a:prstGeom>
          <a:solidFill>
            <a:srgbClr val="F4F1E9"/>
          </a:solidFill>
          <a:ln w="9525">
            <a:solidFill>
              <a:srgbClr val="E4E0D6"/>
            </a:solidFill>
            <a:prstDash val="solid"/>
          </a:ln>
        </p:spPr>
      </p:sp>
      <p:sp>
        <p:nvSpPr>
          <p:cNvPr id="21" name="Text 19"/>
          <p:cNvSpPr/>
          <p:nvPr/>
        </p:nvSpPr>
        <p:spPr>
          <a:xfrm>
            <a:off x="1323975" y="8318302"/>
            <a:ext cx="1010841" cy="295275"/>
          </a:xfrm>
          <a:prstGeom prst="rect">
            <a:avLst/>
          </a:prstGeom>
          <a:noFill/>
          <a:ln/>
        </p:spPr>
        <p:txBody>
          <a:bodyPr wrap="square" lIns="25400" tIns="25400" rIns="25400" bIns="25400" rtlCol="0" anchor="t">
            <a:normAutofit/>
          </a:bodyPr>
          <a:lstStyle/>
          <a:p>
            <a:pPr algn="l" indent="0" marL="0">
              <a:buNone/>
            </a:pPr>
            <a:r>
              <a:rPr lang="en-US" sz="1650" spc="132" kern="0" dirty="0">
                <a:solidFill>
                  <a:srgbClr val="8C7A3F"/>
                </a:solidFill>
                <a:latin typeface="Courier New" pitchFamily="34" charset="0"/>
                <a:ea typeface="Courier New" pitchFamily="34" charset="-122"/>
                <a:cs typeface="Courier New" pitchFamily="34" charset="-120"/>
              </a:rPr>
              <a:t>핵심 목표</a:t>
            </a:r>
            <a:endParaRPr lang="en-US" sz="1650" dirty="0"/>
          </a:p>
        </p:txBody>
      </p:sp>
      <p:sp>
        <p:nvSpPr>
          <p:cNvPr id="22" name="Text 20"/>
          <p:cNvSpPr/>
          <p:nvPr/>
        </p:nvSpPr>
        <p:spPr>
          <a:xfrm>
            <a:off x="2487216" y="8318302"/>
            <a:ext cx="11211744" cy="397073"/>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6443D"/>
                </a:solidFill>
                <a:latin typeface="Georgia" pitchFamily="34" charset="0"/>
                <a:ea typeface="Georgia" pitchFamily="34" charset="-122"/>
                <a:cs typeface="Georgia" pitchFamily="34" charset="-120"/>
              </a:rPr>
              <a:t>사용자가 </a:t>
            </a:r>
            <a:pPr algn="l" indent="0" marL="0">
              <a:lnSpc>
                <a:spcPct val="145000"/>
              </a:lnSpc>
              <a:buNone/>
            </a:pPr>
            <a:r>
              <a:rPr lang="en-US" sz="1950" dirty="0">
                <a:solidFill>
                  <a:srgbClr val="2155A4"/>
                </a:solidFill>
                <a:latin typeface="Georgia" pitchFamily="34" charset="0"/>
                <a:ea typeface="Georgia" pitchFamily="34" charset="-122"/>
                <a:cs typeface="Georgia" pitchFamily="34" charset="-120"/>
              </a:rPr>
              <a:t>필요한 맥락으로 다시 이동</a:t>
            </a:r>
            <a:pPr algn="l" indent="0" marL="0">
              <a:lnSpc>
                <a:spcPct val="145000"/>
              </a:lnSpc>
              <a:buNone/>
            </a:pPr>
            <a:r>
              <a:rPr lang="en-US" sz="1950" dirty="0">
                <a:solidFill>
                  <a:srgbClr val="46443D"/>
                </a:solidFill>
                <a:latin typeface="Georgia" pitchFamily="34" charset="0"/>
                <a:ea typeface="Georgia" pitchFamily="34" charset="-122"/>
                <a:cs typeface="Georgia" pitchFamily="34" charset="-120"/>
              </a:rPr>
              <a:t>하고, </a:t>
            </a:r>
            <a:pPr algn="l" indent="0" marL="0">
              <a:lnSpc>
                <a:spcPct val="145000"/>
              </a:lnSpc>
              <a:buNone/>
            </a:pPr>
            <a:r>
              <a:rPr lang="en-US" sz="1950" dirty="0">
                <a:solidFill>
                  <a:srgbClr val="2155A4"/>
                </a:solidFill>
                <a:latin typeface="Georgia" pitchFamily="34" charset="0"/>
                <a:ea typeface="Georgia" pitchFamily="34" charset="-122"/>
                <a:cs typeface="Georgia" pitchFamily="34" charset="-120"/>
              </a:rPr>
              <a:t>세부 탐색을 메인 작업 흐름과 분리</a:t>
            </a:r>
            <a:pPr algn="l" indent="0" marL="0">
              <a:lnSpc>
                <a:spcPct val="145000"/>
              </a:lnSpc>
              <a:buNone/>
            </a:pPr>
            <a:r>
              <a:rPr lang="en-US" sz="1950" dirty="0">
                <a:solidFill>
                  <a:srgbClr val="46443D"/>
                </a:solidFill>
                <a:latin typeface="Georgia" pitchFamily="34" charset="0"/>
                <a:ea typeface="Georgia" pitchFamily="34" charset="-122"/>
                <a:cs typeface="Georgia" pitchFamily="34" charset="-120"/>
              </a:rPr>
              <a:t>하도록 지원한다.</a:t>
            </a:r>
            <a:endParaRPr lang="en-US" sz="1950" dirty="0"/>
          </a:p>
        </p:txBody>
      </p:sp>
      <p:sp>
        <p:nvSpPr>
          <p:cNvPr id="23" name="Shape 21"/>
          <p:cNvSpPr/>
          <p:nvPr/>
        </p:nvSpPr>
        <p:spPr>
          <a:xfrm>
            <a:off x="990600" y="9239250"/>
            <a:ext cx="16306800" cy="9525"/>
          </a:xfrm>
          <a:prstGeom prst="rect">
            <a:avLst/>
          </a:prstGeom>
          <a:solidFill>
            <a:srgbClr val="E4E0D6"/>
          </a:solidFill>
          <a:ln/>
        </p:spPr>
      </p:sp>
      <p:sp>
        <p:nvSpPr>
          <p:cNvPr id="24" name="Text 22"/>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25" name="Text 23"/>
          <p:cNvSpPr/>
          <p:nvPr/>
        </p:nvSpPr>
        <p:spPr>
          <a:xfrm>
            <a:off x="15651212" y="9458325"/>
            <a:ext cx="1810807"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06 / Service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07 — REQUIREMENT MODELING</a:t>
            </a:r>
            <a:endParaRPr lang="en-US" sz="1875" dirty="0"/>
          </a:p>
        </p:txBody>
      </p:sp>
      <p:sp>
        <p:nvSpPr>
          <p:cNvPr id="3" name="Text 1"/>
          <p:cNvSpPr/>
          <p:nvPr/>
        </p:nvSpPr>
        <p:spPr>
          <a:xfrm>
            <a:off x="990600" y="1247775"/>
            <a:ext cx="17937480" cy="585788"/>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Use Case Model — 사용자 작업 단위로 시스템 경계를 정의</a:t>
            </a:r>
            <a:endParaRPr lang="en-US" sz="3750" dirty="0"/>
          </a:p>
        </p:txBody>
      </p:sp>
      <p:sp>
        <p:nvSpPr>
          <p:cNvPr id="4" name="Shape 2"/>
          <p:cNvSpPr/>
          <p:nvPr/>
        </p:nvSpPr>
        <p:spPr>
          <a:xfrm>
            <a:off x="990600" y="2119313"/>
            <a:ext cx="9914781" cy="6834188"/>
          </a:xfrm>
          <a:prstGeom prst="rect">
            <a:avLst/>
          </a:prstGeom>
          <a:solidFill>
            <a:srgbClr val="FFFFFF"/>
          </a:solidFill>
          <a:ln w="9525">
            <a:solidFill>
              <a:srgbClr val="E4E0D6"/>
            </a:solidFill>
            <a:prstDash val="solid"/>
          </a:ln>
        </p:spPr>
      </p:sp>
      <p:pic>
        <p:nvPicPr>
          <p:cNvPr id="5" name="Image 0" descr="preencoded.png">    </p:cNvPr>
          <p:cNvPicPr>
            <a:picLocks noChangeAspect="1"/>
          </p:cNvPicPr>
          <p:nvPr/>
        </p:nvPicPr>
        <p:blipFill>
          <a:blip r:embed="rId1"/>
          <a:srcRect l="0" r="0" t="-5079" b="-5079"/>
          <a:stretch/>
        </p:blipFill>
        <p:spPr>
          <a:xfrm>
            <a:off x="1171575" y="2300288"/>
            <a:ext cx="9552831" cy="6472238"/>
          </a:xfrm>
          <a:prstGeom prst="rect">
            <a:avLst/>
          </a:prstGeom>
        </p:spPr>
      </p:pic>
      <p:sp>
        <p:nvSpPr>
          <p:cNvPr id="6" name="Text 3"/>
          <p:cNvSpPr/>
          <p:nvPr/>
        </p:nvSpPr>
        <p:spPr>
          <a:xfrm>
            <a:off x="11400681" y="2119313"/>
            <a:ext cx="6486391" cy="257175"/>
          </a:xfrm>
          <a:prstGeom prst="rect">
            <a:avLst/>
          </a:prstGeom>
          <a:noFill/>
          <a:ln/>
        </p:spPr>
        <p:txBody>
          <a:bodyPr wrap="square" lIns="25400" tIns="25400" rIns="25400" bIns="25400" rtlCol="0" anchor="t">
            <a:normAutofit/>
          </a:bodyPr>
          <a:lstStyle/>
          <a:p>
            <a:pPr algn="l" indent="0" marL="0">
              <a:buNone/>
            </a:pPr>
            <a:r>
              <a:rPr lang="en-US" sz="1575" spc="95" kern="0" dirty="0">
                <a:solidFill>
                  <a:srgbClr val="8C7A3F"/>
                </a:solidFill>
                <a:latin typeface="Courier New" pitchFamily="34" charset="0"/>
                <a:ea typeface="Courier New" pitchFamily="34" charset="-122"/>
                <a:cs typeface="Courier New" pitchFamily="34" charset="-120"/>
              </a:rPr>
              <a:t>CORE USE CASES</a:t>
            </a:r>
            <a:endParaRPr lang="en-US" sz="1575" dirty="0"/>
          </a:p>
        </p:txBody>
      </p:sp>
      <p:sp>
        <p:nvSpPr>
          <p:cNvPr id="7" name="Text 4"/>
          <p:cNvSpPr/>
          <p:nvPr/>
        </p:nvSpPr>
        <p:spPr>
          <a:xfrm>
            <a:off x="11400681" y="2538413"/>
            <a:ext cx="666750" cy="257175"/>
          </a:xfrm>
          <a:prstGeom prst="rect">
            <a:avLst/>
          </a:prstGeom>
          <a:noFill/>
          <a:ln/>
        </p:spPr>
        <p:txBody>
          <a:bodyPr wrap="square" lIns="25400" tIns="25400" rIns="25400" bIns="25400" rtlCol="0" anchor="t">
            <a:normAutofit/>
          </a:bodyPr>
          <a:lstStyle/>
          <a:p>
            <a:pPr algn="l" indent="0" marL="0">
              <a:buNone/>
            </a:pPr>
            <a:r>
              <a:rPr lang="en-US" sz="1500" dirty="0">
                <a:solidFill>
                  <a:srgbClr val="8C7A3F"/>
                </a:solidFill>
                <a:latin typeface="Courier New" pitchFamily="34" charset="0"/>
                <a:ea typeface="Courier New" pitchFamily="34" charset="-122"/>
                <a:cs typeface="Courier New" pitchFamily="34" charset="-120"/>
              </a:rPr>
              <a:t>UC-01</a:t>
            </a:r>
            <a:endParaRPr lang="en-US" sz="1500" dirty="0"/>
          </a:p>
        </p:txBody>
      </p:sp>
      <p:sp>
        <p:nvSpPr>
          <p:cNvPr id="8" name="Text 5"/>
          <p:cNvSpPr/>
          <p:nvPr/>
        </p:nvSpPr>
        <p:spPr>
          <a:xfrm>
            <a:off x="12143631" y="2490788"/>
            <a:ext cx="1377464" cy="323850"/>
          </a:xfrm>
          <a:prstGeom prst="rect">
            <a:avLst/>
          </a:prstGeom>
          <a:noFill/>
          <a:ln/>
        </p:spPr>
        <p:txBody>
          <a:bodyPr wrap="square" lIns="25400" tIns="25400" rIns="25400" bIns="25400" rtlCol="0" anchor="t">
            <a:normAutofit/>
          </a:bodyPr>
          <a:lstStyle/>
          <a:p>
            <a:pPr algn="l" indent="0" marL="0">
              <a:buNone/>
            </a:pPr>
            <a:r>
              <a:rPr lang="en-US" sz="1800" dirty="0">
                <a:solidFill>
                  <a:srgbClr val="20201E"/>
                </a:solidFill>
                <a:latin typeface="Georgia" pitchFamily="34" charset="0"/>
                <a:ea typeface="Georgia" pitchFamily="34" charset="-122"/>
                <a:cs typeface="Georgia" pitchFamily="34" charset="-120"/>
              </a:rPr>
              <a:t>새 대화 시작</a:t>
            </a:r>
            <a:endParaRPr lang="en-US" sz="1800" dirty="0"/>
          </a:p>
        </p:txBody>
      </p:sp>
      <p:sp>
        <p:nvSpPr>
          <p:cNvPr id="9" name="Text 6"/>
          <p:cNvSpPr/>
          <p:nvPr/>
        </p:nvSpPr>
        <p:spPr>
          <a:xfrm>
            <a:off x="11400681" y="2928938"/>
            <a:ext cx="666750" cy="257175"/>
          </a:xfrm>
          <a:prstGeom prst="rect">
            <a:avLst/>
          </a:prstGeom>
          <a:noFill/>
          <a:ln/>
        </p:spPr>
        <p:txBody>
          <a:bodyPr wrap="square" lIns="25400" tIns="25400" rIns="25400" bIns="25400" rtlCol="0" anchor="t">
            <a:normAutofit/>
          </a:bodyPr>
          <a:lstStyle/>
          <a:p>
            <a:pPr algn="l" indent="0" marL="0">
              <a:buNone/>
            </a:pPr>
            <a:r>
              <a:rPr lang="en-US" sz="1500" dirty="0">
                <a:solidFill>
                  <a:srgbClr val="8C7A3F"/>
                </a:solidFill>
                <a:latin typeface="Courier New" pitchFamily="34" charset="0"/>
                <a:ea typeface="Courier New" pitchFamily="34" charset="-122"/>
                <a:cs typeface="Courier New" pitchFamily="34" charset="-120"/>
              </a:rPr>
              <a:t>UC-02</a:t>
            </a:r>
            <a:endParaRPr lang="en-US" sz="1500" dirty="0"/>
          </a:p>
        </p:txBody>
      </p:sp>
      <p:sp>
        <p:nvSpPr>
          <p:cNvPr id="10" name="Text 7"/>
          <p:cNvSpPr/>
          <p:nvPr/>
        </p:nvSpPr>
        <p:spPr>
          <a:xfrm>
            <a:off x="12143631" y="2881313"/>
            <a:ext cx="3257357" cy="323850"/>
          </a:xfrm>
          <a:prstGeom prst="rect">
            <a:avLst/>
          </a:prstGeom>
          <a:noFill/>
          <a:ln/>
        </p:spPr>
        <p:txBody>
          <a:bodyPr wrap="square" lIns="25400" tIns="25400" rIns="25400" bIns="25400" rtlCol="0" anchor="t">
            <a:normAutofit/>
          </a:bodyPr>
          <a:lstStyle/>
          <a:p>
            <a:pPr algn="l" indent="0" marL="0">
              <a:buNone/>
            </a:pPr>
            <a:r>
              <a:rPr lang="en-US" sz="1800" dirty="0">
                <a:solidFill>
                  <a:srgbClr val="20201E"/>
                </a:solidFill>
                <a:latin typeface="Georgia" pitchFamily="34" charset="0"/>
                <a:ea typeface="Georgia" pitchFamily="34" charset="-122"/>
                <a:cs typeface="Georgia" pitchFamily="34" charset="-120"/>
              </a:rPr>
              <a:t>대화 탐색기를 통한 세션 탐색</a:t>
            </a:r>
            <a:endParaRPr lang="en-US" sz="1800" dirty="0"/>
          </a:p>
        </p:txBody>
      </p:sp>
      <p:sp>
        <p:nvSpPr>
          <p:cNvPr id="11" name="Text 8"/>
          <p:cNvSpPr/>
          <p:nvPr/>
        </p:nvSpPr>
        <p:spPr>
          <a:xfrm>
            <a:off x="11400681" y="3319463"/>
            <a:ext cx="666750" cy="257175"/>
          </a:xfrm>
          <a:prstGeom prst="rect">
            <a:avLst/>
          </a:prstGeom>
          <a:noFill/>
          <a:ln/>
        </p:spPr>
        <p:txBody>
          <a:bodyPr wrap="square" lIns="25400" tIns="25400" rIns="25400" bIns="25400" rtlCol="0" anchor="t">
            <a:normAutofit/>
          </a:bodyPr>
          <a:lstStyle/>
          <a:p>
            <a:pPr algn="l" indent="0" marL="0">
              <a:buNone/>
            </a:pPr>
            <a:r>
              <a:rPr lang="en-US" sz="1500" dirty="0">
                <a:solidFill>
                  <a:srgbClr val="8C7A3F"/>
                </a:solidFill>
                <a:latin typeface="Courier New" pitchFamily="34" charset="0"/>
                <a:ea typeface="Courier New" pitchFamily="34" charset="-122"/>
                <a:cs typeface="Courier New" pitchFamily="34" charset="-120"/>
              </a:rPr>
              <a:t>UC-04</a:t>
            </a:r>
            <a:endParaRPr lang="en-US" sz="1500" dirty="0"/>
          </a:p>
        </p:txBody>
      </p:sp>
      <p:sp>
        <p:nvSpPr>
          <p:cNvPr id="12" name="Text 9"/>
          <p:cNvSpPr/>
          <p:nvPr/>
        </p:nvSpPr>
        <p:spPr>
          <a:xfrm>
            <a:off x="12143631" y="3271838"/>
            <a:ext cx="2191762" cy="323850"/>
          </a:xfrm>
          <a:prstGeom prst="rect">
            <a:avLst/>
          </a:prstGeom>
          <a:noFill/>
          <a:ln/>
        </p:spPr>
        <p:txBody>
          <a:bodyPr wrap="square" lIns="25400" tIns="25400" rIns="25400" bIns="25400" rtlCol="0" anchor="t">
            <a:normAutofit/>
          </a:bodyPr>
          <a:lstStyle/>
          <a:p>
            <a:pPr algn="l" indent="0" marL="0">
              <a:buNone/>
            </a:pPr>
            <a:r>
              <a:rPr lang="en-US" sz="1800" dirty="0">
                <a:solidFill>
                  <a:srgbClr val="20201E"/>
                </a:solidFill>
                <a:latin typeface="Georgia" pitchFamily="34" charset="0"/>
                <a:ea typeface="Georgia" pitchFamily="34" charset="-122"/>
                <a:cs typeface="Georgia" pitchFamily="34" charset="-120"/>
              </a:rPr>
              <a:t>기존 세션 대화 작성</a:t>
            </a:r>
            <a:endParaRPr lang="en-US" sz="1800" dirty="0"/>
          </a:p>
        </p:txBody>
      </p:sp>
      <p:sp>
        <p:nvSpPr>
          <p:cNvPr id="13" name="Shape 10"/>
          <p:cNvSpPr/>
          <p:nvPr/>
        </p:nvSpPr>
        <p:spPr>
          <a:xfrm>
            <a:off x="11305431" y="3681413"/>
            <a:ext cx="6087219" cy="457200"/>
          </a:xfrm>
          <a:prstGeom prst="rect">
            <a:avLst/>
          </a:prstGeom>
          <a:solidFill>
            <a:srgbClr val="F4F1E9"/>
          </a:solidFill>
          <a:ln/>
        </p:spPr>
      </p:sp>
      <p:sp>
        <p:nvSpPr>
          <p:cNvPr id="14" name="Text 11"/>
          <p:cNvSpPr/>
          <p:nvPr/>
        </p:nvSpPr>
        <p:spPr>
          <a:xfrm>
            <a:off x="11400681" y="3776662"/>
            <a:ext cx="714375" cy="304800"/>
          </a:xfrm>
          <a:prstGeom prst="rect">
            <a:avLst/>
          </a:prstGeom>
          <a:noFill/>
          <a:ln/>
        </p:spPr>
        <p:txBody>
          <a:bodyPr wrap="square" lIns="25400" tIns="25400" rIns="25400" bIns="25400" rtlCol="0" anchor="t">
            <a:normAutofit/>
          </a:bodyPr>
          <a:lstStyle/>
          <a:p>
            <a:pPr algn="l" indent="0" marL="0">
              <a:buNone/>
            </a:pPr>
            <a:r>
              <a:rPr lang="en-US" sz="1500" dirty="0">
                <a:solidFill>
                  <a:srgbClr val="2155A4"/>
                </a:solidFill>
                <a:latin typeface="Courier New" pitchFamily="34" charset="0"/>
                <a:ea typeface="Courier New" pitchFamily="34" charset="-122"/>
                <a:cs typeface="Courier New" pitchFamily="34" charset="-120"/>
              </a:rPr>
              <a:t>UC-05</a:t>
            </a:r>
            <a:endParaRPr lang="en-US" sz="1500" dirty="0"/>
          </a:p>
        </p:txBody>
      </p:sp>
      <p:sp>
        <p:nvSpPr>
          <p:cNvPr id="15" name="Text 12"/>
          <p:cNvSpPr/>
          <p:nvPr/>
        </p:nvSpPr>
        <p:spPr>
          <a:xfrm>
            <a:off x="12191256" y="3767138"/>
            <a:ext cx="3055501" cy="323850"/>
          </a:xfrm>
          <a:prstGeom prst="rect">
            <a:avLst/>
          </a:prstGeom>
          <a:noFill/>
          <a:ln/>
        </p:spPr>
        <p:txBody>
          <a:bodyPr wrap="square" lIns="25400" tIns="25400" rIns="25400" bIns="25400" rtlCol="0" anchor="t">
            <a:normAutofit/>
          </a:bodyPr>
          <a:lstStyle/>
          <a:p>
            <a:pPr algn="l" indent="0" marL="0">
              <a:buNone/>
            </a:pPr>
            <a:r>
              <a:rPr lang="en-US" sz="1800" dirty="0">
                <a:solidFill>
                  <a:srgbClr val="2155A4"/>
                </a:solidFill>
                <a:latin typeface="Georgia" pitchFamily="34" charset="0"/>
                <a:ea typeface="Georgia" pitchFamily="34" charset="-122"/>
                <a:cs typeface="Georgia" pitchFamily="34" charset="-120"/>
              </a:rPr>
              <a:t>특정 Turn에서 새 분기 생성</a:t>
            </a:r>
            <a:endParaRPr lang="en-US" sz="1800" dirty="0"/>
          </a:p>
        </p:txBody>
      </p:sp>
      <p:sp>
        <p:nvSpPr>
          <p:cNvPr id="16" name="Shape 13"/>
          <p:cNvSpPr/>
          <p:nvPr/>
        </p:nvSpPr>
        <p:spPr>
          <a:xfrm>
            <a:off x="16718161" y="3800475"/>
            <a:ext cx="579239" cy="219075"/>
          </a:xfrm>
          <a:prstGeom prst="rect">
            <a:avLst/>
          </a:prstGeom>
          <a:solidFill>
            <a:srgbClr val="2155A4"/>
          </a:solidFill>
          <a:ln/>
        </p:spPr>
      </p:sp>
      <p:sp>
        <p:nvSpPr>
          <p:cNvPr id="17" name="Text 14"/>
          <p:cNvSpPr/>
          <p:nvPr/>
        </p:nvSpPr>
        <p:spPr>
          <a:xfrm>
            <a:off x="16813411" y="3819525"/>
            <a:ext cx="446663" cy="219075"/>
          </a:xfrm>
          <a:prstGeom prst="rect">
            <a:avLst/>
          </a:prstGeom>
          <a:noFill/>
          <a:ln/>
        </p:spPr>
        <p:txBody>
          <a:bodyPr wrap="square" lIns="25400" tIns="25400" rIns="25400" bIns="25400" rtlCol="0" anchor="t">
            <a:normAutofit/>
          </a:bodyPr>
          <a:lstStyle/>
          <a:p>
            <a:pPr algn="l" indent="0" marL="0">
              <a:buNone/>
            </a:pPr>
            <a:r>
              <a:rPr lang="en-US" sz="1275" dirty="0">
                <a:solidFill>
                  <a:srgbClr val="FFFFFF"/>
                </a:solidFill>
                <a:latin typeface="Courier New" pitchFamily="34" charset="0"/>
                <a:ea typeface="Courier New" pitchFamily="34" charset="-122"/>
                <a:cs typeface="Courier New" pitchFamily="34" charset="-120"/>
              </a:rPr>
              <a:t>CORE</a:t>
            </a:r>
            <a:endParaRPr lang="en-US" sz="1275" dirty="0"/>
          </a:p>
        </p:txBody>
      </p:sp>
      <p:sp>
        <p:nvSpPr>
          <p:cNvPr id="18" name="Text 15"/>
          <p:cNvSpPr/>
          <p:nvPr/>
        </p:nvSpPr>
        <p:spPr>
          <a:xfrm>
            <a:off x="11400681" y="4310063"/>
            <a:ext cx="666750" cy="257175"/>
          </a:xfrm>
          <a:prstGeom prst="rect">
            <a:avLst/>
          </a:prstGeom>
          <a:noFill/>
          <a:ln/>
        </p:spPr>
        <p:txBody>
          <a:bodyPr wrap="square" lIns="25400" tIns="25400" rIns="25400" bIns="25400" rtlCol="0" anchor="t">
            <a:normAutofit/>
          </a:bodyPr>
          <a:lstStyle/>
          <a:p>
            <a:pPr algn="l" indent="0" marL="0">
              <a:buNone/>
            </a:pPr>
            <a:r>
              <a:rPr lang="en-US" sz="1500" dirty="0">
                <a:solidFill>
                  <a:srgbClr val="8C7A3F"/>
                </a:solidFill>
                <a:latin typeface="Courier New" pitchFamily="34" charset="0"/>
                <a:ea typeface="Courier New" pitchFamily="34" charset="-122"/>
                <a:cs typeface="Courier New" pitchFamily="34" charset="-120"/>
              </a:rPr>
              <a:t>UC-06</a:t>
            </a:r>
            <a:endParaRPr lang="en-US" sz="1500" dirty="0"/>
          </a:p>
        </p:txBody>
      </p:sp>
      <p:sp>
        <p:nvSpPr>
          <p:cNvPr id="19" name="Text 16"/>
          <p:cNvSpPr/>
          <p:nvPr/>
        </p:nvSpPr>
        <p:spPr>
          <a:xfrm>
            <a:off x="12143631" y="4262438"/>
            <a:ext cx="2945487" cy="323850"/>
          </a:xfrm>
          <a:prstGeom prst="rect">
            <a:avLst/>
          </a:prstGeom>
          <a:noFill/>
          <a:ln/>
        </p:spPr>
        <p:txBody>
          <a:bodyPr wrap="square" lIns="25400" tIns="25400" rIns="25400" bIns="25400" rtlCol="0" anchor="t">
            <a:normAutofit/>
          </a:bodyPr>
          <a:lstStyle/>
          <a:p>
            <a:pPr algn="l" indent="0" marL="0">
              <a:buNone/>
            </a:pPr>
            <a:r>
              <a:rPr lang="en-US" sz="1800" dirty="0">
                <a:solidFill>
                  <a:srgbClr val="20201E"/>
                </a:solidFill>
                <a:latin typeface="Georgia" pitchFamily="34" charset="0"/>
                <a:ea typeface="Georgia" pitchFamily="34" charset="-122"/>
                <a:cs typeface="Georgia" pitchFamily="34" charset="-120"/>
              </a:rPr>
              <a:t>그래프를 이용한 대화 탐색</a:t>
            </a:r>
            <a:endParaRPr lang="en-US" sz="1800" dirty="0"/>
          </a:p>
        </p:txBody>
      </p:sp>
      <p:sp>
        <p:nvSpPr>
          <p:cNvPr id="20" name="Shape 17"/>
          <p:cNvSpPr/>
          <p:nvPr/>
        </p:nvSpPr>
        <p:spPr>
          <a:xfrm>
            <a:off x="11400681" y="4700588"/>
            <a:ext cx="5896719" cy="9525"/>
          </a:xfrm>
          <a:prstGeom prst="rect">
            <a:avLst/>
          </a:prstGeom>
          <a:solidFill>
            <a:srgbClr val="D6D2C6"/>
          </a:solidFill>
          <a:ln/>
        </p:spPr>
      </p:sp>
      <p:sp>
        <p:nvSpPr>
          <p:cNvPr id="21" name="Text 18"/>
          <p:cNvSpPr/>
          <p:nvPr/>
        </p:nvSpPr>
        <p:spPr>
          <a:xfrm>
            <a:off x="11400681" y="4833938"/>
            <a:ext cx="6073621"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9A968C"/>
                </a:solidFill>
                <a:latin typeface="Courier New" pitchFamily="34" charset="0"/>
                <a:ea typeface="Courier New" pitchFamily="34" charset="-122"/>
                <a:cs typeface="Courier New" pitchFamily="34" charset="-120"/>
              </a:rPr>
              <a:t>UC-03 세션 진입 · UC-07 구독 결제 · UC-08 인증은 공통·부가 흐름</a:t>
            </a:r>
            <a:endParaRPr lang="en-US" sz="1350" dirty="0"/>
          </a:p>
        </p:txBody>
      </p:sp>
      <p:sp>
        <p:nvSpPr>
          <p:cNvPr id="22" name="Text 19"/>
          <p:cNvSpPr/>
          <p:nvPr/>
        </p:nvSpPr>
        <p:spPr>
          <a:xfrm>
            <a:off x="11400681" y="5300663"/>
            <a:ext cx="6486391" cy="257175"/>
          </a:xfrm>
          <a:prstGeom prst="rect">
            <a:avLst/>
          </a:prstGeom>
          <a:noFill/>
          <a:ln/>
        </p:spPr>
        <p:txBody>
          <a:bodyPr wrap="square" lIns="25400" tIns="25400" rIns="25400" bIns="25400" rtlCol="0" anchor="t">
            <a:normAutofit/>
          </a:bodyPr>
          <a:lstStyle/>
          <a:p>
            <a:pPr algn="l" indent="0" marL="0">
              <a:buNone/>
            </a:pPr>
            <a:r>
              <a:rPr lang="en-US" sz="1575" spc="95" kern="0" dirty="0">
                <a:solidFill>
                  <a:srgbClr val="8C7A3F"/>
                </a:solidFill>
                <a:latin typeface="Courier New" pitchFamily="34" charset="0"/>
                <a:ea typeface="Courier New" pitchFamily="34" charset="-122"/>
                <a:cs typeface="Courier New" pitchFamily="34" charset="-120"/>
              </a:rPr>
              <a:t>ACTORS</a:t>
            </a:r>
            <a:endParaRPr lang="en-US" sz="1575" dirty="0"/>
          </a:p>
        </p:txBody>
      </p:sp>
      <p:sp>
        <p:nvSpPr>
          <p:cNvPr id="23" name="Text 20"/>
          <p:cNvSpPr/>
          <p:nvPr/>
        </p:nvSpPr>
        <p:spPr>
          <a:xfrm>
            <a:off x="11400681" y="5653088"/>
            <a:ext cx="1403003" cy="304800"/>
          </a:xfrm>
          <a:prstGeom prst="rect">
            <a:avLst/>
          </a:prstGeom>
          <a:noFill/>
          <a:ln/>
        </p:spPr>
        <p:txBody>
          <a:bodyPr wrap="square" lIns="25400" tIns="25400" rIns="25400" bIns="25400" rtlCol="0" anchor="t">
            <a:normAutofit/>
          </a:bodyPr>
          <a:lstStyle/>
          <a:p>
            <a:pPr algn="l" indent="0" marL="0">
              <a:buNone/>
            </a:pPr>
            <a:r>
              <a:rPr lang="en-US" sz="1725" dirty="0">
                <a:solidFill>
                  <a:srgbClr val="2155A4"/>
                </a:solidFill>
                <a:latin typeface="Georgia" pitchFamily="34" charset="0"/>
                <a:ea typeface="Georgia" pitchFamily="34" charset="-122"/>
                <a:cs typeface="Georgia" pitchFamily="34" charset="-120"/>
              </a:rPr>
              <a:t>● </a:t>
            </a:r>
            <a:pPr algn="l" indent="0" marL="0">
              <a:buNone/>
            </a:pPr>
            <a:r>
              <a:rPr lang="en-US" sz="1725" dirty="0">
                <a:solidFill>
                  <a:srgbClr val="20201E"/>
                </a:solidFill>
                <a:latin typeface="Georgia" pitchFamily="34" charset="0"/>
                <a:ea typeface="Georgia" pitchFamily="34" charset="-122"/>
                <a:cs typeface="Georgia" pitchFamily="34" charset="-120"/>
              </a:rPr>
              <a:t>사용자 </a:t>
            </a:r>
            <a:pPr algn="l" indent="0" marL="0">
              <a:buNone/>
            </a:pPr>
            <a:r>
              <a:rPr lang="en-US" sz="1500" dirty="0">
                <a:solidFill>
                  <a:srgbClr val="9A968C"/>
                </a:solidFill>
                <a:latin typeface="Georgia" pitchFamily="34" charset="0"/>
                <a:ea typeface="Georgia" pitchFamily="34" charset="-122"/>
                <a:cs typeface="Georgia" pitchFamily="34" charset="-120"/>
              </a:rPr>
              <a:t>주요</a:t>
            </a:r>
            <a:endParaRPr lang="en-US" sz="1725" dirty="0"/>
          </a:p>
        </p:txBody>
      </p:sp>
      <p:sp>
        <p:nvSpPr>
          <p:cNvPr id="24" name="Text 21"/>
          <p:cNvSpPr/>
          <p:nvPr/>
        </p:nvSpPr>
        <p:spPr>
          <a:xfrm>
            <a:off x="12847588" y="5653088"/>
            <a:ext cx="2141503" cy="304800"/>
          </a:xfrm>
          <a:prstGeom prst="rect">
            <a:avLst/>
          </a:prstGeom>
          <a:noFill/>
          <a:ln/>
        </p:spPr>
        <p:txBody>
          <a:bodyPr wrap="square" lIns="25400" tIns="25400" rIns="25400" bIns="25400" rtlCol="0" anchor="t">
            <a:normAutofit/>
          </a:bodyPr>
          <a:lstStyle/>
          <a:p>
            <a:pPr algn="l" indent="0" marL="0">
              <a:buNone/>
            </a:pPr>
            <a:r>
              <a:rPr lang="en-US" sz="1725" dirty="0">
                <a:solidFill>
                  <a:srgbClr val="8C7A3F"/>
                </a:solidFill>
                <a:latin typeface="Georgia" pitchFamily="34" charset="0"/>
                <a:ea typeface="Georgia" pitchFamily="34" charset="-122"/>
                <a:cs typeface="Georgia" pitchFamily="34" charset="-120"/>
              </a:rPr>
              <a:t>● </a:t>
            </a:r>
            <a:pPr algn="l" indent="0" marL="0">
              <a:buNone/>
            </a:pPr>
            <a:r>
              <a:rPr lang="en-US" sz="1725" dirty="0">
                <a:solidFill>
                  <a:srgbClr val="20201E"/>
                </a:solidFill>
                <a:latin typeface="Georgia" pitchFamily="34" charset="0"/>
                <a:ea typeface="Georgia" pitchFamily="34" charset="-122"/>
                <a:cs typeface="Georgia" pitchFamily="34" charset="-120"/>
              </a:rPr>
              <a:t>LLM </a:t>
            </a:r>
            <a:pPr algn="l" indent="0" marL="0">
              <a:buNone/>
            </a:pPr>
            <a:r>
              <a:rPr lang="en-US" sz="1500" dirty="0">
                <a:solidFill>
                  <a:srgbClr val="9A968C"/>
                </a:solidFill>
                <a:latin typeface="Georgia" pitchFamily="34" charset="0"/>
                <a:ea typeface="Georgia" pitchFamily="34" charset="-122"/>
                <a:cs typeface="Georgia" pitchFamily="34" charset="-120"/>
              </a:rPr>
              <a:t>외부·응답 생성</a:t>
            </a:r>
            <a:endParaRPr lang="en-US" sz="1725" dirty="0"/>
          </a:p>
        </p:txBody>
      </p:sp>
      <p:sp>
        <p:nvSpPr>
          <p:cNvPr id="25" name="Text 22"/>
          <p:cNvSpPr/>
          <p:nvPr/>
        </p:nvSpPr>
        <p:spPr>
          <a:xfrm>
            <a:off x="14965859" y="5653088"/>
            <a:ext cx="2419975" cy="304800"/>
          </a:xfrm>
          <a:prstGeom prst="rect">
            <a:avLst/>
          </a:prstGeom>
          <a:noFill/>
          <a:ln/>
        </p:spPr>
        <p:txBody>
          <a:bodyPr wrap="square" lIns="25400" tIns="25400" rIns="25400" bIns="25400" rtlCol="0" anchor="t">
            <a:normAutofit/>
          </a:bodyPr>
          <a:lstStyle/>
          <a:p>
            <a:pPr algn="l" indent="0" marL="0">
              <a:buNone/>
            </a:pPr>
            <a:r>
              <a:rPr lang="en-US" sz="1725" dirty="0">
                <a:solidFill>
                  <a:srgbClr val="8C7A3F"/>
                </a:solidFill>
                <a:latin typeface="Georgia" pitchFamily="34" charset="0"/>
                <a:ea typeface="Georgia" pitchFamily="34" charset="-122"/>
                <a:cs typeface="Georgia" pitchFamily="34" charset="-120"/>
              </a:rPr>
              <a:t>● </a:t>
            </a:r>
            <a:pPr algn="l" indent="0" marL="0">
              <a:buNone/>
            </a:pPr>
            <a:r>
              <a:rPr lang="en-US" sz="1725" dirty="0">
                <a:solidFill>
                  <a:srgbClr val="20201E"/>
                </a:solidFill>
                <a:latin typeface="Georgia" pitchFamily="34" charset="0"/>
                <a:ea typeface="Georgia" pitchFamily="34" charset="-122"/>
                <a:cs typeface="Georgia" pitchFamily="34" charset="-120"/>
              </a:rPr>
              <a:t>결제 서비스 </a:t>
            </a:r>
            <a:pPr algn="l" indent="0" marL="0">
              <a:buNone/>
            </a:pPr>
            <a:r>
              <a:rPr lang="en-US" sz="1500" dirty="0">
                <a:solidFill>
                  <a:srgbClr val="9A968C"/>
                </a:solidFill>
                <a:latin typeface="Georgia" pitchFamily="34" charset="0"/>
                <a:ea typeface="Georgia" pitchFamily="34" charset="-122"/>
                <a:cs typeface="Georgia" pitchFamily="34" charset="-120"/>
              </a:rPr>
              <a:t>외부·구독</a:t>
            </a:r>
            <a:endParaRPr lang="en-US" sz="1725" dirty="0"/>
          </a:p>
        </p:txBody>
      </p:sp>
      <p:sp>
        <p:nvSpPr>
          <p:cNvPr id="26" name="Shape 23"/>
          <p:cNvSpPr/>
          <p:nvPr/>
        </p:nvSpPr>
        <p:spPr>
          <a:xfrm>
            <a:off x="11400681" y="7651552"/>
            <a:ext cx="5896719" cy="1301948"/>
          </a:xfrm>
          <a:prstGeom prst="rect">
            <a:avLst/>
          </a:prstGeom>
          <a:solidFill>
            <a:srgbClr val="F8F5EE"/>
          </a:solidFill>
          <a:ln w="9525">
            <a:solidFill>
              <a:srgbClr val="E4E0D6"/>
            </a:solidFill>
            <a:prstDash val="solid"/>
          </a:ln>
        </p:spPr>
      </p:sp>
      <p:sp>
        <p:nvSpPr>
          <p:cNvPr id="27" name="Text 24"/>
          <p:cNvSpPr/>
          <p:nvPr/>
        </p:nvSpPr>
        <p:spPr>
          <a:xfrm>
            <a:off x="11619756" y="7832527"/>
            <a:ext cx="6004426" cy="247650"/>
          </a:xfrm>
          <a:prstGeom prst="rect">
            <a:avLst/>
          </a:prstGeom>
          <a:noFill/>
          <a:ln/>
        </p:spPr>
        <p:txBody>
          <a:bodyPr wrap="square" lIns="25400" tIns="25400" rIns="25400" bIns="25400" rtlCol="0" anchor="t">
            <a:normAutofit/>
          </a:bodyPr>
          <a:lstStyle/>
          <a:p>
            <a:pPr algn="l" indent="0" marL="0">
              <a:buNone/>
            </a:pPr>
            <a:r>
              <a:rPr lang="en-US" sz="1425" spc="86" kern="0" dirty="0">
                <a:solidFill>
                  <a:srgbClr val="8C7A3F"/>
                </a:solidFill>
                <a:latin typeface="Courier New" pitchFamily="34" charset="0"/>
                <a:ea typeface="Courier New" pitchFamily="34" charset="-122"/>
                <a:cs typeface="Courier New" pitchFamily="34" charset="-120"/>
              </a:rPr>
              <a:t>MODELING PRINCIPLE</a:t>
            </a:r>
            <a:endParaRPr lang="en-US" sz="1425" dirty="0"/>
          </a:p>
        </p:txBody>
      </p:sp>
      <p:sp>
        <p:nvSpPr>
          <p:cNvPr id="28" name="Text 25"/>
          <p:cNvSpPr/>
          <p:nvPr/>
        </p:nvSpPr>
        <p:spPr>
          <a:xfrm>
            <a:off x="11619756" y="8137327"/>
            <a:ext cx="5622326" cy="673298"/>
          </a:xfrm>
          <a:prstGeom prst="rect">
            <a:avLst/>
          </a:prstGeom>
          <a:noFill/>
          <a:ln/>
        </p:spPr>
        <p:txBody>
          <a:bodyPr wrap="square" lIns="25400" tIns="25400" rIns="25400" bIns="25400" rtlCol="0" anchor="t">
            <a:normAutofit/>
          </a:bodyPr>
          <a:lstStyle/>
          <a:p>
            <a:pPr algn="l" indent="0" marL="0">
              <a:lnSpc>
                <a:spcPct val="145000"/>
              </a:lnSpc>
              <a:buNone/>
            </a:pPr>
            <a:r>
              <a:rPr lang="en-US" sz="1725" dirty="0">
                <a:solidFill>
                  <a:srgbClr val="46443D"/>
                </a:solidFill>
                <a:latin typeface="Georgia" pitchFamily="34" charset="0"/>
                <a:ea typeface="Georgia" pitchFamily="34" charset="-122"/>
                <a:cs typeface="Georgia" pitchFamily="34" charset="-120"/>
              </a:rPr>
              <a:t>Use Case는 내부 함수가 아니라 </a:t>
            </a:r>
            <a:pPr algn="l" indent="0" marL="0">
              <a:lnSpc>
                <a:spcPct val="145000"/>
              </a:lnSpc>
              <a:buNone/>
            </a:pPr>
            <a:r>
              <a:rPr lang="en-US" sz="1725" dirty="0">
                <a:solidFill>
                  <a:srgbClr val="20201E"/>
                </a:solidFill>
                <a:latin typeface="Georgia" pitchFamily="34" charset="0"/>
                <a:ea typeface="Georgia" pitchFamily="34" charset="-122"/>
                <a:cs typeface="Georgia" pitchFamily="34" charset="-120"/>
              </a:rPr>
              <a:t>사용자가 달성하려는 작업 단위 </a:t>
            </a:r>
            <a:pPr algn="l" indent="0" marL="0">
              <a:lnSpc>
                <a:spcPct val="145000"/>
              </a:lnSpc>
              <a:buNone/>
            </a:pPr>
            <a:r>
              <a:rPr lang="en-US" sz="1725" dirty="0">
                <a:solidFill>
                  <a:srgbClr val="46443D"/>
                </a:solidFill>
                <a:latin typeface="Georgia" pitchFamily="34" charset="0"/>
                <a:ea typeface="Georgia" pitchFamily="34" charset="-122"/>
                <a:cs typeface="Georgia" pitchFamily="34" charset="-120"/>
              </a:rPr>
              <a:t>로 정의한다.</a:t>
            </a:r>
            <a:endParaRPr lang="en-US" sz="1725" dirty="0"/>
          </a:p>
        </p:txBody>
      </p:sp>
      <p:sp>
        <p:nvSpPr>
          <p:cNvPr id="29" name="Shape 26"/>
          <p:cNvSpPr/>
          <p:nvPr/>
        </p:nvSpPr>
        <p:spPr>
          <a:xfrm>
            <a:off x="990600" y="9239250"/>
            <a:ext cx="16306800" cy="9525"/>
          </a:xfrm>
          <a:prstGeom prst="rect">
            <a:avLst/>
          </a:prstGeom>
          <a:solidFill>
            <a:srgbClr val="E4E0D6"/>
          </a:solidFill>
          <a:ln/>
        </p:spPr>
      </p:sp>
      <p:sp>
        <p:nvSpPr>
          <p:cNvPr id="30" name="Text 27"/>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31" name="Text 28"/>
          <p:cNvSpPr/>
          <p:nvPr/>
        </p:nvSpPr>
        <p:spPr>
          <a:xfrm>
            <a:off x="15513993" y="9458325"/>
            <a:ext cx="1961748"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07 / Use Case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08 — REQUIREMENT MODELING</a:t>
            </a:r>
            <a:endParaRPr lang="en-US" sz="1875" dirty="0"/>
          </a:p>
        </p:txBody>
      </p:sp>
      <p:sp>
        <p:nvSpPr>
          <p:cNvPr id="3" name="Text 1"/>
          <p:cNvSpPr/>
          <p:nvPr/>
        </p:nvSpPr>
        <p:spPr>
          <a:xfrm>
            <a:off x="990600" y="1247775"/>
            <a:ext cx="17937480" cy="585788"/>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Class Diagram — 객체 책임을 네 계층으로 분리</a:t>
            </a:r>
            <a:endParaRPr lang="en-US" sz="3750" dirty="0"/>
          </a:p>
        </p:txBody>
      </p:sp>
      <p:sp>
        <p:nvSpPr>
          <p:cNvPr id="4" name="Text 2"/>
          <p:cNvSpPr/>
          <p:nvPr/>
        </p:nvSpPr>
        <p:spPr>
          <a:xfrm>
            <a:off x="990600" y="1947863"/>
            <a:ext cx="15304770" cy="866775"/>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사용자는 서비스 객체와 직접 상호작용하지 않는다. 요청은 </a:t>
            </a:r>
            <a:pPr algn="l" indent="0" marL="0">
              <a:lnSpc>
                <a:spcPct val="150000"/>
              </a:lnSpc>
              <a:buNone/>
            </a:pPr>
            <a:r>
              <a:rPr lang="en-US" sz="2175" dirty="0">
                <a:solidFill>
                  <a:srgbClr val="2155A4"/>
                </a:solidFill>
                <a:latin typeface="Georgia" pitchFamily="34" charset="0"/>
                <a:ea typeface="Georgia" pitchFamily="34" charset="-122"/>
                <a:cs typeface="Georgia" pitchFamily="34" charset="-120"/>
              </a:rPr>
              <a:t>UserInterface </a:t>
            </a:r>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를 통해 들어오고, 서비스 객체가 내부 처리를 담당한다.</a:t>
            </a:r>
            <a:endParaRPr lang="en-US" sz="2175" dirty="0"/>
          </a:p>
        </p:txBody>
      </p:sp>
      <p:sp>
        <p:nvSpPr>
          <p:cNvPr id="5" name="Text 3"/>
          <p:cNvSpPr/>
          <p:nvPr/>
        </p:nvSpPr>
        <p:spPr>
          <a:xfrm>
            <a:off x="990600" y="3157538"/>
            <a:ext cx="3592964" cy="276225"/>
          </a:xfrm>
          <a:prstGeom prst="rect">
            <a:avLst/>
          </a:prstGeom>
          <a:noFill/>
          <a:ln/>
        </p:spPr>
        <p:txBody>
          <a:bodyPr wrap="square" lIns="25400" tIns="25400" rIns="25400" bIns="25400" rtlCol="0" anchor="t">
            <a:normAutofit/>
          </a:bodyPr>
          <a:lstStyle/>
          <a:p>
            <a:pPr algn="l" indent="0" marL="0">
              <a:buNone/>
            </a:pPr>
            <a:r>
              <a:rPr lang="en-US" sz="1575" spc="79" kern="0" dirty="0">
                <a:solidFill>
                  <a:srgbClr val="8C7A3F"/>
                </a:solidFill>
                <a:latin typeface="Courier New" pitchFamily="34" charset="0"/>
                <a:ea typeface="Courier New" pitchFamily="34" charset="-122"/>
                <a:cs typeface="Courier New" pitchFamily="34" charset="-120"/>
              </a:rPr>
              <a:t>① 사용자 접점</a:t>
            </a:r>
            <a:endParaRPr lang="en-US" sz="1575" dirty="0"/>
          </a:p>
        </p:txBody>
      </p:sp>
      <p:sp>
        <p:nvSpPr>
          <p:cNvPr id="6" name="Text 4"/>
          <p:cNvSpPr/>
          <p:nvPr/>
        </p:nvSpPr>
        <p:spPr>
          <a:xfrm>
            <a:off x="990600" y="3490913"/>
            <a:ext cx="359296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9A968C"/>
                </a:solidFill>
                <a:latin typeface="Georgia" pitchFamily="34" charset="0"/>
                <a:ea typeface="Georgia" pitchFamily="34" charset="-122"/>
                <a:cs typeface="Georgia" pitchFamily="34" charset="-120"/>
              </a:rPr>
              <a:t>Interface Layer</a:t>
            </a:r>
            <a:endParaRPr lang="en-US" sz="1800" dirty="0"/>
          </a:p>
        </p:txBody>
      </p:sp>
      <p:sp>
        <p:nvSpPr>
          <p:cNvPr id="7" name="Shape 5"/>
          <p:cNvSpPr/>
          <p:nvPr/>
        </p:nvSpPr>
        <p:spPr>
          <a:xfrm>
            <a:off x="990600" y="4020443"/>
            <a:ext cx="3266331" cy="495300"/>
          </a:xfrm>
          <a:prstGeom prst="rect">
            <a:avLst/>
          </a:prstGeom>
          <a:solidFill>
            <a:srgbClr val="F8F5EE"/>
          </a:solidFill>
          <a:ln w="9525">
            <a:solidFill>
              <a:srgbClr val="E4E0D6"/>
            </a:solidFill>
            <a:prstDash val="solid"/>
          </a:ln>
        </p:spPr>
      </p:sp>
      <p:sp>
        <p:nvSpPr>
          <p:cNvPr id="8" name="Text 6"/>
          <p:cNvSpPr/>
          <p:nvPr/>
        </p:nvSpPr>
        <p:spPr>
          <a:xfrm>
            <a:off x="1152525" y="4144268"/>
            <a:ext cx="3040471" cy="285750"/>
          </a:xfrm>
          <a:prstGeom prst="rect">
            <a:avLst/>
          </a:prstGeom>
          <a:noFill/>
          <a:ln/>
        </p:spPr>
        <p:txBody>
          <a:bodyPr wrap="square" lIns="25400" tIns="25400" rIns="25400" bIns="25400" rtlCol="0" anchor="t">
            <a:normAutofit/>
          </a:bodyPr>
          <a:lstStyle/>
          <a:p>
            <a:pPr algn="l" indent="0" marL="0">
              <a:buNone/>
            </a:pPr>
            <a:r>
              <a:rPr lang="en-US" sz="1725" dirty="0">
                <a:solidFill>
                  <a:srgbClr val="20201E"/>
                </a:solidFill>
                <a:latin typeface="Courier New" pitchFamily="34" charset="0"/>
                <a:ea typeface="Courier New" pitchFamily="34" charset="-122"/>
                <a:cs typeface="Courier New" pitchFamily="34" charset="-120"/>
              </a:rPr>
              <a:t>UserInterface</a:t>
            </a:r>
            <a:endParaRPr lang="en-US" sz="1725" dirty="0"/>
          </a:p>
        </p:txBody>
      </p:sp>
      <p:sp>
        <p:nvSpPr>
          <p:cNvPr id="9" name="Text 7"/>
          <p:cNvSpPr/>
          <p:nvPr/>
        </p:nvSpPr>
        <p:spPr>
          <a:xfrm>
            <a:off x="1028700" y="4649093"/>
            <a:ext cx="3288121" cy="617934"/>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9A968C"/>
                </a:solidFill>
                <a:latin typeface="Georgia" pitchFamily="34" charset="0"/>
                <a:ea typeface="Georgia" pitchFamily="34" charset="-122"/>
                <a:cs typeface="Georgia" pitchFamily="34" charset="-120"/>
              </a:rPr>
              <a:t>대화·그래프 화면을 포함한 사용자 접점을 단일 클래스로 표현</a:t>
            </a:r>
            <a:endParaRPr lang="en-US" sz="1575" dirty="0"/>
          </a:p>
        </p:txBody>
      </p:sp>
      <p:sp>
        <p:nvSpPr>
          <p:cNvPr id="10" name="Text 8"/>
          <p:cNvSpPr/>
          <p:nvPr/>
        </p:nvSpPr>
        <p:spPr>
          <a:xfrm>
            <a:off x="4580781" y="3157538"/>
            <a:ext cx="400050" cy="5834063"/>
          </a:xfrm>
          <a:prstGeom prst="rect">
            <a:avLst/>
          </a:prstGeom>
          <a:noFill/>
          <a:ln/>
        </p:spPr>
        <p:txBody>
          <a:bodyPr wrap="square" lIns="25400" tIns="25400" rIns="25400" bIns="25400" rtlCol="0" anchor="ctr">
            <a:normAutofit/>
          </a:bodyPr>
          <a:lstStyle/>
          <a:p>
            <a:pPr algn="l" indent="0" marL="0">
              <a:buNone/>
            </a:pPr>
            <a:r>
              <a:rPr lang="en-US" sz="2550" dirty="0">
                <a:solidFill>
                  <a:srgbClr val="C3BBAC"/>
                </a:solidFill>
                <a:latin typeface="Georgia" pitchFamily="34" charset="0"/>
                <a:ea typeface="Georgia" pitchFamily="34" charset="-122"/>
                <a:cs typeface="Georgia" pitchFamily="34" charset="-120"/>
              </a:rPr>
              <a:t>→</a:t>
            </a:r>
            <a:endParaRPr lang="en-US" sz="2550" dirty="0"/>
          </a:p>
        </p:txBody>
      </p:sp>
      <p:sp>
        <p:nvSpPr>
          <p:cNvPr id="11" name="Text 9"/>
          <p:cNvSpPr/>
          <p:nvPr/>
        </p:nvSpPr>
        <p:spPr>
          <a:xfrm>
            <a:off x="5228481" y="3157538"/>
            <a:ext cx="4132064" cy="276225"/>
          </a:xfrm>
          <a:prstGeom prst="rect">
            <a:avLst/>
          </a:prstGeom>
          <a:noFill/>
          <a:ln/>
        </p:spPr>
        <p:txBody>
          <a:bodyPr wrap="square" lIns="25400" tIns="25400" rIns="25400" bIns="25400" rtlCol="0" anchor="t">
            <a:normAutofit/>
          </a:bodyPr>
          <a:lstStyle/>
          <a:p>
            <a:pPr algn="l" indent="0" marL="0">
              <a:buNone/>
            </a:pPr>
            <a:r>
              <a:rPr lang="en-US" sz="1575" spc="79" kern="0" dirty="0">
                <a:solidFill>
                  <a:srgbClr val="8C7A3F"/>
                </a:solidFill>
                <a:latin typeface="Courier New" pitchFamily="34" charset="0"/>
                <a:ea typeface="Courier New" pitchFamily="34" charset="-122"/>
                <a:cs typeface="Courier New" pitchFamily="34" charset="-120"/>
              </a:rPr>
              <a:t>② 서비스</a:t>
            </a:r>
            <a:endParaRPr lang="en-US" sz="1575" dirty="0"/>
          </a:p>
        </p:txBody>
      </p:sp>
      <p:sp>
        <p:nvSpPr>
          <p:cNvPr id="12" name="Text 10"/>
          <p:cNvSpPr/>
          <p:nvPr/>
        </p:nvSpPr>
        <p:spPr>
          <a:xfrm>
            <a:off x="5228481" y="3490913"/>
            <a:ext cx="413206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9A968C"/>
                </a:solidFill>
                <a:latin typeface="Georgia" pitchFamily="34" charset="0"/>
                <a:ea typeface="Georgia" pitchFamily="34" charset="-122"/>
                <a:cs typeface="Georgia" pitchFamily="34" charset="-120"/>
              </a:rPr>
              <a:t>Service Layer</a:t>
            </a:r>
            <a:endParaRPr lang="en-US" sz="1800" dirty="0"/>
          </a:p>
        </p:txBody>
      </p:sp>
      <p:sp>
        <p:nvSpPr>
          <p:cNvPr id="13" name="Shape 11"/>
          <p:cNvSpPr/>
          <p:nvPr/>
        </p:nvSpPr>
        <p:spPr>
          <a:xfrm>
            <a:off x="5228481" y="4020443"/>
            <a:ext cx="3756422" cy="495300"/>
          </a:xfrm>
          <a:prstGeom prst="rect">
            <a:avLst/>
          </a:prstGeom>
          <a:ln w="9525">
            <a:solidFill>
              <a:srgbClr val="C9D4E6"/>
            </a:solidFill>
            <a:prstDash val="solid"/>
          </a:ln>
        </p:spPr>
      </p:sp>
      <p:sp>
        <p:nvSpPr>
          <p:cNvPr id="14" name="Text 12"/>
          <p:cNvSpPr/>
          <p:nvPr/>
        </p:nvSpPr>
        <p:spPr>
          <a:xfrm>
            <a:off x="5390406" y="4144268"/>
            <a:ext cx="3545265" cy="285750"/>
          </a:xfrm>
          <a:prstGeom prst="rect">
            <a:avLst/>
          </a:prstGeom>
          <a:noFill/>
          <a:ln/>
        </p:spPr>
        <p:txBody>
          <a:bodyPr wrap="square" lIns="25400" tIns="25400" rIns="25400" bIns="25400" rtlCol="0" anchor="t">
            <a:normAutofit/>
          </a:bodyPr>
          <a:lstStyle/>
          <a:p>
            <a:pPr algn="l" indent="0" marL="0">
              <a:buNone/>
            </a:pPr>
            <a:r>
              <a:rPr lang="en-US" sz="1725" dirty="0">
                <a:solidFill>
                  <a:srgbClr val="2155A4"/>
                </a:solidFill>
                <a:latin typeface="Courier New" pitchFamily="34" charset="0"/>
                <a:ea typeface="Courier New" pitchFamily="34" charset="-122"/>
                <a:cs typeface="Courier New" pitchFamily="34" charset="-120"/>
              </a:rPr>
              <a:t>ChatService</a:t>
            </a:r>
            <a:endParaRPr lang="en-US" sz="1725" dirty="0"/>
          </a:p>
        </p:txBody>
      </p:sp>
      <p:sp>
        <p:nvSpPr>
          <p:cNvPr id="15" name="Shape 13"/>
          <p:cNvSpPr/>
          <p:nvPr/>
        </p:nvSpPr>
        <p:spPr>
          <a:xfrm>
            <a:off x="5228481" y="4630043"/>
            <a:ext cx="3756422" cy="495300"/>
          </a:xfrm>
          <a:prstGeom prst="rect">
            <a:avLst/>
          </a:prstGeom>
          <a:ln w="9525">
            <a:solidFill>
              <a:srgbClr val="C9D4E6"/>
            </a:solidFill>
            <a:prstDash val="solid"/>
          </a:ln>
        </p:spPr>
      </p:sp>
      <p:sp>
        <p:nvSpPr>
          <p:cNvPr id="16" name="Text 14"/>
          <p:cNvSpPr/>
          <p:nvPr/>
        </p:nvSpPr>
        <p:spPr>
          <a:xfrm>
            <a:off x="5390406" y="4753868"/>
            <a:ext cx="3545265" cy="285750"/>
          </a:xfrm>
          <a:prstGeom prst="rect">
            <a:avLst/>
          </a:prstGeom>
          <a:noFill/>
          <a:ln/>
        </p:spPr>
        <p:txBody>
          <a:bodyPr wrap="square" lIns="25400" tIns="25400" rIns="25400" bIns="25400" rtlCol="0" anchor="t">
            <a:normAutofit/>
          </a:bodyPr>
          <a:lstStyle/>
          <a:p>
            <a:pPr algn="l" indent="0" marL="0">
              <a:buNone/>
            </a:pPr>
            <a:r>
              <a:rPr lang="en-US" sz="1725" dirty="0">
                <a:solidFill>
                  <a:srgbClr val="2155A4"/>
                </a:solidFill>
                <a:latin typeface="Courier New" pitchFamily="34" charset="0"/>
                <a:ea typeface="Courier New" pitchFamily="34" charset="-122"/>
                <a:cs typeface="Courier New" pitchFamily="34" charset="-120"/>
              </a:rPr>
              <a:t>MessageService</a:t>
            </a:r>
            <a:endParaRPr lang="en-US" sz="1725" dirty="0"/>
          </a:p>
        </p:txBody>
      </p:sp>
      <p:sp>
        <p:nvSpPr>
          <p:cNvPr id="17" name="Shape 15"/>
          <p:cNvSpPr/>
          <p:nvPr/>
        </p:nvSpPr>
        <p:spPr>
          <a:xfrm>
            <a:off x="5228481" y="5239643"/>
            <a:ext cx="3756422" cy="495300"/>
          </a:xfrm>
          <a:prstGeom prst="rect">
            <a:avLst/>
          </a:prstGeom>
          <a:ln w="9525">
            <a:solidFill>
              <a:srgbClr val="C9D4E6"/>
            </a:solidFill>
            <a:prstDash val="solid"/>
          </a:ln>
        </p:spPr>
      </p:sp>
      <p:sp>
        <p:nvSpPr>
          <p:cNvPr id="18" name="Text 16"/>
          <p:cNvSpPr/>
          <p:nvPr/>
        </p:nvSpPr>
        <p:spPr>
          <a:xfrm>
            <a:off x="5390406" y="5363468"/>
            <a:ext cx="3545265" cy="285750"/>
          </a:xfrm>
          <a:prstGeom prst="rect">
            <a:avLst/>
          </a:prstGeom>
          <a:noFill/>
          <a:ln/>
        </p:spPr>
        <p:txBody>
          <a:bodyPr wrap="square" lIns="25400" tIns="25400" rIns="25400" bIns="25400" rtlCol="0" anchor="t">
            <a:normAutofit/>
          </a:bodyPr>
          <a:lstStyle/>
          <a:p>
            <a:pPr algn="l" indent="0" marL="0">
              <a:buNone/>
            </a:pPr>
            <a:r>
              <a:rPr lang="en-US" sz="1725" dirty="0">
                <a:solidFill>
                  <a:srgbClr val="2155A4"/>
                </a:solidFill>
                <a:latin typeface="Courier New" pitchFamily="34" charset="0"/>
                <a:ea typeface="Courier New" pitchFamily="34" charset="-122"/>
                <a:cs typeface="Courier New" pitchFamily="34" charset="-120"/>
              </a:rPr>
              <a:t>ContextAssembler</a:t>
            </a:r>
            <a:endParaRPr lang="en-US" sz="1725" dirty="0"/>
          </a:p>
        </p:txBody>
      </p:sp>
      <p:sp>
        <p:nvSpPr>
          <p:cNvPr id="19" name="Shape 17"/>
          <p:cNvSpPr/>
          <p:nvPr/>
        </p:nvSpPr>
        <p:spPr>
          <a:xfrm>
            <a:off x="5228481" y="5849243"/>
            <a:ext cx="3756422" cy="495300"/>
          </a:xfrm>
          <a:prstGeom prst="rect">
            <a:avLst/>
          </a:prstGeom>
          <a:ln w="9525">
            <a:solidFill>
              <a:srgbClr val="C9D4E6"/>
            </a:solidFill>
            <a:prstDash val="solid"/>
          </a:ln>
        </p:spPr>
      </p:sp>
      <p:sp>
        <p:nvSpPr>
          <p:cNvPr id="20" name="Text 18"/>
          <p:cNvSpPr/>
          <p:nvPr/>
        </p:nvSpPr>
        <p:spPr>
          <a:xfrm>
            <a:off x="5390406" y="5973068"/>
            <a:ext cx="3545265" cy="285750"/>
          </a:xfrm>
          <a:prstGeom prst="rect">
            <a:avLst/>
          </a:prstGeom>
          <a:noFill/>
          <a:ln/>
        </p:spPr>
        <p:txBody>
          <a:bodyPr wrap="square" lIns="25400" tIns="25400" rIns="25400" bIns="25400" rtlCol="0" anchor="t">
            <a:normAutofit/>
          </a:bodyPr>
          <a:lstStyle/>
          <a:p>
            <a:pPr algn="l" indent="0" marL="0">
              <a:buNone/>
            </a:pPr>
            <a:r>
              <a:rPr lang="en-US" sz="1725" dirty="0">
                <a:solidFill>
                  <a:srgbClr val="2155A4"/>
                </a:solidFill>
                <a:latin typeface="Courier New" pitchFamily="34" charset="0"/>
                <a:ea typeface="Courier New" pitchFamily="34" charset="-122"/>
                <a:cs typeface="Courier New" pitchFamily="34" charset="-120"/>
              </a:rPr>
              <a:t>GraphService</a:t>
            </a:r>
            <a:endParaRPr lang="en-US" sz="1725" dirty="0"/>
          </a:p>
        </p:txBody>
      </p:sp>
      <p:sp>
        <p:nvSpPr>
          <p:cNvPr id="21" name="Text 19"/>
          <p:cNvSpPr/>
          <p:nvPr/>
        </p:nvSpPr>
        <p:spPr>
          <a:xfrm>
            <a:off x="9308753" y="3157538"/>
            <a:ext cx="400050" cy="5834063"/>
          </a:xfrm>
          <a:prstGeom prst="rect">
            <a:avLst/>
          </a:prstGeom>
          <a:noFill/>
          <a:ln/>
        </p:spPr>
        <p:txBody>
          <a:bodyPr wrap="square" lIns="25400" tIns="25400" rIns="25400" bIns="25400" rtlCol="0" anchor="ctr">
            <a:normAutofit/>
          </a:bodyPr>
          <a:lstStyle/>
          <a:p>
            <a:pPr algn="l" indent="0" marL="0">
              <a:buNone/>
            </a:pPr>
            <a:r>
              <a:rPr lang="en-US" sz="2550" dirty="0">
                <a:solidFill>
                  <a:srgbClr val="C3BBAC"/>
                </a:solidFill>
                <a:latin typeface="Georgia" pitchFamily="34" charset="0"/>
                <a:ea typeface="Georgia" pitchFamily="34" charset="-122"/>
                <a:cs typeface="Georgia" pitchFamily="34" charset="-120"/>
              </a:rPr>
              <a:t>→</a:t>
            </a:r>
            <a:endParaRPr lang="en-US" sz="2550" dirty="0"/>
          </a:p>
        </p:txBody>
      </p:sp>
      <p:sp>
        <p:nvSpPr>
          <p:cNvPr id="22" name="Text 20"/>
          <p:cNvSpPr/>
          <p:nvPr/>
        </p:nvSpPr>
        <p:spPr>
          <a:xfrm>
            <a:off x="9956453" y="3157538"/>
            <a:ext cx="3592964" cy="276225"/>
          </a:xfrm>
          <a:prstGeom prst="rect">
            <a:avLst/>
          </a:prstGeom>
          <a:noFill/>
          <a:ln/>
        </p:spPr>
        <p:txBody>
          <a:bodyPr wrap="square" lIns="25400" tIns="25400" rIns="25400" bIns="25400" rtlCol="0" anchor="t">
            <a:normAutofit/>
          </a:bodyPr>
          <a:lstStyle/>
          <a:p>
            <a:pPr algn="l" indent="0" marL="0">
              <a:buNone/>
            </a:pPr>
            <a:r>
              <a:rPr lang="en-US" sz="1575" spc="79" kern="0" dirty="0">
                <a:solidFill>
                  <a:srgbClr val="8C7A3F"/>
                </a:solidFill>
                <a:latin typeface="Courier New" pitchFamily="34" charset="0"/>
                <a:ea typeface="Courier New" pitchFamily="34" charset="-122"/>
                <a:cs typeface="Courier New" pitchFamily="34" charset="-120"/>
              </a:rPr>
              <a:t>③ 도메인</a:t>
            </a:r>
            <a:endParaRPr lang="en-US" sz="1575" dirty="0"/>
          </a:p>
        </p:txBody>
      </p:sp>
      <p:sp>
        <p:nvSpPr>
          <p:cNvPr id="23" name="Text 21"/>
          <p:cNvSpPr/>
          <p:nvPr/>
        </p:nvSpPr>
        <p:spPr>
          <a:xfrm>
            <a:off x="9956453" y="3490913"/>
            <a:ext cx="359296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9A968C"/>
                </a:solidFill>
                <a:latin typeface="Georgia" pitchFamily="34" charset="0"/>
                <a:ea typeface="Georgia" pitchFamily="34" charset="-122"/>
                <a:cs typeface="Georgia" pitchFamily="34" charset="-120"/>
              </a:rPr>
              <a:t>Domain Layer</a:t>
            </a:r>
            <a:endParaRPr lang="en-US" sz="1800" dirty="0"/>
          </a:p>
        </p:txBody>
      </p:sp>
      <p:sp>
        <p:nvSpPr>
          <p:cNvPr id="24" name="Shape 22"/>
          <p:cNvSpPr/>
          <p:nvPr/>
        </p:nvSpPr>
        <p:spPr>
          <a:xfrm>
            <a:off x="9956453" y="4020443"/>
            <a:ext cx="788789" cy="447675"/>
          </a:xfrm>
          <a:prstGeom prst="rect">
            <a:avLst/>
          </a:prstGeom>
          <a:ln w="9525">
            <a:solidFill>
              <a:srgbClr val="E4E0D6"/>
            </a:solidFill>
            <a:prstDash val="solid"/>
          </a:ln>
        </p:spPr>
      </p:sp>
      <p:sp>
        <p:nvSpPr>
          <p:cNvPr id="25" name="Text 23"/>
          <p:cNvSpPr/>
          <p:nvPr/>
        </p:nvSpPr>
        <p:spPr>
          <a:xfrm>
            <a:off x="10099328" y="4125218"/>
            <a:ext cx="579239" cy="276225"/>
          </a:xfrm>
          <a:prstGeom prst="rect">
            <a:avLst/>
          </a:prstGeom>
          <a:noFill/>
          <a:ln/>
        </p:spPr>
        <p:txBody>
          <a:bodyPr wrap="square" lIns="25400" tIns="25400" rIns="25400" bIns="25400" rtlCol="0" anchor="t">
            <a:normAutofit/>
          </a:bodyPr>
          <a:lstStyle/>
          <a:p>
            <a:pPr algn="l" indent="0" marL="0">
              <a:buNone/>
            </a:pPr>
            <a:r>
              <a:rPr lang="en-US" sz="1650" dirty="0">
                <a:solidFill>
                  <a:srgbClr val="20201E"/>
                </a:solidFill>
                <a:latin typeface="Courier New" pitchFamily="34" charset="0"/>
                <a:ea typeface="Courier New" pitchFamily="34" charset="-122"/>
                <a:cs typeface="Courier New" pitchFamily="34" charset="-120"/>
              </a:rPr>
              <a:t>Chat</a:t>
            </a:r>
            <a:endParaRPr lang="en-US" sz="1650" dirty="0"/>
          </a:p>
        </p:txBody>
      </p:sp>
      <p:sp>
        <p:nvSpPr>
          <p:cNvPr id="26" name="Shape 24"/>
          <p:cNvSpPr/>
          <p:nvPr/>
        </p:nvSpPr>
        <p:spPr>
          <a:xfrm>
            <a:off x="10840492" y="4020443"/>
            <a:ext cx="788789" cy="447675"/>
          </a:xfrm>
          <a:prstGeom prst="rect">
            <a:avLst/>
          </a:prstGeom>
          <a:ln w="9525">
            <a:solidFill>
              <a:srgbClr val="E4E0D6"/>
            </a:solidFill>
            <a:prstDash val="solid"/>
          </a:ln>
        </p:spPr>
      </p:sp>
      <p:sp>
        <p:nvSpPr>
          <p:cNvPr id="27" name="Text 25"/>
          <p:cNvSpPr/>
          <p:nvPr/>
        </p:nvSpPr>
        <p:spPr>
          <a:xfrm>
            <a:off x="10983367" y="4125218"/>
            <a:ext cx="579239" cy="276225"/>
          </a:xfrm>
          <a:prstGeom prst="rect">
            <a:avLst/>
          </a:prstGeom>
          <a:noFill/>
          <a:ln/>
        </p:spPr>
        <p:txBody>
          <a:bodyPr wrap="square" lIns="25400" tIns="25400" rIns="25400" bIns="25400" rtlCol="0" anchor="t">
            <a:normAutofit/>
          </a:bodyPr>
          <a:lstStyle/>
          <a:p>
            <a:pPr algn="l" indent="0" marL="0">
              <a:buNone/>
            </a:pPr>
            <a:r>
              <a:rPr lang="en-US" sz="1650" dirty="0">
                <a:solidFill>
                  <a:srgbClr val="20201E"/>
                </a:solidFill>
                <a:latin typeface="Courier New" pitchFamily="34" charset="0"/>
                <a:ea typeface="Courier New" pitchFamily="34" charset="-122"/>
                <a:cs typeface="Courier New" pitchFamily="34" charset="-120"/>
              </a:rPr>
              <a:t>Turn</a:t>
            </a:r>
            <a:endParaRPr lang="en-US" sz="1650" dirty="0"/>
          </a:p>
        </p:txBody>
      </p:sp>
      <p:sp>
        <p:nvSpPr>
          <p:cNvPr id="28" name="Shape 26"/>
          <p:cNvSpPr/>
          <p:nvPr/>
        </p:nvSpPr>
        <p:spPr>
          <a:xfrm>
            <a:off x="11724531" y="4020443"/>
            <a:ext cx="1166068" cy="447675"/>
          </a:xfrm>
          <a:prstGeom prst="rect">
            <a:avLst/>
          </a:prstGeom>
          <a:ln w="9525">
            <a:solidFill>
              <a:srgbClr val="E4E0D6"/>
            </a:solidFill>
            <a:prstDash val="solid"/>
          </a:ln>
        </p:spPr>
      </p:sp>
      <p:sp>
        <p:nvSpPr>
          <p:cNvPr id="29" name="Text 27"/>
          <p:cNvSpPr/>
          <p:nvPr/>
        </p:nvSpPr>
        <p:spPr>
          <a:xfrm>
            <a:off x="11867406" y="4125218"/>
            <a:ext cx="956518" cy="276225"/>
          </a:xfrm>
          <a:prstGeom prst="rect">
            <a:avLst/>
          </a:prstGeom>
          <a:noFill/>
          <a:ln/>
        </p:spPr>
        <p:txBody>
          <a:bodyPr wrap="square" lIns="25400" tIns="25400" rIns="25400" bIns="25400" rtlCol="0" anchor="t">
            <a:normAutofit/>
          </a:bodyPr>
          <a:lstStyle/>
          <a:p>
            <a:pPr algn="l" indent="0" marL="0">
              <a:buNone/>
            </a:pPr>
            <a:r>
              <a:rPr lang="en-US" sz="1650" dirty="0">
                <a:solidFill>
                  <a:srgbClr val="20201E"/>
                </a:solidFill>
                <a:latin typeface="Courier New" pitchFamily="34" charset="0"/>
                <a:ea typeface="Courier New" pitchFamily="34" charset="-122"/>
                <a:cs typeface="Courier New" pitchFamily="34" charset="-120"/>
              </a:rPr>
              <a:t>Message</a:t>
            </a:r>
            <a:endParaRPr lang="en-US" sz="1650" dirty="0"/>
          </a:p>
        </p:txBody>
      </p:sp>
      <p:sp>
        <p:nvSpPr>
          <p:cNvPr id="30" name="Shape 28"/>
          <p:cNvSpPr/>
          <p:nvPr/>
        </p:nvSpPr>
        <p:spPr>
          <a:xfrm>
            <a:off x="9956453" y="4563368"/>
            <a:ext cx="1040309" cy="447675"/>
          </a:xfrm>
          <a:prstGeom prst="rect">
            <a:avLst/>
          </a:prstGeom>
          <a:ln w="9525">
            <a:solidFill>
              <a:srgbClr val="E4E0D6"/>
            </a:solidFill>
            <a:prstDash val="solid"/>
          </a:ln>
        </p:spPr>
      </p:sp>
      <p:sp>
        <p:nvSpPr>
          <p:cNvPr id="31" name="Text 29"/>
          <p:cNvSpPr/>
          <p:nvPr/>
        </p:nvSpPr>
        <p:spPr>
          <a:xfrm>
            <a:off x="10099328" y="4668143"/>
            <a:ext cx="830759" cy="276225"/>
          </a:xfrm>
          <a:prstGeom prst="rect">
            <a:avLst/>
          </a:prstGeom>
          <a:noFill/>
          <a:ln/>
        </p:spPr>
        <p:txBody>
          <a:bodyPr wrap="square" lIns="25400" tIns="25400" rIns="25400" bIns="25400" rtlCol="0" anchor="t">
            <a:normAutofit/>
          </a:bodyPr>
          <a:lstStyle/>
          <a:p>
            <a:pPr algn="l" indent="0" marL="0">
              <a:buNone/>
            </a:pPr>
            <a:r>
              <a:rPr lang="en-US" sz="1650" dirty="0">
                <a:solidFill>
                  <a:srgbClr val="20201E"/>
                </a:solidFill>
                <a:latin typeface="Courier New" pitchFamily="34" charset="0"/>
                <a:ea typeface="Courier New" pitchFamily="34" charset="-122"/>
                <a:cs typeface="Courier New" pitchFamily="34" charset="-120"/>
              </a:rPr>
              <a:t>Member</a:t>
            </a:r>
            <a:endParaRPr lang="en-US" sz="1650" dirty="0"/>
          </a:p>
        </p:txBody>
      </p:sp>
      <p:sp>
        <p:nvSpPr>
          <p:cNvPr id="32" name="Shape 30"/>
          <p:cNvSpPr/>
          <p:nvPr/>
        </p:nvSpPr>
        <p:spPr>
          <a:xfrm>
            <a:off x="11092011" y="4563368"/>
            <a:ext cx="788789" cy="447675"/>
          </a:xfrm>
          <a:prstGeom prst="rect">
            <a:avLst/>
          </a:prstGeom>
          <a:ln w="9525">
            <a:solidFill>
              <a:srgbClr val="E4E0D6"/>
            </a:solidFill>
            <a:prstDash val="solid"/>
          </a:ln>
        </p:spPr>
      </p:sp>
      <p:sp>
        <p:nvSpPr>
          <p:cNvPr id="33" name="Text 31"/>
          <p:cNvSpPr/>
          <p:nvPr/>
        </p:nvSpPr>
        <p:spPr>
          <a:xfrm>
            <a:off x="11234886" y="4668143"/>
            <a:ext cx="579239" cy="276225"/>
          </a:xfrm>
          <a:prstGeom prst="rect">
            <a:avLst/>
          </a:prstGeom>
          <a:noFill/>
          <a:ln/>
        </p:spPr>
        <p:txBody>
          <a:bodyPr wrap="square" lIns="25400" tIns="25400" rIns="25400" bIns="25400" rtlCol="0" anchor="t">
            <a:normAutofit/>
          </a:bodyPr>
          <a:lstStyle/>
          <a:p>
            <a:pPr algn="l" indent="0" marL="0">
              <a:buNone/>
            </a:pPr>
            <a:r>
              <a:rPr lang="en-US" sz="1650" dirty="0">
                <a:solidFill>
                  <a:srgbClr val="20201E"/>
                </a:solidFill>
                <a:latin typeface="Courier New" pitchFamily="34" charset="0"/>
                <a:ea typeface="Courier New" pitchFamily="34" charset="-122"/>
                <a:cs typeface="Courier New" pitchFamily="34" charset="-120"/>
              </a:rPr>
              <a:t>Plan</a:t>
            </a:r>
            <a:endParaRPr lang="en-US" sz="1650" dirty="0"/>
          </a:p>
        </p:txBody>
      </p:sp>
      <p:sp>
        <p:nvSpPr>
          <p:cNvPr id="34" name="Shape 32"/>
          <p:cNvSpPr/>
          <p:nvPr/>
        </p:nvSpPr>
        <p:spPr>
          <a:xfrm>
            <a:off x="9956453" y="5106293"/>
            <a:ext cx="1669107" cy="447675"/>
          </a:xfrm>
          <a:prstGeom prst="rect">
            <a:avLst/>
          </a:prstGeom>
          <a:ln w="9525">
            <a:solidFill>
              <a:srgbClr val="E4E0D6"/>
            </a:solidFill>
            <a:prstDash val="solid"/>
          </a:ln>
        </p:spPr>
      </p:sp>
      <p:sp>
        <p:nvSpPr>
          <p:cNvPr id="35" name="Text 33"/>
          <p:cNvSpPr/>
          <p:nvPr/>
        </p:nvSpPr>
        <p:spPr>
          <a:xfrm>
            <a:off x="10099328" y="5211068"/>
            <a:ext cx="1459557" cy="276225"/>
          </a:xfrm>
          <a:prstGeom prst="rect">
            <a:avLst/>
          </a:prstGeom>
          <a:noFill/>
          <a:ln/>
        </p:spPr>
        <p:txBody>
          <a:bodyPr wrap="square" lIns="25400" tIns="25400" rIns="25400" bIns="25400" rtlCol="0" anchor="t">
            <a:normAutofit/>
          </a:bodyPr>
          <a:lstStyle/>
          <a:p>
            <a:pPr algn="l" indent="0" marL="0">
              <a:buNone/>
            </a:pPr>
            <a:r>
              <a:rPr lang="en-US" sz="1650" dirty="0">
                <a:solidFill>
                  <a:srgbClr val="20201E"/>
                </a:solidFill>
                <a:latin typeface="Courier New" pitchFamily="34" charset="0"/>
                <a:ea typeface="Courier New" pitchFamily="34" charset="-122"/>
                <a:cs typeface="Courier New" pitchFamily="34" charset="-120"/>
              </a:rPr>
              <a:t>UsageRecord</a:t>
            </a:r>
            <a:endParaRPr lang="en-US" sz="1650" dirty="0"/>
          </a:p>
        </p:txBody>
      </p:sp>
      <p:sp>
        <p:nvSpPr>
          <p:cNvPr id="36" name="Text 34"/>
          <p:cNvSpPr/>
          <p:nvPr/>
        </p:nvSpPr>
        <p:spPr>
          <a:xfrm>
            <a:off x="13546634" y="3157538"/>
            <a:ext cx="400050" cy="5834063"/>
          </a:xfrm>
          <a:prstGeom prst="rect">
            <a:avLst/>
          </a:prstGeom>
          <a:noFill/>
          <a:ln/>
        </p:spPr>
        <p:txBody>
          <a:bodyPr wrap="square" lIns="25400" tIns="25400" rIns="25400" bIns="25400" rtlCol="0" anchor="ctr">
            <a:normAutofit/>
          </a:bodyPr>
          <a:lstStyle/>
          <a:p>
            <a:pPr algn="l" indent="0" marL="0">
              <a:buNone/>
            </a:pPr>
            <a:r>
              <a:rPr lang="en-US" sz="2550" dirty="0">
                <a:solidFill>
                  <a:srgbClr val="C3BBAC"/>
                </a:solidFill>
                <a:latin typeface="Georgia" pitchFamily="34" charset="0"/>
                <a:ea typeface="Georgia" pitchFamily="34" charset="-122"/>
                <a:cs typeface="Georgia" pitchFamily="34" charset="-120"/>
              </a:rPr>
              <a:t>→</a:t>
            </a:r>
            <a:endParaRPr lang="en-US" sz="2550" dirty="0"/>
          </a:p>
        </p:txBody>
      </p:sp>
      <p:sp>
        <p:nvSpPr>
          <p:cNvPr id="37" name="Text 35"/>
          <p:cNvSpPr/>
          <p:nvPr/>
        </p:nvSpPr>
        <p:spPr>
          <a:xfrm>
            <a:off x="14194334" y="3157538"/>
            <a:ext cx="3413373" cy="276225"/>
          </a:xfrm>
          <a:prstGeom prst="rect">
            <a:avLst/>
          </a:prstGeom>
          <a:noFill/>
          <a:ln/>
        </p:spPr>
        <p:txBody>
          <a:bodyPr wrap="square" lIns="25400" tIns="25400" rIns="25400" bIns="25400" rtlCol="0" anchor="t">
            <a:normAutofit/>
          </a:bodyPr>
          <a:lstStyle/>
          <a:p>
            <a:pPr algn="l" indent="0" marL="0">
              <a:buNone/>
            </a:pPr>
            <a:r>
              <a:rPr lang="en-US" sz="1575" spc="79" kern="0" dirty="0">
                <a:solidFill>
                  <a:srgbClr val="8C7A3F"/>
                </a:solidFill>
                <a:latin typeface="Courier New" pitchFamily="34" charset="0"/>
                <a:ea typeface="Courier New" pitchFamily="34" charset="-122"/>
                <a:cs typeface="Courier New" pitchFamily="34" charset="-120"/>
              </a:rPr>
              <a:t>④ 외부 통신</a:t>
            </a:r>
            <a:endParaRPr lang="en-US" sz="1575" dirty="0"/>
          </a:p>
        </p:txBody>
      </p:sp>
      <p:sp>
        <p:nvSpPr>
          <p:cNvPr id="38" name="Text 36"/>
          <p:cNvSpPr/>
          <p:nvPr/>
        </p:nvSpPr>
        <p:spPr>
          <a:xfrm>
            <a:off x="14194334" y="3490913"/>
            <a:ext cx="341337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9A968C"/>
                </a:solidFill>
                <a:latin typeface="Georgia" pitchFamily="34" charset="0"/>
                <a:ea typeface="Georgia" pitchFamily="34" charset="-122"/>
                <a:cs typeface="Georgia" pitchFamily="34" charset="-120"/>
              </a:rPr>
              <a:t>External</a:t>
            </a:r>
            <a:endParaRPr lang="en-US" sz="1800" dirty="0"/>
          </a:p>
        </p:txBody>
      </p:sp>
      <p:sp>
        <p:nvSpPr>
          <p:cNvPr id="39" name="Shape 37"/>
          <p:cNvSpPr/>
          <p:nvPr/>
        </p:nvSpPr>
        <p:spPr>
          <a:xfrm>
            <a:off x="14194334" y="4020443"/>
            <a:ext cx="3103066" cy="495300"/>
          </a:xfrm>
          <a:prstGeom prst="rect">
            <a:avLst/>
          </a:prstGeom>
          <a:solidFill>
            <a:srgbClr val="F8F5EE"/>
          </a:solidFill>
          <a:ln w="9525">
            <a:solidFill>
              <a:srgbClr val="E4E0D6"/>
            </a:solidFill>
            <a:prstDash val="solid"/>
          </a:ln>
        </p:spPr>
      </p:sp>
      <p:sp>
        <p:nvSpPr>
          <p:cNvPr id="40" name="Text 38"/>
          <p:cNvSpPr/>
          <p:nvPr/>
        </p:nvSpPr>
        <p:spPr>
          <a:xfrm>
            <a:off x="14356259" y="4144268"/>
            <a:ext cx="2872308" cy="285750"/>
          </a:xfrm>
          <a:prstGeom prst="rect">
            <a:avLst/>
          </a:prstGeom>
          <a:noFill/>
          <a:ln/>
        </p:spPr>
        <p:txBody>
          <a:bodyPr wrap="square" lIns="25400" tIns="25400" rIns="25400" bIns="25400" rtlCol="0" anchor="t">
            <a:normAutofit/>
          </a:bodyPr>
          <a:lstStyle/>
          <a:p>
            <a:pPr algn="l" indent="0" marL="0">
              <a:buNone/>
            </a:pPr>
            <a:r>
              <a:rPr lang="en-US" sz="1725" dirty="0">
                <a:solidFill>
                  <a:srgbClr val="20201E"/>
                </a:solidFill>
                <a:latin typeface="Courier New" pitchFamily="34" charset="0"/>
                <a:ea typeface="Courier New" pitchFamily="34" charset="-122"/>
                <a:cs typeface="Courier New" pitchFamily="34" charset="-120"/>
              </a:rPr>
              <a:t>AiServerClient</a:t>
            </a:r>
            <a:endParaRPr lang="en-US" sz="1725" dirty="0"/>
          </a:p>
        </p:txBody>
      </p:sp>
      <p:sp>
        <p:nvSpPr>
          <p:cNvPr id="41" name="Text 39"/>
          <p:cNvSpPr/>
          <p:nvPr/>
        </p:nvSpPr>
        <p:spPr>
          <a:xfrm>
            <a:off x="14039180" y="4630043"/>
            <a:ext cx="3413373"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C3BBAC"/>
                </a:solidFill>
                <a:latin typeface="Georgia" pitchFamily="34" charset="0"/>
                <a:ea typeface="Georgia" pitchFamily="34" charset="-122"/>
                <a:cs typeface="Georgia" pitchFamily="34" charset="-120"/>
              </a:rPr>
              <a:t>↓</a:t>
            </a:r>
            <a:endParaRPr lang="en-US" sz="1800" dirty="0"/>
          </a:p>
        </p:txBody>
      </p:sp>
      <p:sp>
        <p:nvSpPr>
          <p:cNvPr id="42" name="Shape 40"/>
          <p:cNvSpPr/>
          <p:nvPr/>
        </p:nvSpPr>
        <p:spPr>
          <a:xfrm>
            <a:off x="14194334" y="5011043"/>
            <a:ext cx="3103066" cy="495300"/>
          </a:xfrm>
          <a:prstGeom prst="rect">
            <a:avLst/>
          </a:prstGeom>
          <a:ln w="9525">
            <a:solidFill>
              <a:srgbClr val="C3BBAC"/>
            </a:solidFill>
            <a:prstDash val="dash"/>
          </a:ln>
        </p:spPr>
      </p:sp>
      <p:sp>
        <p:nvSpPr>
          <p:cNvPr id="43" name="Text 41"/>
          <p:cNvSpPr/>
          <p:nvPr/>
        </p:nvSpPr>
        <p:spPr>
          <a:xfrm>
            <a:off x="14309713" y="5134868"/>
            <a:ext cx="2872308" cy="285750"/>
          </a:xfrm>
          <a:prstGeom prst="rect">
            <a:avLst/>
          </a:prstGeom>
          <a:noFill/>
          <a:ln/>
        </p:spPr>
        <p:txBody>
          <a:bodyPr wrap="square" lIns="25400" tIns="25400" rIns="25400" bIns="25400" rtlCol="0" anchor="t">
            <a:normAutofit/>
          </a:bodyPr>
          <a:lstStyle/>
          <a:p>
            <a:pPr algn="ctr" indent="0" marL="0">
              <a:buNone/>
            </a:pPr>
            <a:r>
              <a:rPr lang="en-US" sz="1725" dirty="0">
                <a:solidFill>
                  <a:srgbClr val="8C7A3F"/>
                </a:solidFill>
                <a:latin typeface="Courier New" pitchFamily="34" charset="0"/>
                <a:ea typeface="Courier New" pitchFamily="34" charset="-122"/>
                <a:cs typeface="Courier New" pitchFamily="34" charset="-120"/>
              </a:rPr>
              <a:t>LLM</a:t>
            </a:r>
            <a:endParaRPr lang="en-US" sz="1725" dirty="0"/>
          </a:p>
        </p:txBody>
      </p:sp>
      <p:sp>
        <p:nvSpPr>
          <p:cNvPr id="44" name="Shape 42"/>
          <p:cNvSpPr/>
          <p:nvPr/>
        </p:nvSpPr>
        <p:spPr>
          <a:xfrm>
            <a:off x="990600" y="9239250"/>
            <a:ext cx="16306800" cy="9525"/>
          </a:xfrm>
          <a:prstGeom prst="rect">
            <a:avLst/>
          </a:prstGeom>
          <a:solidFill>
            <a:srgbClr val="E4E0D6"/>
          </a:solidFill>
          <a:ln/>
        </p:spPr>
      </p:sp>
      <p:sp>
        <p:nvSpPr>
          <p:cNvPr id="45" name="Text 43"/>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46" name="Text 44"/>
          <p:cNvSpPr/>
          <p:nvPr/>
        </p:nvSpPr>
        <p:spPr>
          <a:xfrm>
            <a:off x="15925502" y="9458325"/>
            <a:ext cx="1509087"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08 / Class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09 — REQUIREMENT MODELING</a:t>
            </a:r>
            <a:endParaRPr lang="en-US" sz="1875" dirty="0"/>
          </a:p>
        </p:txBody>
      </p:sp>
      <p:sp>
        <p:nvSpPr>
          <p:cNvPr id="3" name="Text 1"/>
          <p:cNvSpPr/>
          <p:nvPr/>
        </p:nvSpPr>
        <p:spPr>
          <a:xfrm>
            <a:off x="990600" y="1247775"/>
            <a:ext cx="17937480" cy="585788"/>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Sequence Diagram — 객체 간 협력 순서로 흐름을 구체화</a:t>
            </a:r>
            <a:endParaRPr lang="en-US" sz="3750" dirty="0"/>
          </a:p>
        </p:txBody>
      </p:sp>
      <p:sp>
        <p:nvSpPr>
          <p:cNvPr id="4" name="Shape 2"/>
          <p:cNvSpPr/>
          <p:nvPr/>
        </p:nvSpPr>
        <p:spPr>
          <a:xfrm>
            <a:off x="990600" y="2605088"/>
            <a:ext cx="7577138" cy="9525"/>
          </a:xfrm>
          <a:prstGeom prst="rect">
            <a:avLst/>
          </a:prstGeom>
          <a:solidFill>
            <a:srgbClr val="E4E0D6"/>
          </a:solidFill>
          <a:ln/>
        </p:spPr>
      </p:sp>
      <p:sp>
        <p:nvSpPr>
          <p:cNvPr id="5" name="Text 3"/>
          <p:cNvSpPr/>
          <p:nvPr/>
        </p:nvSpPr>
        <p:spPr>
          <a:xfrm>
            <a:off x="990600" y="2195513"/>
            <a:ext cx="7804452" cy="295275"/>
          </a:xfrm>
          <a:prstGeom prst="rect">
            <a:avLst/>
          </a:prstGeom>
          <a:noFill/>
          <a:ln/>
        </p:spPr>
        <p:txBody>
          <a:bodyPr wrap="square" lIns="25400" tIns="25400" rIns="25400" bIns="25400" rtlCol="0" anchor="t">
            <a:normAutofit/>
          </a:bodyPr>
          <a:lstStyle/>
          <a:p>
            <a:pPr algn="l" indent="0" marL="0">
              <a:buNone/>
            </a:pPr>
            <a:r>
              <a:rPr lang="en-US" sz="1650" spc="83" kern="0" dirty="0">
                <a:solidFill>
                  <a:srgbClr val="8C7A3F"/>
                </a:solidFill>
                <a:latin typeface="Courier New" pitchFamily="34" charset="0"/>
                <a:ea typeface="Courier New" pitchFamily="34" charset="-122"/>
                <a:cs typeface="Courier New" pitchFamily="34" charset="-120"/>
              </a:rPr>
              <a:t>A · 메시지 송신과 점진적 응답</a:t>
            </a:r>
            <a:endParaRPr lang="en-US" sz="1650" dirty="0"/>
          </a:p>
        </p:txBody>
      </p:sp>
      <p:sp>
        <p:nvSpPr>
          <p:cNvPr id="6" name="Text 4"/>
          <p:cNvSpPr/>
          <p:nvPr/>
        </p:nvSpPr>
        <p:spPr>
          <a:xfrm>
            <a:off x="990600" y="2976563"/>
            <a:ext cx="4000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9A968C"/>
                </a:solidFill>
                <a:latin typeface="Courier New" pitchFamily="34" charset="0"/>
                <a:ea typeface="Courier New" pitchFamily="34" charset="-122"/>
                <a:cs typeface="Courier New" pitchFamily="34" charset="-120"/>
              </a:rPr>
              <a:t>1</a:t>
            </a:r>
            <a:endParaRPr lang="en-US" sz="1575" dirty="0"/>
          </a:p>
        </p:txBody>
      </p:sp>
      <p:sp>
        <p:nvSpPr>
          <p:cNvPr id="7" name="Text 5"/>
          <p:cNvSpPr/>
          <p:nvPr/>
        </p:nvSpPr>
        <p:spPr>
          <a:xfrm>
            <a:off x="1485900" y="2909888"/>
            <a:ext cx="3990127" cy="358973"/>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2155A4"/>
                </a:solidFill>
                <a:latin typeface="Courier New" pitchFamily="34" charset="0"/>
                <a:ea typeface="Courier New" pitchFamily="34" charset="-122"/>
                <a:cs typeface="Courier New" pitchFamily="34" charset="-120"/>
              </a:rPr>
              <a:t>UserInterface </a:t>
            </a:r>
            <a:pPr algn="l" indent="0" marL="0">
              <a:lnSpc>
                <a:spcPct val="135000"/>
              </a:lnSpc>
              <a:buNone/>
            </a:pPr>
            <a:r>
              <a:rPr lang="en-US" sz="1800" dirty="0">
                <a:solidFill>
                  <a:srgbClr val="20201E"/>
                </a:solidFill>
                <a:latin typeface="Georgia" pitchFamily="34" charset="0"/>
                <a:ea typeface="Georgia" pitchFamily="34" charset="-122"/>
                <a:cs typeface="Georgia" pitchFamily="34" charset="-120"/>
              </a:rPr>
              <a:t>사용자 메시지 수신</a:t>
            </a:r>
            <a:endParaRPr lang="en-US" sz="1800" dirty="0"/>
          </a:p>
        </p:txBody>
      </p:sp>
      <p:sp>
        <p:nvSpPr>
          <p:cNvPr id="8" name="Shape 6"/>
          <p:cNvSpPr/>
          <p:nvPr/>
        </p:nvSpPr>
        <p:spPr>
          <a:xfrm>
            <a:off x="990600" y="3335536"/>
            <a:ext cx="7577138" cy="9525"/>
          </a:xfrm>
          <a:prstGeom prst="rect">
            <a:avLst/>
          </a:prstGeom>
          <a:solidFill>
            <a:srgbClr val="F0EDE4"/>
          </a:solidFill>
          <a:ln/>
        </p:spPr>
      </p:sp>
      <p:sp>
        <p:nvSpPr>
          <p:cNvPr id="9" name="Text 7"/>
          <p:cNvSpPr/>
          <p:nvPr/>
        </p:nvSpPr>
        <p:spPr>
          <a:xfrm>
            <a:off x="990600" y="3516511"/>
            <a:ext cx="4000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9A968C"/>
                </a:solidFill>
                <a:latin typeface="Courier New" pitchFamily="34" charset="0"/>
                <a:ea typeface="Courier New" pitchFamily="34" charset="-122"/>
                <a:cs typeface="Courier New" pitchFamily="34" charset="-120"/>
              </a:rPr>
              <a:t>2</a:t>
            </a:r>
            <a:endParaRPr lang="en-US" sz="1575" dirty="0"/>
          </a:p>
        </p:txBody>
      </p:sp>
      <p:sp>
        <p:nvSpPr>
          <p:cNvPr id="10" name="Text 8"/>
          <p:cNvSpPr/>
          <p:nvPr/>
        </p:nvSpPr>
        <p:spPr>
          <a:xfrm>
            <a:off x="1485900" y="3449836"/>
            <a:ext cx="4752201" cy="358973"/>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2155A4"/>
                </a:solidFill>
                <a:latin typeface="Courier New" pitchFamily="34" charset="0"/>
                <a:ea typeface="Courier New" pitchFamily="34" charset="-122"/>
                <a:cs typeface="Courier New" pitchFamily="34" charset="-120"/>
              </a:rPr>
              <a:t>MessageService </a:t>
            </a:r>
            <a:pPr algn="l" indent="0" marL="0">
              <a:lnSpc>
                <a:spcPct val="135000"/>
              </a:lnSpc>
              <a:buNone/>
            </a:pPr>
            <a:r>
              <a:rPr lang="en-US" sz="1800" dirty="0">
                <a:solidFill>
                  <a:srgbClr val="20201E"/>
                </a:solidFill>
                <a:latin typeface="Georgia" pitchFamily="34" charset="0"/>
                <a:ea typeface="Georgia" pitchFamily="34" charset="-122"/>
                <a:cs typeface="Georgia" pitchFamily="34" charset="-120"/>
              </a:rPr>
              <a:t>메시지 기록 후 맥락 요청</a:t>
            </a:r>
            <a:endParaRPr lang="en-US" sz="1800" dirty="0"/>
          </a:p>
        </p:txBody>
      </p:sp>
      <p:sp>
        <p:nvSpPr>
          <p:cNvPr id="11" name="Shape 9"/>
          <p:cNvSpPr/>
          <p:nvPr/>
        </p:nvSpPr>
        <p:spPr>
          <a:xfrm>
            <a:off x="990600" y="3875484"/>
            <a:ext cx="7577138" cy="9525"/>
          </a:xfrm>
          <a:prstGeom prst="rect">
            <a:avLst/>
          </a:prstGeom>
          <a:solidFill>
            <a:srgbClr val="F0EDE4"/>
          </a:solidFill>
          <a:ln/>
        </p:spPr>
      </p:sp>
      <p:sp>
        <p:nvSpPr>
          <p:cNvPr id="12" name="Text 10"/>
          <p:cNvSpPr/>
          <p:nvPr/>
        </p:nvSpPr>
        <p:spPr>
          <a:xfrm>
            <a:off x="990600" y="4056459"/>
            <a:ext cx="4000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9A968C"/>
                </a:solidFill>
                <a:latin typeface="Courier New" pitchFamily="34" charset="0"/>
                <a:ea typeface="Courier New" pitchFamily="34" charset="-122"/>
                <a:cs typeface="Courier New" pitchFamily="34" charset="-120"/>
              </a:rPr>
              <a:t>3</a:t>
            </a:r>
            <a:endParaRPr lang="en-US" sz="1575" dirty="0"/>
          </a:p>
        </p:txBody>
      </p:sp>
      <p:sp>
        <p:nvSpPr>
          <p:cNvPr id="13" name="Text 11"/>
          <p:cNvSpPr/>
          <p:nvPr/>
        </p:nvSpPr>
        <p:spPr>
          <a:xfrm>
            <a:off x="1485900" y="3989784"/>
            <a:ext cx="4465707" cy="358973"/>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2155A4"/>
                </a:solidFill>
                <a:latin typeface="Courier New" pitchFamily="34" charset="0"/>
                <a:ea typeface="Courier New" pitchFamily="34" charset="-122"/>
                <a:cs typeface="Courier New" pitchFamily="34" charset="-120"/>
              </a:rPr>
              <a:t>ContextAssembler </a:t>
            </a:r>
            <a:pPr algn="l" indent="0" marL="0">
              <a:lnSpc>
                <a:spcPct val="135000"/>
              </a:lnSpc>
              <a:buNone/>
            </a:pPr>
            <a:r>
              <a:rPr lang="en-US" sz="1800" dirty="0">
                <a:solidFill>
                  <a:srgbClr val="20201E"/>
                </a:solidFill>
                <a:latin typeface="Georgia" pitchFamily="34" charset="0"/>
                <a:ea typeface="Georgia" pitchFamily="34" charset="-122"/>
                <a:cs typeface="Georgia" pitchFamily="34" charset="-120"/>
              </a:rPr>
              <a:t>현재 흐름 맥락 구성</a:t>
            </a:r>
            <a:endParaRPr lang="en-US" sz="1800" dirty="0"/>
          </a:p>
        </p:txBody>
      </p:sp>
      <p:sp>
        <p:nvSpPr>
          <p:cNvPr id="14" name="Shape 12"/>
          <p:cNvSpPr/>
          <p:nvPr/>
        </p:nvSpPr>
        <p:spPr>
          <a:xfrm>
            <a:off x="990600" y="4415433"/>
            <a:ext cx="7577138" cy="9525"/>
          </a:xfrm>
          <a:prstGeom prst="rect">
            <a:avLst/>
          </a:prstGeom>
          <a:solidFill>
            <a:srgbClr val="F0EDE4"/>
          </a:solidFill>
          <a:ln/>
        </p:spPr>
      </p:sp>
      <p:sp>
        <p:nvSpPr>
          <p:cNvPr id="15" name="Text 13"/>
          <p:cNvSpPr/>
          <p:nvPr/>
        </p:nvSpPr>
        <p:spPr>
          <a:xfrm>
            <a:off x="990600" y="4596408"/>
            <a:ext cx="4000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9A968C"/>
                </a:solidFill>
                <a:latin typeface="Courier New" pitchFamily="34" charset="0"/>
                <a:ea typeface="Courier New" pitchFamily="34" charset="-122"/>
                <a:cs typeface="Courier New" pitchFamily="34" charset="-120"/>
              </a:rPr>
              <a:t>4</a:t>
            </a:r>
            <a:endParaRPr lang="en-US" sz="1575" dirty="0"/>
          </a:p>
        </p:txBody>
      </p:sp>
      <p:sp>
        <p:nvSpPr>
          <p:cNvPr id="16" name="Text 14"/>
          <p:cNvSpPr/>
          <p:nvPr/>
        </p:nvSpPr>
        <p:spPr>
          <a:xfrm>
            <a:off x="1485900" y="4529733"/>
            <a:ext cx="4265488" cy="358973"/>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2155A4"/>
                </a:solidFill>
                <a:latin typeface="Courier New" pitchFamily="34" charset="0"/>
                <a:ea typeface="Courier New" pitchFamily="34" charset="-122"/>
                <a:cs typeface="Courier New" pitchFamily="34" charset="-120"/>
              </a:rPr>
              <a:t>AiServerClient </a:t>
            </a:r>
            <a:pPr algn="l" indent="0" marL="0">
              <a:lnSpc>
                <a:spcPct val="135000"/>
              </a:lnSpc>
              <a:buNone/>
            </a:pPr>
            <a:r>
              <a:rPr lang="en-US" sz="1800" dirty="0">
                <a:solidFill>
                  <a:srgbClr val="20201E"/>
                </a:solidFill>
                <a:latin typeface="Georgia" pitchFamily="34" charset="0"/>
                <a:ea typeface="Georgia" pitchFamily="34" charset="-122"/>
                <a:cs typeface="Georgia" pitchFamily="34" charset="-120"/>
              </a:rPr>
              <a:t>→ AI 서버 응답 생성</a:t>
            </a:r>
            <a:endParaRPr lang="en-US" sz="1800" dirty="0"/>
          </a:p>
        </p:txBody>
      </p:sp>
      <p:sp>
        <p:nvSpPr>
          <p:cNvPr id="17" name="Shape 15"/>
          <p:cNvSpPr/>
          <p:nvPr/>
        </p:nvSpPr>
        <p:spPr>
          <a:xfrm>
            <a:off x="990600" y="4955381"/>
            <a:ext cx="7577138" cy="9525"/>
          </a:xfrm>
          <a:prstGeom prst="rect">
            <a:avLst/>
          </a:prstGeom>
          <a:solidFill>
            <a:srgbClr val="F0EDE4"/>
          </a:solidFill>
          <a:ln/>
        </p:spPr>
      </p:sp>
      <p:sp>
        <p:nvSpPr>
          <p:cNvPr id="18" name="Text 16"/>
          <p:cNvSpPr/>
          <p:nvPr/>
        </p:nvSpPr>
        <p:spPr>
          <a:xfrm>
            <a:off x="990600" y="5136356"/>
            <a:ext cx="4000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9A968C"/>
                </a:solidFill>
                <a:latin typeface="Courier New" pitchFamily="34" charset="0"/>
                <a:ea typeface="Courier New" pitchFamily="34" charset="-122"/>
                <a:cs typeface="Courier New" pitchFamily="34" charset="-120"/>
              </a:rPr>
              <a:t>5</a:t>
            </a:r>
            <a:endParaRPr lang="en-US" sz="1575" dirty="0"/>
          </a:p>
        </p:txBody>
      </p:sp>
      <p:sp>
        <p:nvSpPr>
          <p:cNvPr id="19" name="Text 17"/>
          <p:cNvSpPr/>
          <p:nvPr/>
        </p:nvSpPr>
        <p:spPr>
          <a:xfrm>
            <a:off x="1485900" y="5069681"/>
            <a:ext cx="4828163"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8C7A3F"/>
                </a:solidFill>
                <a:latin typeface="Georgia" pitchFamily="34" charset="0"/>
                <a:ea typeface="Georgia" pitchFamily="34" charset="-122"/>
                <a:cs typeface="Georgia" pitchFamily="34" charset="-120"/>
              </a:rPr>
              <a:t>SSE chunk </a:t>
            </a:r>
            <a:pPr algn="l" indent="0" marL="0">
              <a:lnSpc>
                <a:spcPct val="135000"/>
              </a:lnSpc>
              <a:buNone/>
            </a:pPr>
            <a:r>
              <a:rPr lang="en-US" sz="1800" dirty="0">
                <a:solidFill>
                  <a:srgbClr val="20201E"/>
                </a:solidFill>
                <a:latin typeface="Georgia" pitchFamily="34" charset="0"/>
                <a:ea typeface="Georgia" pitchFamily="34" charset="-122"/>
                <a:cs typeface="Georgia" pitchFamily="34" charset="-120"/>
              </a:rPr>
              <a:t>점진 표시 → Turn·Message 저장</a:t>
            </a:r>
            <a:endParaRPr lang="en-US" sz="1800" dirty="0"/>
          </a:p>
        </p:txBody>
      </p:sp>
      <p:sp>
        <p:nvSpPr>
          <p:cNvPr id="20" name="Shape 18"/>
          <p:cNvSpPr/>
          <p:nvPr/>
        </p:nvSpPr>
        <p:spPr>
          <a:xfrm>
            <a:off x="990600" y="8473976"/>
            <a:ext cx="7577138" cy="9525"/>
          </a:xfrm>
          <a:prstGeom prst="rect">
            <a:avLst/>
          </a:prstGeom>
          <a:solidFill>
            <a:srgbClr val="D6D2C6"/>
          </a:solidFill>
          <a:ln/>
        </p:spPr>
      </p:sp>
      <p:sp>
        <p:nvSpPr>
          <p:cNvPr id="21" name="Text 19"/>
          <p:cNvSpPr/>
          <p:nvPr/>
        </p:nvSpPr>
        <p:spPr>
          <a:xfrm>
            <a:off x="990600" y="8635901"/>
            <a:ext cx="7804452" cy="355699"/>
          </a:xfrm>
          <a:prstGeom prst="rect">
            <a:avLst/>
          </a:prstGeom>
          <a:noFill/>
          <a:ln/>
        </p:spPr>
        <p:txBody>
          <a:bodyPr wrap="square" lIns="25400" tIns="25400" rIns="25400" bIns="25400" rtlCol="0" anchor="t">
            <a:normAutofit/>
          </a:bodyPr>
          <a:lstStyle/>
          <a:p>
            <a:pPr algn="l" indent="0" marL="0">
              <a:lnSpc>
                <a:spcPct val="145000"/>
              </a:lnSpc>
              <a:buNone/>
            </a:pPr>
            <a:r>
              <a:rPr lang="en-US" sz="1725" i="1" dirty="0">
                <a:solidFill>
                  <a:srgbClr val="9A968C"/>
                </a:solidFill>
                <a:latin typeface="Georgia" pitchFamily="34" charset="0"/>
                <a:ea typeface="Georgia" pitchFamily="34" charset="-122"/>
                <a:cs typeface="Georgia" pitchFamily="34" charset="-120"/>
              </a:rPr>
              <a:t>새 대화 시작과 기존 세션 대화 작성에서 공통으로 사용</a:t>
            </a:r>
            <a:endParaRPr lang="en-US" sz="1725" dirty="0"/>
          </a:p>
        </p:txBody>
      </p:sp>
      <p:sp>
        <p:nvSpPr>
          <p:cNvPr id="22" name="Shape 20"/>
          <p:cNvSpPr/>
          <p:nvPr/>
        </p:nvSpPr>
        <p:spPr>
          <a:xfrm>
            <a:off x="9139238" y="2195513"/>
            <a:ext cx="9525" cy="6757988"/>
          </a:xfrm>
          <a:prstGeom prst="rect">
            <a:avLst/>
          </a:prstGeom>
          <a:solidFill>
            <a:srgbClr val="E4E0D6"/>
          </a:solidFill>
          <a:ln/>
        </p:spPr>
      </p:sp>
      <p:sp>
        <p:nvSpPr>
          <p:cNvPr id="23" name="Shape 21"/>
          <p:cNvSpPr/>
          <p:nvPr/>
        </p:nvSpPr>
        <p:spPr>
          <a:xfrm>
            <a:off x="9720263" y="2605088"/>
            <a:ext cx="7577138" cy="9525"/>
          </a:xfrm>
          <a:prstGeom prst="rect">
            <a:avLst/>
          </a:prstGeom>
          <a:solidFill>
            <a:srgbClr val="E4E0D6"/>
          </a:solidFill>
          <a:ln/>
        </p:spPr>
      </p:sp>
      <p:sp>
        <p:nvSpPr>
          <p:cNvPr id="24" name="Text 22"/>
          <p:cNvSpPr/>
          <p:nvPr/>
        </p:nvSpPr>
        <p:spPr>
          <a:xfrm>
            <a:off x="9720263" y="2195513"/>
            <a:ext cx="7804452" cy="295275"/>
          </a:xfrm>
          <a:prstGeom prst="rect">
            <a:avLst/>
          </a:prstGeom>
          <a:noFill/>
          <a:ln/>
        </p:spPr>
        <p:txBody>
          <a:bodyPr wrap="square" lIns="25400" tIns="25400" rIns="25400" bIns="25400" rtlCol="0" anchor="t">
            <a:normAutofit/>
          </a:bodyPr>
          <a:lstStyle/>
          <a:p>
            <a:pPr algn="l" indent="0" marL="0">
              <a:buNone/>
            </a:pPr>
            <a:r>
              <a:rPr lang="en-US" sz="1650" spc="83" kern="0" dirty="0">
                <a:solidFill>
                  <a:srgbClr val="8C7A3F"/>
                </a:solidFill>
                <a:latin typeface="Courier New" pitchFamily="34" charset="0"/>
                <a:ea typeface="Courier New" pitchFamily="34" charset="-122"/>
                <a:cs typeface="Courier New" pitchFamily="34" charset="-120"/>
              </a:rPr>
              <a:t>B · 분기 생성과 부모 맥락 자동 상속</a:t>
            </a:r>
            <a:endParaRPr lang="en-US" sz="1650" dirty="0"/>
          </a:p>
        </p:txBody>
      </p:sp>
      <p:sp>
        <p:nvSpPr>
          <p:cNvPr id="25" name="Text 23"/>
          <p:cNvSpPr/>
          <p:nvPr/>
        </p:nvSpPr>
        <p:spPr>
          <a:xfrm>
            <a:off x="9720263" y="2976563"/>
            <a:ext cx="4000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9A968C"/>
                </a:solidFill>
                <a:latin typeface="Courier New" pitchFamily="34" charset="0"/>
                <a:ea typeface="Courier New" pitchFamily="34" charset="-122"/>
                <a:cs typeface="Courier New" pitchFamily="34" charset="-120"/>
              </a:rPr>
              <a:t>1</a:t>
            </a:r>
            <a:endParaRPr lang="en-US" sz="1575" dirty="0"/>
          </a:p>
        </p:txBody>
      </p:sp>
      <p:sp>
        <p:nvSpPr>
          <p:cNvPr id="26" name="Text 24"/>
          <p:cNvSpPr/>
          <p:nvPr/>
        </p:nvSpPr>
        <p:spPr>
          <a:xfrm>
            <a:off x="10215563" y="2909888"/>
            <a:ext cx="3537139" cy="358973"/>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2155A4"/>
                </a:solidFill>
                <a:latin typeface="Courier New" pitchFamily="34" charset="0"/>
                <a:ea typeface="Courier New" pitchFamily="34" charset="-122"/>
                <a:cs typeface="Courier New" pitchFamily="34" charset="-120"/>
              </a:rPr>
              <a:t>UserInterface </a:t>
            </a:r>
            <a:pPr algn="l" indent="0" marL="0">
              <a:lnSpc>
                <a:spcPct val="135000"/>
              </a:lnSpc>
              <a:buNone/>
            </a:pPr>
            <a:r>
              <a:rPr lang="en-US" sz="1800" dirty="0">
                <a:solidFill>
                  <a:srgbClr val="20201E"/>
                </a:solidFill>
                <a:latin typeface="Georgia" pitchFamily="34" charset="0"/>
                <a:ea typeface="Georgia" pitchFamily="34" charset="-122"/>
                <a:cs typeface="Georgia" pitchFamily="34" charset="-120"/>
              </a:rPr>
              <a:t>기준 Turn 선택</a:t>
            </a:r>
            <a:endParaRPr lang="en-US" sz="1800" dirty="0"/>
          </a:p>
        </p:txBody>
      </p:sp>
      <p:sp>
        <p:nvSpPr>
          <p:cNvPr id="27" name="Shape 25"/>
          <p:cNvSpPr/>
          <p:nvPr/>
        </p:nvSpPr>
        <p:spPr>
          <a:xfrm>
            <a:off x="9720263" y="3335536"/>
            <a:ext cx="7577138" cy="9525"/>
          </a:xfrm>
          <a:prstGeom prst="rect">
            <a:avLst/>
          </a:prstGeom>
          <a:solidFill>
            <a:srgbClr val="F0EDE4"/>
          </a:solidFill>
          <a:ln/>
        </p:spPr>
      </p:sp>
      <p:sp>
        <p:nvSpPr>
          <p:cNvPr id="28" name="Text 26"/>
          <p:cNvSpPr/>
          <p:nvPr/>
        </p:nvSpPr>
        <p:spPr>
          <a:xfrm>
            <a:off x="9720263" y="3516511"/>
            <a:ext cx="4000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9A968C"/>
                </a:solidFill>
                <a:latin typeface="Courier New" pitchFamily="34" charset="0"/>
                <a:ea typeface="Courier New" pitchFamily="34" charset="-122"/>
                <a:cs typeface="Courier New" pitchFamily="34" charset="-120"/>
              </a:rPr>
              <a:t>2</a:t>
            </a:r>
            <a:endParaRPr lang="en-US" sz="1575" dirty="0"/>
          </a:p>
        </p:txBody>
      </p:sp>
      <p:sp>
        <p:nvSpPr>
          <p:cNvPr id="29" name="Text 27"/>
          <p:cNvSpPr/>
          <p:nvPr/>
        </p:nvSpPr>
        <p:spPr>
          <a:xfrm>
            <a:off x="10215563" y="3449836"/>
            <a:ext cx="4748108" cy="358973"/>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2155A4"/>
                </a:solidFill>
                <a:latin typeface="Courier New" pitchFamily="34" charset="0"/>
                <a:ea typeface="Courier New" pitchFamily="34" charset="-122"/>
                <a:cs typeface="Courier New" pitchFamily="34" charset="-120"/>
              </a:rPr>
              <a:t>ChatService </a:t>
            </a:r>
            <a:pPr algn="l" indent="0" marL="0">
              <a:lnSpc>
                <a:spcPct val="135000"/>
              </a:lnSpc>
              <a:buNone/>
            </a:pPr>
            <a:r>
              <a:rPr lang="en-US" sz="1800" dirty="0">
                <a:solidFill>
                  <a:srgbClr val="20201E"/>
                </a:solidFill>
                <a:latin typeface="Georgia" pitchFamily="34" charset="0"/>
                <a:ea typeface="Georgia" pitchFamily="34" charset="-122"/>
                <a:cs typeface="Georgia" pitchFamily="34" charset="-120"/>
              </a:rPr>
              <a:t>Turn 검증 후 새 Branch 생성</a:t>
            </a:r>
            <a:endParaRPr lang="en-US" sz="1800" dirty="0"/>
          </a:p>
        </p:txBody>
      </p:sp>
      <p:sp>
        <p:nvSpPr>
          <p:cNvPr id="30" name="Shape 28"/>
          <p:cNvSpPr/>
          <p:nvPr/>
        </p:nvSpPr>
        <p:spPr>
          <a:xfrm>
            <a:off x="9720263" y="3875484"/>
            <a:ext cx="7577138" cy="9525"/>
          </a:xfrm>
          <a:prstGeom prst="rect">
            <a:avLst/>
          </a:prstGeom>
          <a:solidFill>
            <a:srgbClr val="F0EDE4"/>
          </a:solidFill>
          <a:ln/>
        </p:spPr>
      </p:sp>
      <p:sp>
        <p:nvSpPr>
          <p:cNvPr id="31" name="Text 29"/>
          <p:cNvSpPr/>
          <p:nvPr/>
        </p:nvSpPr>
        <p:spPr>
          <a:xfrm>
            <a:off x="9720263" y="4056459"/>
            <a:ext cx="4000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9A968C"/>
                </a:solidFill>
                <a:latin typeface="Courier New" pitchFamily="34" charset="0"/>
                <a:ea typeface="Courier New" pitchFamily="34" charset="-122"/>
                <a:cs typeface="Courier New" pitchFamily="34" charset="-120"/>
              </a:rPr>
              <a:t>3</a:t>
            </a:r>
            <a:endParaRPr lang="en-US" sz="1575" dirty="0"/>
          </a:p>
        </p:txBody>
      </p:sp>
      <p:sp>
        <p:nvSpPr>
          <p:cNvPr id="32" name="Text 30"/>
          <p:cNvSpPr/>
          <p:nvPr/>
        </p:nvSpPr>
        <p:spPr>
          <a:xfrm>
            <a:off x="10215563" y="3989784"/>
            <a:ext cx="4693920"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20201E"/>
                </a:solidFill>
                <a:latin typeface="Georgia" pitchFamily="34" charset="0"/>
                <a:ea typeface="Georgia" pitchFamily="34" charset="-122"/>
                <a:cs typeface="Georgia" pitchFamily="34" charset="-120"/>
              </a:rPr>
              <a:t>현재 위치를 새 Branch로 전환·그래프 갱신</a:t>
            </a:r>
            <a:endParaRPr lang="en-US" sz="1800" dirty="0"/>
          </a:p>
        </p:txBody>
      </p:sp>
      <p:sp>
        <p:nvSpPr>
          <p:cNvPr id="33" name="Shape 31"/>
          <p:cNvSpPr/>
          <p:nvPr/>
        </p:nvSpPr>
        <p:spPr>
          <a:xfrm>
            <a:off x="9720263" y="4403080"/>
            <a:ext cx="7577138" cy="9525"/>
          </a:xfrm>
          <a:prstGeom prst="rect">
            <a:avLst/>
          </a:prstGeom>
          <a:solidFill>
            <a:srgbClr val="F0EDE4"/>
          </a:solidFill>
          <a:ln/>
        </p:spPr>
      </p:sp>
      <p:sp>
        <p:nvSpPr>
          <p:cNvPr id="34" name="Text 32"/>
          <p:cNvSpPr/>
          <p:nvPr/>
        </p:nvSpPr>
        <p:spPr>
          <a:xfrm>
            <a:off x="9720263" y="4584055"/>
            <a:ext cx="4000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9A968C"/>
                </a:solidFill>
                <a:latin typeface="Courier New" pitchFamily="34" charset="0"/>
                <a:ea typeface="Courier New" pitchFamily="34" charset="-122"/>
                <a:cs typeface="Courier New" pitchFamily="34" charset="-120"/>
              </a:rPr>
              <a:t>4</a:t>
            </a:r>
            <a:endParaRPr lang="en-US" sz="1575" dirty="0"/>
          </a:p>
        </p:txBody>
      </p:sp>
      <p:sp>
        <p:nvSpPr>
          <p:cNvPr id="35" name="Text 33"/>
          <p:cNvSpPr/>
          <p:nvPr/>
        </p:nvSpPr>
        <p:spPr>
          <a:xfrm>
            <a:off x="10215563" y="4517380"/>
            <a:ext cx="5470565" cy="358973"/>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2155A4"/>
                </a:solidFill>
                <a:latin typeface="Courier New" pitchFamily="34" charset="0"/>
                <a:ea typeface="Courier New" pitchFamily="34" charset="-122"/>
                <a:cs typeface="Courier New" pitchFamily="34" charset="-120"/>
              </a:rPr>
              <a:t>ContextAssembler </a:t>
            </a:r>
            <a:pPr algn="l" indent="0" marL="0">
              <a:lnSpc>
                <a:spcPct val="135000"/>
              </a:lnSpc>
              <a:buNone/>
            </a:pPr>
            <a:r>
              <a:rPr lang="en-US" sz="1800" dirty="0">
                <a:solidFill>
                  <a:srgbClr val="8C7A3F"/>
                </a:solidFill>
                <a:latin typeface="Georgia" pitchFamily="34" charset="0"/>
                <a:ea typeface="Georgia" pitchFamily="34" charset="-122"/>
                <a:cs typeface="Georgia" pitchFamily="34" charset="-120"/>
              </a:rPr>
              <a:t>분기점까지 부모 맥락만 포함</a:t>
            </a:r>
            <a:endParaRPr lang="en-US" sz="1800" dirty="0"/>
          </a:p>
        </p:txBody>
      </p:sp>
      <p:sp>
        <p:nvSpPr>
          <p:cNvPr id="36" name="Shape 34"/>
          <p:cNvSpPr/>
          <p:nvPr/>
        </p:nvSpPr>
        <p:spPr>
          <a:xfrm>
            <a:off x="9720263" y="4943029"/>
            <a:ext cx="7577138" cy="9525"/>
          </a:xfrm>
          <a:prstGeom prst="rect">
            <a:avLst/>
          </a:prstGeom>
          <a:solidFill>
            <a:srgbClr val="F0EDE4"/>
          </a:solidFill>
          <a:ln/>
        </p:spPr>
      </p:sp>
      <p:sp>
        <p:nvSpPr>
          <p:cNvPr id="37" name="Text 35"/>
          <p:cNvSpPr/>
          <p:nvPr/>
        </p:nvSpPr>
        <p:spPr>
          <a:xfrm>
            <a:off x="9720263" y="5124004"/>
            <a:ext cx="4000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9A968C"/>
                </a:solidFill>
                <a:latin typeface="Courier New" pitchFamily="34" charset="0"/>
                <a:ea typeface="Courier New" pitchFamily="34" charset="-122"/>
                <a:cs typeface="Courier New" pitchFamily="34" charset="-120"/>
              </a:rPr>
              <a:t>5</a:t>
            </a:r>
            <a:endParaRPr lang="en-US" sz="1575" dirty="0"/>
          </a:p>
        </p:txBody>
      </p:sp>
      <p:sp>
        <p:nvSpPr>
          <p:cNvPr id="38" name="Text 36"/>
          <p:cNvSpPr/>
          <p:nvPr/>
        </p:nvSpPr>
        <p:spPr>
          <a:xfrm>
            <a:off x="10215563" y="5057329"/>
            <a:ext cx="3930863"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20201E"/>
                </a:solidFill>
                <a:latin typeface="Georgia" pitchFamily="34" charset="0"/>
                <a:ea typeface="Georgia" pitchFamily="34" charset="-122"/>
                <a:cs typeface="Georgia" pitchFamily="34" charset="-120"/>
              </a:rPr>
              <a:t>다른 Branch 제외 → 독립 흐름 유지</a:t>
            </a:r>
            <a:endParaRPr lang="en-US" sz="1800" dirty="0"/>
          </a:p>
        </p:txBody>
      </p:sp>
      <p:sp>
        <p:nvSpPr>
          <p:cNvPr id="39" name="Shape 37"/>
          <p:cNvSpPr/>
          <p:nvPr/>
        </p:nvSpPr>
        <p:spPr>
          <a:xfrm>
            <a:off x="9720263" y="8473976"/>
            <a:ext cx="7577138" cy="9525"/>
          </a:xfrm>
          <a:prstGeom prst="rect">
            <a:avLst/>
          </a:prstGeom>
          <a:solidFill>
            <a:srgbClr val="D6D2C6"/>
          </a:solidFill>
          <a:ln/>
        </p:spPr>
      </p:sp>
      <p:sp>
        <p:nvSpPr>
          <p:cNvPr id="40" name="Text 38"/>
          <p:cNvSpPr/>
          <p:nvPr/>
        </p:nvSpPr>
        <p:spPr>
          <a:xfrm>
            <a:off x="9720263" y="8635901"/>
            <a:ext cx="7804452" cy="355699"/>
          </a:xfrm>
          <a:prstGeom prst="rect">
            <a:avLst/>
          </a:prstGeom>
          <a:noFill/>
          <a:ln/>
        </p:spPr>
        <p:txBody>
          <a:bodyPr wrap="square" lIns="25400" tIns="25400" rIns="25400" bIns="25400" rtlCol="0" anchor="t">
            <a:normAutofit/>
          </a:bodyPr>
          <a:lstStyle/>
          <a:p>
            <a:pPr algn="l" indent="0" marL="0">
              <a:lnSpc>
                <a:spcPct val="145000"/>
              </a:lnSpc>
              <a:buNone/>
            </a:pPr>
            <a:r>
              <a:rPr lang="en-US" sz="1725" i="1" dirty="0">
                <a:solidFill>
                  <a:srgbClr val="9A968C"/>
                </a:solidFill>
                <a:latin typeface="Georgia" pitchFamily="34" charset="0"/>
                <a:ea typeface="Georgia" pitchFamily="34" charset="-122"/>
                <a:cs typeface="Georgia" pitchFamily="34" charset="-120"/>
              </a:rPr>
              <a:t>부모 흐름은 유지하면서 분기는 독립적으로 기록</a:t>
            </a:r>
            <a:endParaRPr lang="en-US" sz="1725" dirty="0"/>
          </a:p>
        </p:txBody>
      </p:sp>
      <p:sp>
        <p:nvSpPr>
          <p:cNvPr id="41" name="Shape 39"/>
          <p:cNvSpPr/>
          <p:nvPr/>
        </p:nvSpPr>
        <p:spPr>
          <a:xfrm>
            <a:off x="990600" y="9239250"/>
            <a:ext cx="16306800" cy="9525"/>
          </a:xfrm>
          <a:prstGeom prst="rect">
            <a:avLst/>
          </a:prstGeom>
          <a:solidFill>
            <a:srgbClr val="E4E0D6"/>
          </a:solidFill>
          <a:ln/>
        </p:spPr>
      </p:sp>
      <p:sp>
        <p:nvSpPr>
          <p:cNvPr id="42" name="Text 40"/>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43" name="Text 41"/>
          <p:cNvSpPr/>
          <p:nvPr/>
        </p:nvSpPr>
        <p:spPr>
          <a:xfrm>
            <a:off x="15513993" y="9458325"/>
            <a:ext cx="1961748"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09 / Sequence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10 — SYSTEM DESIGN</a:t>
            </a:r>
            <a:endParaRPr lang="en-US" sz="1875" dirty="0"/>
          </a:p>
        </p:txBody>
      </p:sp>
      <p:sp>
        <p:nvSpPr>
          <p:cNvPr id="3" name="Text 1"/>
          <p:cNvSpPr/>
          <p:nvPr/>
        </p:nvSpPr>
        <p:spPr>
          <a:xfrm>
            <a:off x="990600" y="1247775"/>
            <a:ext cx="17937480" cy="585788"/>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Overall Architecture — 책임에 따라 네 컴포넌트로 분리</a:t>
            </a:r>
            <a:endParaRPr lang="en-US" sz="3750" dirty="0"/>
          </a:p>
        </p:txBody>
      </p:sp>
      <p:sp>
        <p:nvSpPr>
          <p:cNvPr id="4" name="Text 2"/>
          <p:cNvSpPr/>
          <p:nvPr/>
        </p:nvSpPr>
        <p:spPr>
          <a:xfrm>
            <a:off x="990600" y="1947863"/>
            <a:ext cx="16344900" cy="452438"/>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Client-Server 구조. 일반 요청은 </a:t>
            </a:r>
            <a:pPr algn="l" indent="0" marL="0">
              <a:lnSpc>
                <a:spcPct val="150000"/>
              </a:lnSpc>
              <a:buNone/>
            </a:pPr>
            <a:r>
              <a:rPr lang="en-US" sz="2175" dirty="0">
                <a:solidFill>
                  <a:srgbClr val="2155A4"/>
                </a:solidFill>
                <a:latin typeface="Georgia" pitchFamily="34" charset="0"/>
                <a:ea typeface="Georgia" pitchFamily="34" charset="-122"/>
                <a:cs typeface="Georgia" pitchFamily="34" charset="-120"/>
              </a:rPr>
              <a:t>REST</a:t>
            </a:r>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 점진적 AI 응답은 </a:t>
            </a:r>
            <a:pPr algn="l" indent="0" marL="0">
              <a:lnSpc>
                <a:spcPct val="150000"/>
              </a:lnSpc>
              <a:buNone/>
            </a:pPr>
            <a:r>
              <a:rPr lang="en-US" sz="2175" dirty="0">
                <a:solidFill>
                  <a:srgbClr val="2155A4"/>
                </a:solidFill>
                <a:latin typeface="Georgia" pitchFamily="34" charset="0"/>
                <a:ea typeface="Georgia" pitchFamily="34" charset="-122"/>
                <a:cs typeface="Georgia" pitchFamily="34" charset="-120"/>
              </a:rPr>
              <a:t>SSE</a:t>
            </a:r>
            <a:pPr algn="l" indent="0" marL="0">
              <a:lnSpc>
                <a:spcPct val="150000"/>
              </a:lnSpc>
              <a:buNone/>
            </a:pPr>
            <a:r>
              <a:rPr lang="en-US" sz="2175" dirty="0">
                <a:solidFill>
                  <a:srgbClr val="46443D"/>
                </a:solidFill>
                <a:latin typeface="Georgia" pitchFamily="34" charset="0"/>
                <a:ea typeface="Georgia" pitchFamily="34" charset="-122"/>
                <a:cs typeface="Georgia" pitchFamily="34" charset="-120"/>
              </a:rPr>
              <a:t>로 전달한다.</a:t>
            </a:r>
            <a:endParaRPr lang="en-US" sz="2175" dirty="0"/>
          </a:p>
        </p:txBody>
      </p:sp>
      <p:sp>
        <p:nvSpPr>
          <p:cNvPr id="5" name="Shape 3"/>
          <p:cNvSpPr/>
          <p:nvPr/>
        </p:nvSpPr>
        <p:spPr>
          <a:xfrm>
            <a:off x="990600" y="3592413"/>
            <a:ext cx="5546973" cy="3371850"/>
          </a:xfrm>
          <a:prstGeom prst="rect">
            <a:avLst/>
          </a:prstGeom>
          <a:solidFill>
            <a:srgbClr val="F8F5EE"/>
          </a:solidFill>
          <a:ln w="9525">
            <a:solidFill>
              <a:srgbClr val="E4E0D6"/>
            </a:solidFill>
            <a:prstDash val="solid"/>
          </a:ln>
        </p:spPr>
      </p:sp>
      <p:sp>
        <p:nvSpPr>
          <p:cNvPr id="6" name="Text 4"/>
          <p:cNvSpPr/>
          <p:nvPr/>
        </p:nvSpPr>
        <p:spPr>
          <a:xfrm>
            <a:off x="1228725" y="3849588"/>
            <a:ext cx="5577795" cy="257175"/>
          </a:xfrm>
          <a:prstGeom prst="rect">
            <a:avLst/>
          </a:prstGeom>
          <a:noFill/>
          <a:ln/>
        </p:spPr>
        <p:txBody>
          <a:bodyPr wrap="square" lIns="25400" tIns="25400" rIns="25400" bIns="25400" rtlCol="0" anchor="t">
            <a:normAutofit/>
          </a:bodyPr>
          <a:lstStyle/>
          <a:p>
            <a:pPr algn="l" indent="0" marL="0">
              <a:buNone/>
            </a:pPr>
            <a:r>
              <a:rPr lang="en-US" sz="1575" dirty="0">
                <a:solidFill>
                  <a:srgbClr val="8C7A3F"/>
                </a:solidFill>
                <a:latin typeface="Courier New" pitchFamily="34" charset="0"/>
                <a:ea typeface="Courier New" pitchFamily="34" charset="-122"/>
                <a:cs typeface="Courier New" pitchFamily="34" charset="-120"/>
              </a:rPr>
              <a:t>FRONTEND</a:t>
            </a:r>
            <a:endParaRPr lang="en-US" sz="1575" dirty="0"/>
          </a:p>
        </p:txBody>
      </p:sp>
      <p:sp>
        <p:nvSpPr>
          <p:cNvPr id="7" name="Text 5"/>
          <p:cNvSpPr/>
          <p:nvPr/>
        </p:nvSpPr>
        <p:spPr>
          <a:xfrm>
            <a:off x="1228725" y="4202013"/>
            <a:ext cx="5577795" cy="333375"/>
          </a:xfrm>
          <a:prstGeom prst="rect">
            <a:avLst/>
          </a:prstGeom>
          <a:noFill/>
          <a:ln/>
        </p:spPr>
        <p:txBody>
          <a:bodyPr wrap="square" lIns="25400" tIns="25400" rIns="25400" bIns="25400" rtlCol="0" anchor="t">
            <a:normAutofit/>
          </a:bodyPr>
          <a:lstStyle/>
          <a:p>
            <a:pPr algn="l" indent="0" marL="0">
              <a:buNone/>
            </a:pPr>
            <a:r>
              <a:rPr lang="en-US" sz="2025" dirty="0">
                <a:solidFill>
                  <a:srgbClr val="20201E"/>
                </a:solidFill>
                <a:latin typeface="Georgia" pitchFamily="34" charset="0"/>
                <a:ea typeface="Georgia" pitchFamily="34" charset="-122"/>
                <a:cs typeface="Georgia" pitchFamily="34" charset="-120"/>
              </a:rPr>
              <a:t>React SPA</a:t>
            </a:r>
            <a:endParaRPr lang="en-US" sz="2025" dirty="0"/>
          </a:p>
        </p:txBody>
      </p:sp>
      <p:sp>
        <p:nvSpPr>
          <p:cNvPr id="8" name="Text 6"/>
          <p:cNvSpPr/>
          <p:nvPr/>
        </p:nvSpPr>
        <p:spPr>
          <a:xfrm>
            <a:off x="1228725" y="4630638"/>
            <a:ext cx="5222845" cy="695325"/>
          </a:xfrm>
          <a:prstGeom prst="rect">
            <a:avLst/>
          </a:prstGeom>
          <a:noFill/>
          <a:ln/>
        </p:spPr>
        <p:txBody>
          <a:bodyPr wrap="square" lIns="25400" tIns="25400" rIns="25400" bIns="25400" rtlCol="0" anchor="t">
            <a:normAutofit/>
          </a:bodyPr>
          <a:lstStyle/>
          <a:p>
            <a:pPr algn="l" indent="0" marL="0">
              <a:lnSpc>
                <a:spcPct val="150000"/>
              </a:lnSpc>
              <a:buNone/>
            </a:pPr>
            <a:r>
              <a:rPr lang="en-US" sz="1725" dirty="0">
                <a:solidFill>
                  <a:srgbClr val="6E6A60"/>
                </a:solidFill>
                <a:latin typeface="Georgia" pitchFamily="34" charset="0"/>
                <a:ea typeface="Georgia" pitchFamily="34" charset="-122"/>
                <a:cs typeface="Georgia" pitchFamily="34" charset="-120"/>
              </a:rPr>
              <a:t>app · pages · features · shared 단방향 계층. chat · branch · graph · explorer feature 단위 분리</a:t>
            </a:r>
            <a:endParaRPr lang="en-US" sz="1725" dirty="0"/>
          </a:p>
        </p:txBody>
      </p:sp>
      <p:sp>
        <p:nvSpPr>
          <p:cNvPr id="9" name="Text 7"/>
          <p:cNvSpPr/>
          <p:nvPr/>
        </p:nvSpPr>
        <p:spPr>
          <a:xfrm>
            <a:off x="6731794" y="4897338"/>
            <a:ext cx="487859" cy="228600"/>
          </a:xfrm>
          <a:prstGeom prst="rect">
            <a:avLst/>
          </a:prstGeom>
          <a:noFill/>
          <a:ln/>
        </p:spPr>
        <p:txBody>
          <a:bodyPr wrap="square" lIns="25400" tIns="25400" rIns="25400" bIns="25400" rtlCol="0" anchor="t">
            <a:normAutofit/>
          </a:bodyPr>
          <a:lstStyle/>
          <a:p>
            <a:pPr algn="l" indent="0" marL="0">
              <a:buNone/>
            </a:pPr>
            <a:r>
              <a:rPr lang="en-US" sz="1350" dirty="0">
                <a:solidFill>
                  <a:srgbClr val="2155A4"/>
                </a:solidFill>
                <a:latin typeface="Courier New" pitchFamily="34" charset="0"/>
                <a:ea typeface="Courier New" pitchFamily="34" charset="-122"/>
                <a:cs typeface="Courier New" pitchFamily="34" charset="-120"/>
              </a:rPr>
              <a:t>REST</a:t>
            </a:r>
            <a:endParaRPr lang="en-US" sz="1350" dirty="0"/>
          </a:p>
        </p:txBody>
      </p:sp>
      <p:sp>
        <p:nvSpPr>
          <p:cNvPr id="10" name="Text 8"/>
          <p:cNvSpPr/>
          <p:nvPr/>
        </p:nvSpPr>
        <p:spPr>
          <a:xfrm>
            <a:off x="6863060" y="5125938"/>
            <a:ext cx="225326" cy="342900"/>
          </a:xfrm>
          <a:prstGeom prst="rect">
            <a:avLst/>
          </a:prstGeom>
          <a:noFill/>
          <a:ln/>
        </p:spPr>
        <p:txBody>
          <a:bodyPr wrap="square" lIns="25400" tIns="25400" rIns="25400" bIns="25400" rtlCol="0" anchor="t">
            <a:normAutofit/>
          </a:bodyPr>
          <a:lstStyle/>
          <a:p>
            <a:pPr algn="l" indent="0" marL="0">
              <a:buNone/>
            </a:pPr>
            <a:r>
              <a:rPr lang="en-US" sz="1950" dirty="0">
                <a:solidFill>
                  <a:srgbClr val="C3BBAC"/>
                </a:solidFill>
                <a:latin typeface="Courier New" pitchFamily="34" charset="0"/>
                <a:ea typeface="Courier New" pitchFamily="34" charset="-122"/>
                <a:cs typeface="Courier New" pitchFamily="34" charset="-120"/>
              </a:rPr>
              <a:t>⇄</a:t>
            </a:r>
            <a:endParaRPr lang="en-US" sz="1950" dirty="0"/>
          </a:p>
        </p:txBody>
      </p:sp>
      <p:sp>
        <p:nvSpPr>
          <p:cNvPr id="11" name="Text 9"/>
          <p:cNvSpPr/>
          <p:nvPr/>
        </p:nvSpPr>
        <p:spPr>
          <a:xfrm>
            <a:off x="6783288" y="5468838"/>
            <a:ext cx="384870" cy="228600"/>
          </a:xfrm>
          <a:prstGeom prst="rect">
            <a:avLst/>
          </a:prstGeom>
          <a:noFill/>
          <a:ln/>
        </p:spPr>
        <p:txBody>
          <a:bodyPr wrap="square" lIns="25400" tIns="25400" rIns="25400" bIns="25400" rtlCol="0" anchor="t">
            <a:normAutofit/>
          </a:bodyPr>
          <a:lstStyle/>
          <a:p>
            <a:pPr algn="l" indent="0" marL="0">
              <a:buNone/>
            </a:pPr>
            <a:r>
              <a:rPr lang="en-US" sz="1350" dirty="0">
                <a:solidFill>
                  <a:srgbClr val="2155A4"/>
                </a:solidFill>
                <a:latin typeface="Courier New" pitchFamily="34" charset="0"/>
                <a:ea typeface="Courier New" pitchFamily="34" charset="-122"/>
                <a:cs typeface="Courier New" pitchFamily="34" charset="-120"/>
              </a:rPr>
              <a:t>SSE</a:t>
            </a:r>
            <a:endParaRPr lang="en-US" sz="1350" dirty="0"/>
          </a:p>
        </p:txBody>
      </p:sp>
      <p:sp>
        <p:nvSpPr>
          <p:cNvPr id="12" name="Shape 10"/>
          <p:cNvSpPr/>
          <p:nvPr/>
        </p:nvSpPr>
        <p:spPr>
          <a:xfrm>
            <a:off x="7337673" y="3592413"/>
            <a:ext cx="5800576" cy="3371850"/>
          </a:xfrm>
          <a:prstGeom prst="rect">
            <a:avLst/>
          </a:prstGeom>
          <a:solidFill>
            <a:srgbClr val="F1F4FA"/>
          </a:solidFill>
          <a:ln w="9525">
            <a:solidFill>
              <a:srgbClr val="C9D4E6"/>
            </a:solidFill>
            <a:prstDash val="solid"/>
          </a:ln>
        </p:spPr>
      </p:sp>
      <p:sp>
        <p:nvSpPr>
          <p:cNvPr id="13" name="Text 11"/>
          <p:cNvSpPr/>
          <p:nvPr/>
        </p:nvSpPr>
        <p:spPr>
          <a:xfrm>
            <a:off x="7575798" y="3849588"/>
            <a:ext cx="5856759" cy="257175"/>
          </a:xfrm>
          <a:prstGeom prst="rect">
            <a:avLst/>
          </a:prstGeom>
          <a:noFill/>
          <a:ln/>
        </p:spPr>
        <p:txBody>
          <a:bodyPr wrap="square" lIns="25400" tIns="25400" rIns="25400" bIns="25400" rtlCol="0" anchor="t">
            <a:normAutofit/>
          </a:bodyPr>
          <a:lstStyle/>
          <a:p>
            <a:pPr algn="l" indent="0" marL="0">
              <a:buNone/>
            </a:pPr>
            <a:r>
              <a:rPr lang="en-US" sz="1575" dirty="0">
                <a:solidFill>
                  <a:srgbClr val="2155A4"/>
                </a:solidFill>
                <a:latin typeface="Courier New" pitchFamily="34" charset="0"/>
                <a:ea typeface="Courier New" pitchFamily="34" charset="-122"/>
                <a:cs typeface="Courier New" pitchFamily="34" charset="-120"/>
              </a:rPr>
              <a:t>BACKEND</a:t>
            </a:r>
            <a:endParaRPr lang="en-US" sz="1575" dirty="0"/>
          </a:p>
        </p:txBody>
      </p:sp>
      <p:sp>
        <p:nvSpPr>
          <p:cNvPr id="14" name="Text 12"/>
          <p:cNvSpPr/>
          <p:nvPr/>
        </p:nvSpPr>
        <p:spPr>
          <a:xfrm>
            <a:off x="7575798" y="4202013"/>
            <a:ext cx="5856759" cy="333375"/>
          </a:xfrm>
          <a:prstGeom prst="rect">
            <a:avLst/>
          </a:prstGeom>
          <a:noFill/>
          <a:ln/>
        </p:spPr>
        <p:txBody>
          <a:bodyPr wrap="square" lIns="25400" tIns="25400" rIns="25400" bIns="25400" rtlCol="0" anchor="t">
            <a:normAutofit/>
          </a:bodyPr>
          <a:lstStyle/>
          <a:p>
            <a:pPr algn="l" indent="0" marL="0">
              <a:buNone/>
            </a:pPr>
            <a:r>
              <a:rPr lang="en-US" sz="2025" dirty="0">
                <a:solidFill>
                  <a:srgbClr val="20201E"/>
                </a:solidFill>
                <a:latin typeface="Georgia" pitchFamily="34" charset="0"/>
                <a:ea typeface="Georgia" pitchFamily="34" charset="-122"/>
                <a:cs typeface="Georgia" pitchFamily="34" charset="-120"/>
              </a:rPr>
              <a:t>Spring Boot</a:t>
            </a:r>
            <a:endParaRPr lang="en-US" sz="2025" dirty="0"/>
          </a:p>
        </p:txBody>
      </p:sp>
      <p:sp>
        <p:nvSpPr>
          <p:cNvPr id="15" name="Text 13"/>
          <p:cNvSpPr/>
          <p:nvPr/>
        </p:nvSpPr>
        <p:spPr>
          <a:xfrm>
            <a:off x="7575798" y="4630638"/>
            <a:ext cx="5484056" cy="695325"/>
          </a:xfrm>
          <a:prstGeom prst="rect">
            <a:avLst/>
          </a:prstGeom>
          <a:noFill/>
          <a:ln/>
        </p:spPr>
        <p:txBody>
          <a:bodyPr wrap="square" lIns="25400" tIns="25400" rIns="25400" bIns="25400" rtlCol="0" anchor="t">
            <a:normAutofit/>
          </a:bodyPr>
          <a:lstStyle/>
          <a:p>
            <a:pPr algn="l" indent="0" marL="0">
              <a:lnSpc>
                <a:spcPct val="150000"/>
              </a:lnSpc>
              <a:buNone/>
            </a:pPr>
            <a:r>
              <a:rPr lang="en-US" sz="1725" dirty="0">
                <a:solidFill>
                  <a:srgbClr val="46443D"/>
                </a:solidFill>
                <a:latin typeface="Georgia" pitchFamily="34" charset="0"/>
                <a:ea typeface="Georgia" pitchFamily="34" charset="-122"/>
                <a:cs typeface="Georgia" pitchFamily="34" charset="-120"/>
              </a:rPr>
              <a:t>Controller · Service · Repository 계층. Chat-Turn-Message, branch 검증, 맥락 조립, 사용량 누적</a:t>
            </a:r>
            <a:endParaRPr lang="en-US" sz="1725" dirty="0"/>
          </a:p>
        </p:txBody>
      </p:sp>
      <p:sp>
        <p:nvSpPr>
          <p:cNvPr id="16" name="Text 14"/>
          <p:cNvSpPr/>
          <p:nvPr/>
        </p:nvSpPr>
        <p:spPr>
          <a:xfrm>
            <a:off x="13100149" y="5130701"/>
            <a:ext cx="685800" cy="333375"/>
          </a:xfrm>
          <a:prstGeom prst="rect">
            <a:avLst/>
          </a:prstGeom>
          <a:noFill/>
          <a:ln/>
        </p:spPr>
        <p:txBody>
          <a:bodyPr wrap="square" lIns="25400" tIns="25400" rIns="25400" bIns="25400" rtlCol="0" anchor="ctr">
            <a:normAutofit/>
          </a:bodyPr>
          <a:lstStyle/>
          <a:p>
            <a:pPr algn="ctr" indent="0" marL="0">
              <a:buNone/>
            </a:pPr>
            <a:r>
              <a:rPr lang="en-US" sz="1950" dirty="0">
                <a:solidFill>
                  <a:srgbClr val="C3BBAC"/>
                </a:solidFill>
                <a:latin typeface="Georgia" pitchFamily="34" charset="0"/>
                <a:ea typeface="Georgia" pitchFamily="34" charset="-122"/>
                <a:cs typeface="Georgia" pitchFamily="34" charset="-120"/>
              </a:rPr>
              <a:t>↓</a:t>
            </a:r>
            <a:endParaRPr lang="en-US" sz="1950" dirty="0"/>
          </a:p>
        </p:txBody>
      </p:sp>
      <p:sp>
        <p:nvSpPr>
          <p:cNvPr id="17" name="Shape 15"/>
          <p:cNvSpPr/>
          <p:nvPr/>
        </p:nvSpPr>
        <p:spPr>
          <a:xfrm>
            <a:off x="13747849" y="4037409"/>
            <a:ext cx="3549551" cy="1020961"/>
          </a:xfrm>
          <a:prstGeom prst="rect">
            <a:avLst/>
          </a:prstGeom>
          <a:solidFill>
            <a:srgbClr val="F8F5EE"/>
          </a:solidFill>
          <a:ln w="9525">
            <a:solidFill>
              <a:srgbClr val="E4E0D6"/>
            </a:solidFill>
            <a:prstDash val="solid"/>
          </a:ln>
        </p:spPr>
      </p:sp>
      <p:sp>
        <p:nvSpPr>
          <p:cNvPr id="18" name="Text 16"/>
          <p:cNvSpPr/>
          <p:nvPr/>
        </p:nvSpPr>
        <p:spPr>
          <a:xfrm>
            <a:off x="13966924" y="4237434"/>
            <a:ext cx="3422541" cy="257175"/>
          </a:xfrm>
          <a:prstGeom prst="rect">
            <a:avLst/>
          </a:prstGeom>
          <a:noFill/>
          <a:ln/>
        </p:spPr>
        <p:txBody>
          <a:bodyPr wrap="square" lIns="25400" tIns="25400" rIns="25400" bIns="25400" rtlCol="0" anchor="t">
            <a:normAutofit/>
          </a:bodyPr>
          <a:lstStyle/>
          <a:p>
            <a:pPr algn="l" indent="0" marL="0">
              <a:buNone/>
            </a:pPr>
            <a:r>
              <a:rPr lang="en-US" sz="1575" dirty="0">
                <a:solidFill>
                  <a:srgbClr val="8C7A3F"/>
                </a:solidFill>
                <a:latin typeface="Courier New" pitchFamily="34" charset="0"/>
                <a:ea typeface="Courier New" pitchFamily="34" charset="-122"/>
                <a:cs typeface="Courier New" pitchFamily="34" charset="-120"/>
              </a:rPr>
              <a:t>DATABASE</a:t>
            </a:r>
            <a:endParaRPr lang="en-US" sz="1575" dirty="0"/>
          </a:p>
        </p:txBody>
      </p:sp>
      <p:sp>
        <p:nvSpPr>
          <p:cNvPr id="19" name="Text 17"/>
          <p:cNvSpPr/>
          <p:nvPr/>
        </p:nvSpPr>
        <p:spPr>
          <a:xfrm>
            <a:off x="13966924" y="4551759"/>
            <a:ext cx="3422541" cy="344686"/>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6E6A60"/>
                </a:solidFill>
                <a:latin typeface="Georgia" pitchFamily="34" charset="0"/>
                <a:ea typeface="Georgia" pitchFamily="34" charset="-122"/>
                <a:cs typeface="Georgia" pitchFamily="34" charset="-120"/>
              </a:rPr>
              <a:t>사용자 · 대화 · 메시지 · 사용량</a:t>
            </a:r>
            <a:endParaRPr lang="en-US" sz="1725" dirty="0"/>
          </a:p>
        </p:txBody>
      </p:sp>
      <p:sp>
        <p:nvSpPr>
          <p:cNvPr id="20" name="Shape 18"/>
          <p:cNvSpPr/>
          <p:nvPr/>
        </p:nvSpPr>
        <p:spPr>
          <a:xfrm>
            <a:off x="13747849" y="5191720"/>
            <a:ext cx="3549551" cy="1327547"/>
          </a:xfrm>
          <a:prstGeom prst="rect">
            <a:avLst/>
          </a:prstGeom>
          <a:solidFill>
            <a:srgbClr val="F8F5EE"/>
          </a:solidFill>
          <a:ln w="9525">
            <a:solidFill>
              <a:srgbClr val="E4E0D6"/>
            </a:solidFill>
            <a:prstDash val="solid"/>
          </a:ln>
        </p:spPr>
      </p:sp>
      <p:sp>
        <p:nvSpPr>
          <p:cNvPr id="21" name="Text 19"/>
          <p:cNvSpPr/>
          <p:nvPr/>
        </p:nvSpPr>
        <p:spPr>
          <a:xfrm>
            <a:off x="13966924" y="5391745"/>
            <a:ext cx="3422541" cy="257175"/>
          </a:xfrm>
          <a:prstGeom prst="rect">
            <a:avLst/>
          </a:prstGeom>
          <a:noFill/>
          <a:ln/>
        </p:spPr>
        <p:txBody>
          <a:bodyPr wrap="square" lIns="25400" tIns="25400" rIns="25400" bIns="25400" rtlCol="0" anchor="t">
            <a:normAutofit/>
          </a:bodyPr>
          <a:lstStyle/>
          <a:p>
            <a:pPr algn="l" indent="0" marL="0">
              <a:buNone/>
            </a:pPr>
            <a:r>
              <a:rPr lang="en-US" sz="1575" dirty="0">
                <a:solidFill>
                  <a:srgbClr val="8C7A3F"/>
                </a:solidFill>
                <a:latin typeface="Courier New" pitchFamily="34" charset="0"/>
                <a:ea typeface="Courier New" pitchFamily="34" charset="-122"/>
                <a:cs typeface="Courier New" pitchFamily="34" charset="-120"/>
              </a:rPr>
              <a:t>AI SERVER</a:t>
            </a:r>
            <a:endParaRPr lang="en-US" sz="1575" dirty="0"/>
          </a:p>
        </p:txBody>
      </p:sp>
      <p:sp>
        <p:nvSpPr>
          <p:cNvPr id="22" name="Text 20"/>
          <p:cNvSpPr/>
          <p:nvPr/>
        </p:nvSpPr>
        <p:spPr>
          <a:xfrm>
            <a:off x="13966924" y="5706070"/>
            <a:ext cx="3204743" cy="651272"/>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6E6A60"/>
                </a:solidFill>
                <a:latin typeface="Georgia" pitchFamily="34" charset="0"/>
                <a:ea typeface="Georgia" pitchFamily="34" charset="-122"/>
                <a:cs typeface="Georgia" pitchFamily="34" charset="-120"/>
              </a:rPr>
              <a:t>Adapter → Worker → Model Backend</a:t>
            </a:r>
            <a:endParaRPr lang="en-US" sz="1725" dirty="0"/>
          </a:p>
        </p:txBody>
      </p:sp>
      <p:sp>
        <p:nvSpPr>
          <p:cNvPr id="23" name="Shape 21"/>
          <p:cNvSpPr/>
          <p:nvPr/>
        </p:nvSpPr>
        <p:spPr>
          <a:xfrm>
            <a:off x="990600" y="8137327"/>
            <a:ext cx="16306800" cy="835223"/>
          </a:xfrm>
          <a:prstGeom prst="rect">
            <a:avLst/>
          </a:prstGeom>
          <a:solidFill>
            <a:srgbClr val="F4F1E9"/>
          </a:solidFill>
          <a:ln w="9525">
            <a:solidFill>
              <a:srgbClr val="E4E0D6"/>
            </a:solidFill>
            <a:prstDash val="solid"/>
          </a:ln>
        </p:spPr>
      </p:sp>
      <p:sp>
        <p:nvSpPr>
          <p:cNvPr id="24" name="Text 22"/>
          <p:cNvSpPr/>
          <p:nvPr/>
        </p:nvSpPr>
        <p:spPr>
          <a:xfrm>
            <a:off x="1323975" y="8426351"/>
            <a:ext cx="1010841" cy="295275"/>
          </a:xfrm>
          <a:prstGeom prst="rect">
            <a:avLst/>
          </a:prstGeom>
          <a:noFill/>
          <a:ln/>
        </p:spPr>
        <p:txBody>
          <a:bodyPr wrap="square" lIns="25400" tIns="25400" rIns="25400" bIns="25400" rtlCol="0" anchor="t">
            <a:normAutofit/>
          </a:bodyPr>
          <a:lstStyle/>
          <a:p>
            <a:pPr algn="l" indent="0" marL="0">
              <a:buNone/>
            </a:pPr>
            <a:r>
              <a:rPr lang="en-US" sz="1650" spc="132" kern="0" dirty="0">
                <a:solidFill>
                  <a:srgbClr val="8C7A3F"/>
                </a:solidFill>
                <a:latin typeface="Courier New" pitchFamily="34" charset="0"/>
                <a:ea typeface="Courier New" pitchFamily="34" charset="-122"/>
                <a:cs typeface="Courier New" pitchFamily="34" charset="-120"/>
              </a:rPr>
              <a:t>설계 목표</a:t>
            </a:r>
            <a:endParaRPr lang="en-US" sz="1650" dirty="0"/>
          </a:p>
        </p:txBody>
      </p:sp>
      <p:sp>
        <p:nvSpPr>
          <p:cNvPr id="25" name="Text 23"/>
          <p:cNvSpPr/>
          <p:nvPr/>
        </p:nvSpPr>
        <p:spPr>
          <a:xfrm>
            <a:off x="2487216" y="8375452"/>
            <a:ext cx="12076465" cy="397073"/>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46443D"/>
                </a:solidFill>
                <a:latin typeface="Georgia" pitchFamily="34" charset="0"/>
                <a:ea typeface="Georgia" pitchFamily="34" charset="-122"/>
                <a:cs typeface="Georgia" pitchFamily="34" charset="-120"/>
              </a:rPr>
              <a:t>화면 · 도메인 로직 · 데이터 저장 · AI 추론은 변경 이유가 다르다 — </a:t>
            </a:r>
            <a:pPr algn="l" indent="0" marL="0">
              <a:lnSpc>
                <a:spcPct val="145000"/>
              </a:lnSpc>
              <a:buNone/>
            </a:pPr>
            <a:r>
              <a:rPr lang="en-US" sz="1950" dirty="0">
                <a:solidFill>
                  <a:srgbClr val="20201E"/>
                </a:solidFill>
                <a:latin typeface="Georgia" pitchFamily="34" charset="0"/>
                <a:ea typeface="Georgia" pitchFamily="34" charset="-122"/>
                <a:cs typeface="Georgia" pitchFamily="34" charset="-120"/>
              </a:rPr>
              <a:t>변경 지점을 분리</a:t>
            </a:r>
            <a:pPr algn="l" indent="0" marL="0">
              <a:lnSpc>
                <a:spcPct val="145000"/>
              </a:lnSpc>
              <a:buNone/>
            </a:pPr>
            <a:r>
              <a:rPr lang="en-US" sz="1950" dirty="0">
                <a:solidFill>
                  <a:srgbClr val="46443D"/>
                </a:solidFill>
                <a:latin typeface="Georgia" pitchFamily="34" charset="0"/>
                <a:ea typeface="Georgia" pitchFamily="34" charset="-122"/>
                <a:cs typeface="Georgia" pitchFamily="34" charset="-120"/>
              </a:rPr>
              <a:t>해 전파를 줄인다.</a:t>
            </a:r>
            <a:endParaRPr lang="en-US" sz="1950" dirty="0"/>
          </a:p>
        </p:txBody>
      </p:sp>
      <p:sp>
        <p:nvSpPr>
          <p:cNvPr id="26" name="Shape 24"/>
          <p:cNvSpPr/>
          <p:nvPr/>
        </p:nvSpPr>
        <p:spPr>
          <a:xfrm>
            <a:off x="990600" y="9239250"/>
            <a:ext cx="16306800" cy="9525"/>
          </a:xfrm>
          <a:prstGeom prst="rect">
            <a:avLst/>
          </a:prstGeom>
          <a:solidFill>
            <a:srgbClr val="E4E0D6"/>
          </a:solidFill>
          <a:ln/>
        </p:spPr>
      </p:sp>
      <p:sp>
        <p:nvSpPr>
          <p:cNvPr id="27" name="Text 25"/>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28" name="Text 26"/>
          <p:cNvSpPr/>
          <p:nvPr/>
        </p:nvSpPr>
        <p:spPr>
          <a:xfrm>
            <a:off x="14965263" y="9458325"/>
            <a:ext cx="2565350"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10 / Architecture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11 — SYSTEM DESIGN</a:t>
            </a:r>
            <a:endParaRPr lang="en-US" sz="1875" dirty="0"/>
          </a:p>
        </p:txBody>
      </p:sp>
      <p:sp>
        <p:nvSpPr>
          <p:cNvPr id="3" name="Text 1"/>
          <p:cNvSpPr/>
          <p:nvPr/>
        </p:nvSpPr>
        <p:spPr>
          <a:xfrm>
            <a:off x="990600" y="1247775"/>
            <a:ext cx="17937480" cy="585788"/>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Chat · Turn · Message — branch 가능한 대화 구조</a:t>
            </a:r>
            <a:endParaRPr lang="en-US" sz="3750" dirty="0"/>
          </a:p>
        </p:txBody>
      </p:sp>
      <p:sp>
        <p:nvSpPr>
          <p:cNvPr id="4" name="Shape 2"/>
          <p:cNvSpPr/>
          <p:nvPr/>
        </p:nvSpPr>
        <p:spPr>
          <a:xfrm>
            <a:off x="990600" y="2586038"/>
            <a:ext cx="7392293" cy="9525"/>
          </a:xfrm>
          <a:prstGeom prst="rect">
            <a:avLst/>
          </a:prstGeom>
          <a:solidFill>
            <a:srgbClr val="E4E0D6"/>
          </a:solidFill>
          <a:ln/>
        </p:spPr>
      </p:sp>
      <p:sp>
        <p:nvSpPr>
          <p:cNvPr id="5" name="Text 3"/>
          <p:cNvSpPr/>
          <p:nvPr/>
        </p:nvSpPr>
        <p:spPr>
          <a:xfrm>
            <a:off x="990600" y="2195513"/>
            <a:ext cx="7614062" cy="276225"/>
          </a:xfrm>
          <a:prstGeom prst="rect">
            <a:avLst/>
          </a:prstGeom>
          <a:noFill/>
          <a:ln/>
        </p:spPr>
        <p:txBody>
          <a:bodyPr wrap="square" lIns="25400" tIns="25400" rIns="25400" bIns="25400" rtlCol="0" anchor="t">
            <a:normAutofit/>
          </a:bodyPr>
          <a:lstStyle/>
          <a:p>
            <a:pPr algn="l" indent="0" marL="0">
              <a:buNone/>
            </a:pPr>
            <a:r>
              <a:rPr lang="en-US" sz="1650" spc="83" kern="0" dirty="0">
                <a:solidFill>
                  <a:srgbClr val="8C7A3F"/>
                </a:solidFill>
                <a:latin typeface="Courier New" pitchFamily="34" charset="0"/>
                <a:ea typeface="Courier New" pitchFamily="34" charset="-122"/>
                <a:cs typeface="Courier New" pitchFamily="34" charset="-120"/>
              </a:rPr>
              <a:t>LAYERED BACKEND</a:t>
            </a:r>
            <a:endParaRPr lang="en-US" sz="1650" dirty="0"/>
          </a:p>
        </p:txBody>
      </p:sp>
      <p:sp>
        <p:nvSpPr>
          <p:cNvPr id="6" name="Shape 4"/>
          <p:cNvSpPr/>
          <p:nvPr/>
        </p:nvSpPr>
        <p:spPr>
          <a:xfrm>
            <a:off x="990600" y="2805113"/>
            <a:ext cx="7392293" cy="523875"/>
          </a:xfrm>
          <a:prstGeom prst="rect">
            <a:avLst/>
          </a:prstGeom>
          <a:solidFill>
            <a:srgbClr val="F8F5EE"/>
          </a:solidFill>
          <a:ln w="9525">
            <a:solidFill>
              <a:srgbClr val="E4E0D6"/>
            </a:solidFill>
            <a:prstDash val="solid"/>
          </a:ln>
        </p:spPr>
      </p:sp>
      <p:sp>
        <p:nvSpPr>
          <p:cNvPr id="7" name="Text 5"/>
          <p:cNvSpPr/>
          <p:nvPr/>
        </p:nvSpPr>
        <p:spPr>
          <a:xfrm>
            <a:off x="1171575" y="2938463"/>
            <a:ext cx="7252112" cy="295275"/>
          </a:xfrm>
          <a:prstGeom prst="rect">
            <a:avLst/>
          </a:prstGeom>
          <a:noFill/>
          <a:ln/>
        </p:spPr>
        <p:txBody>
          <a:bodyPr wrap="square" lIns="25400" tIns="25400" rIns="25400" bIns="25400" rtlCol="0" anchor="t">
            <a:normAutofit/>
          </a:bodyPr>
          <a:lstStyle/>
          <a:p>
            <a:pPr algn="l" indent="0" marL="0">
              <a:buNone/>
            </a:pPr>
            <a:r>
              <a:rPr lang="en-US" sz="1800" dirty="0">
                <a:solidFill>
                  <a:srgbClr val="20201E"/>
                </a:solidFill>
                <a:highlight>
                  <a:srgbClr val="F8F5EE"/>
                </a:highlight>
                <a:latin typeface="Courier New" pitchFamily="34" charset="0"/>
                <a:ea typeface="Courier New" pitchFamily="34" charset="-122"/>
                <a:cs typeface="Courier New" pitchFamily="34" charset="-120"/>
              </a:rPr>
              <a:t>Controller </a:t>
            </a:r>
            <a:pPr algn="l" indent="0" marL="0">
              <a:buNone/>
            </a:pPr>
            <a:r>
              <a:rPr lang="en-US" sz="1575" dirty="0">
                <a:solidFill>
                  <a:srgbClr val="9A968C"/>
                </a:solidFill>
                <a:latin typeface="Courier New" pitchFamily="34" charset="0"/>
                <a:ea typeface="Courier New" pitchFamily="34" charset="-122"/>
                <a:cs typeface="Courier New" pitchFamily="34" charset="-120"/>
              </a:rPr>
              <a:t>— HTTP · DTO · 인증 확인</a:t>
            </a:r>
            <a:endParaRPr lang="en-US" sz="1800" dirty="0"/>
          </a:p>
        </p:txBody>
      </p:sp>
      <p:sp>
        <p:nvSpPr>
          <p:cNvPr id="8" name="Text 6"/>
          <p:cNvSpPr/>
          <p:nvPr/>
        </p:nvSpPr>
        <p:spPr>
          <a:xfrm>
            <a:off x="620985" y="3424238"/>
            <a:ext cx="8131522" cy="257175"/>
          </a:xfrm>
          <a:prstGeom prst="rect">
            <a:avLst/>
          </a:prstGeom>
          <a:noFill/>
          <a:ln/>
        </p:spPr>
        <p:txBody>
          <a:bodyPr wrap="square" lIns="25400" tIns="25400" rIns="25400" bIns="25400" rtlCol="0" anchor="t">
            <a:normAutofit/>
          </a:bodyPr>
          <a:lstStyle/>
          <a:p>
            <a:pPr algn="ctr" indent="0" marL="0">
              <a:buNone/>
            </a:pPr>
            <a:r>
              <a:rPr lang="en-US" sz="1500" dirty="0">
                <a:solidFill>
                  <a:srgbClr val="C3BBAC"/>
                </a:solidFill>
                <a:latin typeface="Georgia" pitchFamily="34" charset="0"/>
                <a:ea typeface="Georgia" pitchFamily="34" charset="-122"/>
                <a:cs typeface="Georgia" pitchFamily="34" charset="-120"/>
              </a:rPr>
              <a:t>↓</a:t>
            </a:r>
            <a:endParaRPr lang="en-US" sz="1500" dirty="0"/>
          </a:p>
        </p:txBody>
      </p:sp>
      <p:sp>
        <p:nvSpPr>
          <p:cNvPr id="9" name="Shape 7"/>
          <p:cNvSpPr/>
          <p:nvPr/>
        </p:nvSpPr>
        <p:spPr>
          <a:xfrm>
            <a:off x="990600" y="3738563"/>
            <a:ext cx="7392293" cy="523875"/>
          </a:xfrm>
          <a:prstGeom prst="rect">
            <a:avLst/>
          </a:prstGeom>
          <a:solidFill>
            <a:srgbClr val="F1F4FA"/>
          </a:solidFill>
          <a:ln w="9525">
            <a:solidFill>
              <a:srgbClr val="C9D4E6"/>
            </a:solidFill>
            <a:prstDash val="solid"/>
          </a:ln>
        </p:spPr>
      </p:sp>
      <p:sp>
        <p:nvSpPr>
          <p:cNvPr id="10" name="Text 8"/>
          <p:cNvSpPr/>
          <p:nvPr/>
        </p:nvSpPr>
        <p:spPr>
          <a:xfrm>
            <a:off x="1171575" y="3871913"/>
            <a:ext cx="7252112" cy="295275"/>
          </a:xfrm>
          <a:prstGeom prst="rect">
            <a:avLst/>
          </a:prstGeom>
          <a:noFill/>
          <a:ln/>
        </p:spPr>
        <p:txBody>
          <a:bodyPr wrap="square" lIns="25400" tIns="25400" rIns="25400" bIns="25400" rtlCol="0" anchor="t">
            <a:normAutofit/>
          </a:bodyPr>
          <a:lstStyle/>
          <a:p>
            <a:pPr algn="l" indent="0" marL="0">
              <a:buNone/>
            </a:pPr>
            <a:r>
              <a:rPr lang="en-US" sz="1800" dirty="0">
                <a:solidFill>
                  <a:srgbClr val="2155A4"/>
                </a:solidFill>
                <a:highlight>
                  <a:srgbClr val="F1F4FA"/>
                </a:highlight>
                <a:latin typeface="Courier New" pitchFamily="34" charset="0"/>
                <a:ea typeface="Courier New" pitchFamily="34" charset="-122"/>
                <a:cs typeface="Courier New" pitchFamily="34" charset="-120"/>
              </a:rPr>
              <a:t>Service </a:t>
            </a:r>
            <a:pPr algn="l" indent="0" marL="0">
              <a:buNone/>
            </a:pPr>
            <a:r>
              <a:rPr lang="en-US" sz="1575" dirty="0">
                <a:solidFill>
                  <a:srgbClr val="9A968C"/>
                </a:solidFill>
                <a:latin typeface="Courier New" pitchFamily="34" charset="0"/>
                <a:ea typeface="Courier New" pitchFamily="34" charset="-122"/>
                <a:cs typeface="Courier New" pitchFamily="34" charset="-120"/>
              </a:rPr>
              <a:t>— 대화·분기·스트리밍·맥락</a:t>
            </a:r>
            <a:endParaRPr lang="en-US" sz="1800" dirty="0"/>
          </a:p>
        </p:txBody>
      </p:sp>
      <p:sp>
        <p:nvSpPr>
          <p:cNvPr id="11" name="Text 9"/>
          <p:cNvSpPr/>
          <p:nvPr/>
        </p:nvSpPr>
        <p:spPr>
          <a:xfrm>
            <a:off x="620985" y="4357688"/>
            <a:ext cx="8131522" cy="257175"/>
          </a:xfrm>
          <a:prstGeom prst="rect">
            <a:avLst/>
          </a:prstGeom>
          <a:noFill/>
          <a:ln/>
        </p:spPr>
        <p:txBody>
          <a:bodyPr wrap="square" lIns="25400" tIns="25400" rIns="25400" bIns="25400" rtlCol="0" anchor="t">
            <a:normAutofit/>
          </a:bodyPr>
          <a:lstStyle/>
          <a:p>
            <a:pPr algn="ctr" indent="0" marL="0">
              <a:buNone/>
            </a:pPr>
            <a:r>
              <a:rPr lang="en-US" sz="1500" dirty="0">
                <a:solidFill>
                  <a:srgbClr val="C3BBAC"/>
                </a:solidFill>
                <a:latin typeface="Georgia" pitchFamily="34" charset="0"/>
                <a:ea typeface="Georgia" pitchFamily="34" charset="-122"/>
                <a:cs typeface="Georgia" pitchFamily="34" charset="-120"/>
              </a:rPr>
              <a:t>↓</a:t>
            </a:r>
            <a:endParaRPr lang="en-US" sz="1500" dirty="0"/>
          </a:p>
        </p:txBody>
      </p:sp>
      <p:sp>
        <p:nvSpPr>
          <p:cNvPr id="12" name="Shape 10"/>
          <p:cNvSpPr/>
          <p:nvPr/>
        </p:nvSpPr>
        <p:spPr>
          <a:xfrm>
            <a:off x="990600" y="4672013"/>
            <a:ext cx="7392293" cy="523875"/>
          </a:xfrm>
          <a:prstGeom prst="rect">
            <a:avLst/>
          </a:prstGeom>
          <a:solidFill>
            <a:srgbClr val="F8F5EE"/>
          </a:solidFill>
          <a:ln w="9525">
            <a:solidFill>
              <a:srgbClr val="E4E0D6"/>
            </a:solidFill>
            <a:prstDash val="solid"/>
          </a:ln>
        </p:spPr>
      </p:sp>
      <p:sp>
        <p:nvSpPr>
          <p:cNvPr id="13" name="Text 11"/>
          <p:cNvSpPr/>
          <p:nvPr/>
        </p:nvSpPr>
        <p:spPr>
          <a:xfrm>
            <a:off x="1171575" y="4805363"/>
            <a:ext cx="7252112" cy="295275"/>
          </a:xfrm>
          <a:prstGeom prst="rect">
            <a:avLst/>
          </a:prstGeom>
          <a:noFill/>
          <a:ln/>
        </p:spPr>
        <p:txBody>
          <a:bodyPr wrap="square" lIns="25400" tIns="25400" rIns="25400" bIns="25400" rtlCol="0" anchor="t">
            <a:normAutofit/>
          </a:bodyPr>
          <a:lstStyle/>
          <a:p>
            <a:pPr algn="l" indent="0" marL="0">
              <a:buNone/>
            </a:pPr>
            <a:r>
              <a:rPr lang="en-US" sz="1800" dirty="0">
                <a:solidFill>
                  <a:srgbClr val="20201E"/>
                </a:solidFill>
                <a:highlight>
                  <a:srgbClr val="F8F5EE"/>
                </a:highlight>
                <a:latin typeface="Courier New" pitchFamily="34" charset="0"/>
                <a:ea typeface="Courier New" pitchFamily="34" charset="-122"/>
                <a:cs typeface="Courier New" pitchFamily="34" charset="-120"/>
              </a:rPr>
              <a:t>Repository </a:t>
            </a:r>
            <a:pPr algn="l" indent="0" marL="0">
              <a:buNone/>
            </a:pPr>
            <a:r>
              <a:rPr lang="en-US" sz="1575" dirty="0">
                <a:solidFill>
                  <a:srgbClr val="9A968C"/>
                </a:solidFill>
                <a:latin typeface="Courier New" pitchFamily="34" charset="0"/>
                <a:ea typeface="Courier New" pitchFamily="34" charset="-122"/>
                <a:cs typeface="Courier New" pitchFamily="34" charset="-120"/>
              </a:rPr>
              <a:t>— Entity 저장·조회</a:t>
            </a:r>
            <a:endParaRPr lang="en-US" sz="1800" dirty="0"/>
          </a:p>
        </p:txBody>
      </p:sp>
      <p:sp>
        <p:nvSpPr>
          <p:cNvPr id="14" name="Text 12"/>
          <p:cNvSpPr/>
          <p:nvPr/>
        </p:nvSpPr>
        <p:spPr>
          <a:xfrm>
            <a:off x="990600" y="5424488"/>
            <a:ext cx="8131522" cy="358080"/>
          </a:xfrm>
          <a:prstGeom prst="rect">
            <a:avLst/>
          </a:prstGeom>
          <a:noFill/>
          <a:ln/>
        </p:spPr>
        <p:txBody>
          <a:bodyPr wrap="square" lIns="25400" tIns="25400" rIns="25400" bIns="25400" rtlCol="0" anchor="t">
            <a:normAutofit/>
          </a:bodyPr>
          <a:lstStyle/>
          <a:p>
            <a:pPr algn="l" indent="0" marL="0">
              <a:lnSpc>
                <a:spcPct val="160000"/>
              </a:lnSpc>
              <a:buNone/>
            </a:pPr>
            <a:r>
              <a:rPr lang="en-US" sz="1575" dirty="0">
                <a:solidFill>
                  <a:srgbClr val="9A968C"/>
                </a:solidFill>
                <a:latin typeface="Courier New" pitchFamily="34" charset="0"/>
                <a:ea typeface="Courier New" pitchFamily="34" charset="-122"/>
                <a:cs typeface="Courier New" pitchFamily="34" charset="-120"/>
              </a:rPr>
              <a:t>모듈: Auth · Member · Chat · LLM · Usage · Global</a:t>
            </a:r>
            <a:endParaRPr lang="en-US" sz="1575" dirty="0"/>
          </a:p>
        </p:txBody>
      </p:sp>
      <p:sp>
        <p:nvSpPr>
          <p:cNvPr id="15" name="Shape 13"/>
          <p:cNvSpPr/>
          <p:nvPr/>
        </p:nvSpPr>
        <p:spPr>
          <a:xfrm>
            <a:off x="8954393" y="2195513"/>
            <a:ext cx="9525" cy="6777038"/>
          </a:xfrm>
          <a:prstGeom prst="rect">
            <a:avLst/>
          </a:prstGeom>
          <a:solidFill>
            <a:srgbClr val="E4E0D6"/>
          </a:solidFill>
          <a:ln/>
        </p:spPr>
      </p:sp>
      <p:sp>
        <p:nvSpPr>
          <p:cNvPr id="16" name="Shape 14"/>
          <p:cNvSpPr/>
          <p:nvPr/>
        </p:nvSpPr>
        <p:spPr>
          <a:xfrm>
            <a:off x="9535418" y="2586038"/>
            <a:ext cx="7761982" cy="9525"/>
          </a:xfrm>
          <a:prstGeom prst="rect">
            <a:avLst/>
          </a:prstGeom>
          <a:solidFill>
            <a:srgbClr val="E4E0D6"/>
          </a:solidFill>
          <a:ln/>
        </p:spPr>
      </p:sp>
      <p:sp>
        <p:nvSpPr>
          <p:cNvPr id="17" name="Text 15"/>
          <p:cNvSpPr/>
          <p:nvPr/>
        </p:nvSpPr>
        <p:spPr>
          <a:xfrm>
            <a:off x="9535418" y="2195513"/>
            <a:ext cx="7994841" cy="276225"/>
          </a:xfrm>
          <a:prstGeom prst="rect">
            <a:avLst/>
          </a:prstGeom>
          <a:noFill/>
          <a:ln/>
        </p:spPr>
        <p:txBody>
          <a:bodyPr wrap="square" lIns="25400" tIns="25400" rIns="25400" bIns="25400" rtlCol="0" anchor="t">
            <a:normAutofit/>
          </a:bodyPr>
          <a:lstStyle/>
          <a:p>
            <a:pPr algn="l" indent="0" marL="0">
              <a:buNone/>
            </a:pPr>
            <a:r>
              <a:rPr lang="en-US" sz="1650" spc="83" kern="0" dirty="0">
                <a:solidFill>
                  <a:srgbClr val="8C7A3F"/>
                </a:solidFill>
                <a:latin typeface="Courier New" pitchFamily="34" charset="0"/>
                <a:ea typeface="Courier New" pitchFamily="34" charset="-122"/>
                <a:cs typeface="Courier New" pitchFamily="34" charset="-120"/>
              </a:rPr>
              <a:t>DATA MODEL</a:t>
            </a:r>
            <a:endParaRPr lang="en-US" sz="1650" dirty="0"/>
          </a:p>
        </p:txBody>
      </p:sp>
      <p:sp>
        <p:nvSpPr>
          <p:cNvPr id="18" name="Shape 16"/>
          <p:cNvSpPr/>
          <p:nvPr/>
        </p:nvSpPr>
        <p:spPr>
          <a:xfrm>
            <a:off x="9535418" y="2805113"/>
            <a:ext cx="7761982" cy="1014413"/>
          </a:xfrm>
          <a:prstGeom prst="rect">
            <a:avLst/>
          </a:prstGeom>
          <a:solidFill>
            <a:srgbClr val="F1F4FA"/>
          </a:solidFill>
          <a:ln w="9525">
            <a:solidFill>
              <a:srgbClr val="C9D4E6"/>
            </a:solidFill>
            <a:prstDash val="solid"/>
          </a:ln>
        </p:spPr>
      </p:sp>
      <p:sp>
        <p:nvSpPr>
          <p:cNvPr id="19" name="Text 17"/>
          <p:cNvSpPr/>
          <p:nvPr/>
        </p:nvSpPr>
        <p:spPr>
          <a:xfrm>
            <a:off x="9754493" y="2986088"/>
            <a:ext cx="8056215" cy="295275"/>
          </a:xfrm>
          <a:prstGeom prst="rect">
            <a:avLst/>
          </a:prstGeom>
          <a:noFill/>
          <a:ln/>
        </p:spPr>
        <p:txBody>
          <a:bodyPr wrap="square" lIns="25400" tIns="25400" rIns="25400" bIns="25400" rtlCol="0" anchor="t">
            <a:normAutofit/>
          </a:bodyPr>
          <a:lstStyle/>
          <a:p>
            <a:pPr algn="l" indent="0" marL="0">
              <a:buNone/>
            </a:pPr>
            <a:r>
              <a:rPr lang="en-US" sz="1800" dirty="0">
                <a:solidFill>
                  <a:srgbClr val="2155A4"/>
                </a:solidFill>
                <a:latin typeface="Courier New" pitchFamily="34" charset="0"/>
                <a:ea typeface="Courier New" pitchFamily="34" charset="-122"/>
                <a:cs typeface="Courier New" pitchFamily="34" charset="-120"/>
              </a:rPr>
              <a:t>Chat </a:t>
            </a:r>
            <a:pPr algn="l" indent="0" marL="0">
              <a:buNone/>
            </a:pPr>
            <a:r>
              <a:rPr lang="en-US" sz="1500" dirty="0">
                <a:solidFill>
                  <a:srgbClr val="9A968C"/>
                </a:solidFill>
                <a:latin typeface="Courier New" pitchFamily="34" charset="0"/>
                <a:ea typeface="Courier New" pitchFamily="34" charset="-122"/>
                <a:cs typeface="Courier New" pitchFamily="34" charset="-120"/>
              </a:rPr>
              <a:t>하나의 대화 흐름</a:t>
            </a:r>
            <a:endParaRPr lang="en-US" sz="1800" dirty="0"/>
          </a:p>
        </p:txBody>
      </p:sp>
      <p:sp>
        <p:nvSpPr>
          <p:cNvPr id="20" name="Text 18"/>
          <p:cNvSpPr/>
          <p:nvPr/>
        </p:nvSpPr>
        <p:spPr>
          <a:xfrm>
            <a:off x="9754493" y="3338513"/>
            <a:ext cx="8056215" cy="338138"/>
          </a:xfrm>
          <a:prstGeom prst="rect">
            <a:avLst/>
          </a:prstGeom>
          <a:noFill/>
          <a:ln/>
        </p:spPr>
        <p:txBody>
          <a:bodyPr wrap="square" lIns="25400" tIns="25400" rIns="25400" bIns="25400" rtlCol="0" anchor="t">
            <a:normAutofit/>
          </a:bodyPr>
          <a:lstStyle/>
          <a:p>
            <a:pPr algn="l" indent="0" marL="0">
              <a:lnSpc>
                <a:spcPct val="150000"/>
              </a:lnSpc>
              <a:buNone/>
            </a:pPr>
            <a:r>
              <a:rPr lang="en-US" sz="1575" dirty="0">
                <a:solidFill>
                  <a:srgbClr val="46443D"/>
                </a:solidFill>
                <a:latin typeface="Courier New" pitchFamily="34" charset="0"/>
                <a:ea typeface="Courier New" pitchFamily="34" charset="-122"/>
                <a:cs typeface="Courier New" pitchFamily="34" charset="-120"/>
              </a:rPr>
              <a:t>parentId · rootChatId · branchPointTurnId</a:t>
            </a:r>
            <a:endParaRPr lang="en-US" sz="1575" dirty="0"/>
          </a:p>
        </p:txBody>
      </p:sp>
      <p:sp>
        <p:nvSpPr>
          <p:cNvPr id="21" name="Shape 19"/>
          <p:cNvSpPr/>
          <p:nvPr/>
        </p:nvSpPr>
        <p:spPr>
          <a:xfrm>
            <a:off x="9535418" y="3971925"/>
            <a:ext cx="7761982" cy="619125"/>
          </a:xfrm>
          <a:prstGeom prst="rect">
            <a:avLst/>
          </a:prstGeom>
          <a:solidFill>
            <a:srgbClr val="F8F5EE"/>
          </a:solidFill>
          <a:ln w="9525">
            <a:solidFill>
              <a:srgbClr val="E4E0D6"/>
            </a:solidFill>
            <a:prstDash val="solid"/>
          </a:ln>
        </p:spPr>
      </p:sp>
      <p:sp>
        <p:nvSpPr>
          <p:cNvPr id="22" name="Text 20"/>
          <p:cNvSpPr/>
          <p:nvPr/>
        </p:nvSpPr>
        <p:spPr>
          <a:xfrm>
            <a:off x="9754493" y="4152900"/>
            <a:ext cx="8056215" cy="295275"/>
          </a:xfrm>
          <a:prstGeom prst="rect">
            <a:avLst/>
          </a:prstGeom>
          <a:noFill/>
          <a:ln/>
        </p:spPr>
        <p:txBody>
          <a:bodyPr wrap="square" lIns="25400" tIns="25400" rIns="25400" bIns="25400" rtlCol="0" anchor="t">
            <a:normAutofit/>
          </a:bodyPr>
          <a:lstStyle/>
          <a:p>
            <a:pPr algn="l" indent="0" marL="0">
              <a:buNone/>
            </a:pPr>
            <a:r>
              <a:rPr lang="en-US" sz="1800" dirty="0">
                <a:solidFill>
                  <a:srgbClr val="20201E"/>
                </a:solidFill>
                <a:latin typeface="Courier New" pitchFamily="34" charset="0"/>
                <a:ea typeface="Courier New" pitchFamily="34" charset="-122"/>
                <a:cs typeface="Courier New" pitchFamily="34" charset="-120"/>
              </a:rPr>
              <a:t>Turn </a:t>
            </a:r>
            <a:pPr algn="l" indent="0" marL="0">
              <a:buNone/>
            </a:pPr>
            <a:r>
              <a:rPr lang="en-US" sz="1500" dirty="0">
                <a:solidFill>
                  <a:srgbClr val="9A968C"/>
                </a:solidFill>
                <a:latin typeface="Courier New" pitchFamily="34" charset="0"/>
                <a:ea typeface="Courier New" pitchFamily="34" charset="-122"/>
                <a:cs typeface="Courier New" pitchFamily="34" charset="-120"/>
              </a:rPr>
              <a:t>질문+응답 묶음 · summary</a:t>
            </a:r>
            <a:endParaRPr lang="en-US" sz="1800" dirty="0"/>
          </a:p>
        </p:txBody>
      </p:sp>
      <p:sp>
        <p:nvSpPr>
          <p:cNvPr id="23" name="Shape 21"/>
          <p:cNvSpPr/>
          <p:nvPr/>
        </p:nvSpPr>
        <p:spPr>
          <a:xfrm>
            <a:off x="9535418" y="4743450"/>
            <a:ext cx="7761982" cy="619125"/>
          </a:xfrm>
          <a:prstGeom prst="rect">
            <a:avLst/>
          </a:prstGeom>
          <a:solidFill>
            <a:srgbClr val="F8F5EE"/>
          </a:solidFill>
          <a:ln w="9525">
            <a:solidFill>
              <a:srgbClr val="E4E0D6"/>
            </a:solidFill>
            <a:prstDash val="solid"/>
          </a:ln>
        </p:spPr>
      </p:sp>
      <p:sp>
        <p:nvSpPr>
          <p:cNvPr id="24" name="Text 22"/>
          <p:cNvSpPr/>
          <p:nvPr/>
        </p:nvSpPr>
        <p:spPr>
          <a:xfrm>
            <a:off x="9754493" y="4924425"/>
            <a:ext cx="8056215" cy="295275"/>
          </a:xfrm>
          <a:prstGeom prst="rect">
            <a:avLst/>
          </a:prstGeom>
          <a:noFill/>
          <a:ln/>
        </p:spPr>
        <p:txBody>
          <a:bodyPr wrap="square" lIns="25400" tIns="25400" rIns="25400" bIns="25400" rtlCol="0" anchor="t">
            <a:normAutofit/>
          </a:bodyPr>
          <a:lstStyle/>
          <a:p>
            <a:pPr algn="l" indent="0" marL="0">
              <a:buNone/>
            </a:pPr>
            <a:r>
              <a:rPr lang="en-US" sz="1800" dirty="0">
                <a:solidFill>
                  <a:srgbClr val="20201E"/>
                </a:solidFill>
                <a:latin typeface="Courier New" pitchFamily="34" charset="0"/>
                <a:ea typeface="Courier New" pitchFamily="34" charset="-122"/>
                <a:cs typeface="Courier New" pitchFamily="34" charset="-120"/>
              </a:rPr>
              <a:t>Message </a:t>
            </a:r>
            <a:pPr algn="l" indent="0" marL="0">
              <a:buNone/>
            </a:pPr>
            <a:r>
              <a:rPr lang="en-US" sz="1500" dirty="0">
                <a:solidFill>
                  <a:srgbClr val="9A968C"/>
                </a:solidFill>
                <a:latin typeface="Courier New" pitchFamily="34" charset="0"/>
                <a:ea typeface="Courier New" pitchFamily="34" charset="-122"/>
                <a:cs typeface="Courier New" pitchFamily="34" charset="-120"/>
              </a:rPr>
              <a:t>USER / ASSISTANT 텍스트</a:t>
            </a:r>
            <a:endParaRPr lang="en-US" sz="1800" dirty="0"/>
          </a:p>
        </p:txBody>
      </p:sp>
      <p:sp>
        <p:nvSpPr>
          <p:cNvPr id="25" name="Text 23"/>
          <p:cNvSpPr/>
          <p:nvPr/>
        </p:nvSpPr>
        <p:spPr>
          <a:xfrm>
            <a:off x="9535418" y="5572125"/>
            <a:ext cx="7994841"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46443D"/>
                </a:solidFill>
                <a:latin typeface="Georgia" pitchFamily="34" charset="0"/>
                <a:ea typeface="Georgia" pitchFamily="34" charset="-122"/>
                <a:cs typeface="Georgia" pitchFamily="34" charset="-120"/>
              </a:rPr>
              <a:t>특정 Turn을 기준으로 새 branch Chat 생성 → 분기점 이전 맥락 상속, </a:t>
            </a:r>
            <a:pPr algn="l" indent="0" marL="0">
              <a:lnSpc>
                <a:spcPct val="145000"/>
              </a:lnSpc>
              <a:buNone/>
            </a:pPr>
            <a:r>
              <a:rPr lang="en-US" sz="1800" dirty="0">
                <a:solidFill>
                  <a:srgbClr val="2155A4"/>
                </a:solidFill>
                <a:latin typeface="Georgia" pitchFamily="34" charset="0"/>
                <a:ea typeface="Georgia" pitchFamily="34" charset="-122"/>
                <a:cs typeface="Georgia" pitchFamily="34" charset="-120"/>
              </a:rPr>
              <a:t>이후 메시지는 독립 저장</a:t>
            </a:r>
            <a:endParaRPr lang="en-US" sz="1800" dirty="0"/>
          </a:p>
        </p:txBody>
      </p:sp>
      <p:sp>
        <p:nvSpPr>
          <p:cNvPr id="26" name="Shape 24"/>
          <p:cNvSpPr/>
          <p:nvPr/>
        </p:nvSpPr>
        <p:spPr>
          <a:xfrm>
            <a:off x="990600" y="9239250"/>
            <a:ext cx="16306800" cy="9525"/>
          </a:xfrm>
          <a:prstGeom prst="rect">
            <a:avLst/>
          </a:prstGeom>
          <a:solidFill>
            <a:srgbClr val="E4E0D6"/>
          </a:solidFill>
          <a:ln/>
        </p:spPr>
      </p:sp>
      <p:sp>
        <p:nvSpPr>
          <p:cNvPr id="27" name="Text 25"/>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28" name="Text 26"/>
          <p:cNvSpPr/>
          <p:nvPr/>
        </p:nvSpPr>
        <p:spPr>
          <a:xfrm>
            <a:off x="15651212" y="9458325"/>
            <a:ext cx="1810807"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11 / Backend</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12 — SYSTEM DESIGN</a:t>
            </a:r>
            <a:endParaRPr lang="en-US" sz="1875" dirty="0"/>
          </a:p>
        </p:txBody>
      </p:sp>
      <p:sp>
        <p:nvSpPr>
          <p:cNvPr id="3" name="Text 1"/>
          <p:cNvSpPr/>
          <p:nvPr/>
        </p:nvSpPr>
        <p:spPr>
          <a:xfrm>
            <a:off x="990600" y="1247775"/>
            <a:ext cx="17937480" cy="585788"/>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Design Patterns — 변경 가능성이 큰 영역을 분리</a:t>
            </a:r>
            <a:endParaRPr lang="en-US" sz="3750" dirty="0"/>
          </a:p>
        </p:txBody>
      </p:sp>
      <p:sp>
        <p:nvSpPr>
          <p:cNvPr id="4" name="Text 2"/>
          <p:cNvSpPr/>
          <p:nvPr/>
        </p:nvSpPr>
        <p:spPr>
          <a:xfrm>
            <a:off x="990600" y="2195513"/>
            <a:ext cx="3910727" cy="257175"/>
          </a:xfrm>
          <a:prstGeom prst="rect">
            <a:avLst/>
          </a:prstGeom>
          <a:noFill/>
          <a:ln/>
        </p:spPr>
        <p:txBody>
          <a:bodyPr wrap="square" lIns="25400" tIns="25400" rIns="25400" bIns="25400" rtlCol="0" anchor="t">
            <a:normAutofit/>
          </a:bodyPr>
          <a:lstStyle/>
          <a:p>
            <a:pPr algn="l" indent="0" marL="0">
              <a:buNone/>
            </a:pPr>
            <a:r>
              <a:rPr lang="en-US" sz="1575" dirty="0">
                <a:solidFill>
                  <a:srgbClr val="8C7A3F"/>
                </a:solidFill>
                <a:latin typeface="Courier New" pitchFamily="34" charset="0"/>
                <a:ea typeface="Courier New" pitchFamily="34" charset="-122"/>
                <a:cs typeface="Courier New" pitchFamily="34" charset="-120"/>
              </a:rPr>
              <a:t>Adapter / Wrapper</a:t>
            </a:r>
            <a:endParaRPr lang="en-US" sz="1575" dirty="0"/>
          </a:p>
        </p:txBody>
      </p:sp>
      <p:sp>
        <p:nvSpPr>
          <p:cNvPr id="5" name="Text 3"/>
          <p:cNvSpPr/>
          <p:nvPr/>
        </p:nvSpPr>
        <p:spPr>
          <a:xfrm>
            <a:off x="990600" y="2566988"/>
            <a:ext cx="3910727" cy="371475"/>
          </a:xfrm>
          <a:prstGeom prst="rect">
            <a:avLst/>
          </a:prstGeom>
          <a:noFill/>
          <a:ln/>
        </p:spPr>
        <p:txBody>
          <a:bodyPr wrap="square" lIns="25400" tIns="25400" rIns="25400" bIns="25400" rtlCol="0" anchor="t">
            <a:normAutofit/>
          </a:bodyPr>
          <a:lstStyle/>
          <a:p>
            <a:pPr algn="l" indent="0" marL="0">
              <a:lnSpc>
                <a:spcPct val="125000"/>
              </a:lnSpc>
              <a:buNone/>
            </a:pPr>
            <a:r>
              <a:rPr lang="en-US" sz="2100" dirty="0">
                <a:solidFill>
                  <a:srgbClr val="20201E"/>
                </a:solidFill>
                <a:latin typeface="Georgia" pitchFamily="34" charset="0"/>
                <a:ea typeface="Georgia" pitchFamily="34" charset="-122"/>
                <a:cs typeface="Georgia" pitchFamily="34" charset="-120"/>
              </a:rPr>
              <a:t>AI Server Adapter</a:t>
            </a:r>
            <a:endParaRPr lang="en-US" sz="2100" dirty="0"/>
          </a:p>
        </p:txBody>
      </p:sp>
      <p:sp>
        <p:nvSpPr>
          <p:cNvPr id="6" name="Text 4"/>
          <p:cNvSpPr/>
          <p:nvPr/>
        </p:nvSpPr>
        <p:spPr>
          <a:xfrm>
            <a:off x="990600" y="3033713"/>
            <a:ext cx="3661862" cy="10668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6E6A60"/>
                </a:solidFill>
                <a:latin typeface="Georgia" pitchFamily="34" charset="0"/>
                <a:ea typeface="Georgia" pitchFamily="34" charset="-122"/>
                <a:cs typeface="Georgia" pitchFamily="34" charset="-120"/>
              </a:rPr>
              <a:t>Worker의 endpoint·lifecycle·요청 형식을 숨기고 안정적 completion API만 노출</a:t>
            </a:r>
            <a:endParaRPr lang="en-US" sz="1800" dirty="0"/>
          </a:p>
        </p:txBody>
      </p:sp>
      <p:sp>
        <p:nvSpPr>
          <p:cNvPr id="7" name="Shape 5"/>
          <p:cNvSpPr/>
          <p:nvPr/>
        </p:nvSpPr>
        <p:spPr>
          <a:xfrm>
            <a:off x="4888706" y="2195513"/>
            <a:ext cx="9525" cy="5672138"/>
          </a:xfrm>
          <a:prstGeom prst="rect">
            <a:avLst/>
          </a:prstGeom>
          <a:solidFill>
            <a:srgbClr val="E4E0D6"/>
          </a:solidFill>
          <a:ln/>
        </p:spPr>
      </p:sp>
      <p:sp>
        <p:nvSpPr>
          <p:cNvPr id="8" name="Text 6"/>
          <p:cNvSpPr/>
          <p:nvPr/>
        </p:nvSpPr>
        <p:spPr>
          <a:xfrm>
            <a:off x="5241131" y="2195513"/>
            <a:ext cx="3910727" cy="257175"/>
          </a:xfrm>
          <a:prstGeom prst="rect">
            <a:avLst/>
          </a:prstGeom>
          <a:noFill/>
          <a:ln/>
        </p:spPr>
        <p:txBody>
          <a:bodyPr wrap="square" lIns="25400" tIns="25400" rIns="25400" bIns="25400" rtlCol="0" anchor="t">
            <a:normAutofit/>
          </a:bodyPr>
          <a:lstStyle/>
          <a:p>
            <a:pPr algn="l" indent="0" marL="0">
              <a:buNone/>
            </a:pPr>
            <a:r>
              <a:rPr lang="en-US" sz="1575" dirty="0">
                <a:solidFill>
                  <a:srgbClr val="8C7A3F"/>
                </a:solidFill>
                <a:latin typeface="Courier New" pitchFamily="34" charset="0"/>
                <a:ea typeface="Courier New" pitchFamily="34" charset="-122"/>
                <a:cs typeface="Courier New" pitchFamily="34" charset="-120"/>
              </a:rPr>
              <a:t>Dependency Injection</a:t>
            </a:r>
            <a:endParaRPr lang="en-US" sz="1575" dirty="0"/>
          </a:p>
        </p:txBody>
      </p:sp>
      <p:sp>
        <p:nvSpPr>
          <p:cNvPr id="9" name="Text 7"/>
          <p:cNvSpPr/>
          <p:nvPr/>
        </p:nvSpPr>
        <p:spPr>
          <a:xfrm>
            <a:off x="5241131" y="2566988"/>
            <a:ext cx="3910727" cy="371475"/>
          </a:xfrm>
          <a:prstGeom prst="rect">
            <a:avLst/>
          </a:prstGeom>
          <a:noFill/>
          <a:ln/>
        </p:spPr>
        <p:txBody>
          <a:bodyPr wrap="square" lIns="25400" tIns="25400" rIns="25400" bIns="25400" rtlCol="0" anchor="t">
            <a:normAutofit/>
          </a:bodyPr>
          <a:lstStyle/>
          <a:p>
            <a:pPr algn="l" indent="0" marL="0">
              <a:lnSpc>
                <a:spcPct val="125000"/>
              </a:lnSpc>
              <a:buNone/>
            </a:pPr>
            <a:r>
              <a:rPr lang="en-US" sz="2100" dirty="0">
                <a:solidFill>
                  <a:srgbClr val="20201E"/>
                </a:solidFill>
                <a:latin typeface="Georgia" pitchFamily="34" charset="0"/>
                <a:ea typeface="Georgia" pitchFamily="34" charset="-122"/>
                <a:cs typeface="Georgia" pitchFamily="34" charset="-120"/>
              </a:rPr>
              <a:t>LLM 인터페이스 주입</a:t>
            </a:r>
            <a:endParaRPr lang="en-US" sz="2100" dirty="0"/>
          </a:p>
        </p:txBody>
      </p:sp>
      <p:sp>
        <p:nvSpPr>
          <p:cNvPr id="10" name="Text 8"/>
          <p:cNvSpPr/>
          <p:nvPr/>
        </p:nvSpPr>
        <p:spPr>
          <a:xfrm>
            <a:off x="5241131" y="3033713"/>
            <a:ext cx="3661862"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6E6A60"/>
                </a:solidFill>
                <a:latin typeface="Georgia" pitchFamily="34" charset="0"/>
                <a:ea typeface="Georgia" pitchFamily="34" charset="-122"/>
                <a:cs typeface="Georgia" pitchFamily="34" charset="-120"/>
              </a:rPr>
              <a:t>고수준 서비스가 구현체 대신 인터페이스에 의존 — 테스트·운영 교체</a:t>
            </a:r>
            <a:endParaRPr lang="en-US" sz="1800" dirty="0"/>
          </a:p>
        </p:txBody>
      </p:sp>
      <p:sp>
        <p:nvSpPr>
          <p:cNvPr id="11" name="Shape 9"/>
          <p:cNvSpPr/>
          <p:nvPr/>
        </p:nvSpPr>
        <p:spPr>
          <a:xfrm>
            <a:off x="9139238" y="2195513"/>
            <a:ext cx="9525" cy="5672138"/>
          </a:xfrm>
          <a:prstGeom prst="rect">
            <a:avLst/>
          </a:prstGeom>
          <a:solidFill>
            <a:srgbClr val="E4E0D6"/>
          </a:solidFill>
          <a:ln/>
        </p:spPr>
      </p:sp>
      <p:sp>
        <p:nvSpPr>
          <p:cNvPr id="12" name="Text 10"/>
          <p:cNvSpPr/>
          <p:nvPr/>
        </p:nvSpPr>
        <p:spPr>
          <a:xfrm>
            <a:off x="9491663" y="2195513"/>
            <a:ext cx="3910727" cy="257175"/>
          </a:xfrm>
          <a:prstGeom prst="rect">
            <a:avLst/>
          </a:prstGeom>
          <a:noFill/>
          <a:ln/>
        </p:spPr>
        <p:txBody>
          <a:bodyPr wrap="square" lIns="25400" tIns="25400" rIns="25400" bIns="25400" rtlCol="0" anchor="t">
            <a:normAutofit/>
          </a:bodyPr>
          <a:lstStyle/>
          <a:p>
            <a:pPr algn="l" indent="0" marL="0">
              <a:buNone/>
            </a:pPr>
            <a:r>
              <a:rPr lang="en-US" sz="1575" dirty="0">
                <a:solidFill>
                  <a:srgbClr val="8C7A3F"/>
                </a:solidFill>
                <a:latin typeface="Courier New" pitchFamily="34" charset="0"/>
                <a:ea typeface="Courier New" pitchFamily="34" charset="-122"/>
                <a:cs typeface="Courier New" pitchFamily="34" charset="-120"/>
              </a:rPr>
              <a:t>Strategy</a:t>
            </a:r>
            <a:endParaRPr lang="en-US" sz="1575" dirty="0"/>
          </a:p>
        </p:txBody>
      </p:sp>
      <p:sp>
        <p:nvSpPr>
          <p:cNvPr id="13" name="Text 11"/>
          <p:cNvSpPr/>
          <p:nvPr/>
        </p:nvSpPr>
        <p:spPr>
          <a:xfrm>
            <a:off x="9491663" y="2566988"/>
            <a:ext cx="3910727" cy="371475"/>
          </a:xfrm>
          <a:prstGeom prst="rect">
            <a:avLst/>
          </a:prstGeom>
          <a:noFill/>
          <a:ln/>
        </p:spPr>
        <p:txBody>
          <a:bodyPr wrap="square" lIns="25400" tIns="25400" rIns="25400" bIns="25400" rtlCol="0" anchor="t">
            <a:normAutofit/>
          </a:bodyPr>
          <a:lstStyle/>
          <a:p>
            <a:pPr algn="l" indent="0" marL="0">
              <a:lnSpc>
                <a:spcPct val="125000"/>
              </a:lnSpc>
              <a:buNone/>
            </a:pPr>
            <a:r>
              <a:rPr lang="en-US" sz="2100" dirty="0">
                <a:solidFill>
                  <a:srgbClr val="20201E"/>
                </a:solidFill>
                <a:latin typeface="Georgia" pitchFamily="34" charset="0"/>
                <a:ea typeface="Georgia" pitchFamily="34" charset="-122"/>
                <a:cs typeface="Georgia" pitchFamily="34" charset="-120"/>
              </a:rPr>
              <a:t>Model Backend 교체</a:t>
            </a:r>
            <a:endParaRPr lang="en-US" sz="2100" dirty="0"/>
          </a:p>
        </p:txBody>
      </p:sp>
      <p:sp>
        <p:nvSpPr>
          <p:cNvPr id="14" name="Text 12"/>
          <p:cNvSpPr/>
          <p:nvPr/>
        </p:nvSpPr>
        <p:spPr>
          <a:xfrm>
            <a:off x="9491663" y="3033713"/>
            <a:ext cx="3661862"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6E6A60"/>
                </a:solidFill>
                <a:latin typeface="Georgia" pitchFamily="34" charset="0"/>
                <a:ea typeface="Georgia" pitchFamily="34" charset="-122"/>
                <a:cs typeface="Georgia" pitchFamily="34" charset="-120"/>
              </a:rPr>
              <a:t>동일 API 유지하며 lightweight · vLLM · transformers 선택</a:t>
            </a:r>
            <a:endParaRPr lang="en-US" sz="1800" dirty="0"/>
          </a:p>
        </p:txBody>
      </p:sp>
      <p:sp>
        <p:nvSpPr>
          <p:cNvPr id="15" name="Shape 13"/>
          <p:cNvSpPr/>
          <p:nvPr/>
        </p:nvSpPr>
        <p:spPr>
          <a:xfrm>
            <a:off x="13389769" y="2195513"/>
            <a:ext cx="9525" cy="5672138"/>
          </a:xfrm>
          <a:prstGeom prst="rect">
            <a:avLst/>
          </a:prstGeom>
          <a:solidFill>
            <a:srgbClr val="E4E0D6"/>
          </a:solidFill>
          <a:ln/>
        </p:spPr>
      </p:sp>
      <p:sp>
        <p:nvSpPr>
          <p:cNvPr id="16" name="Text 14"/>
          <p:cNvSpPr/>
          <p:nvPr/>
        </p:nvSpPr>
        <p:spPr>
          <a:xfrm>
            <a:off x="13742194" y="2195513"/>
            <a:ext cx="3910727" cy="257175"/>
          </a:xfrm>
          <a:prstGeom prst="rect">
            <a:avLst/>
          </a:prstGeom>
          <a:noFill/>
          <a:ln/>
        </p:spPr>
        <p:txBody>
          <a:bodyPr wrap="square" lIns="25400" tIns="25400" rIns="25400" bIns="25400" rtlCol="0" anchor="t">
            <a:normAutofit/>
          </a:bodyPr>
          <a:lstStyle/>
          <a:p>
            <a:pPr algn="l" indent="0" marL="0">
              <a:buNone/>
            </a:pPr>
            <a:r>
              <a:rPr lang="en-US" sz="1575" dirty="0">
                <a:solidFill>
                  <a:srgbClr val="8C7A3F"/>
                </a:solidFill>
                <a:latin typeface="Courier New" pitchFamily="34" charset="0"/>
                <a:ea typeface="Courier New" pitchFamily="34" charset="-122"/>
                <a:cs typeface="Courier New" pitchFamily="34" charset="-120"/>
              </a:rPr>
              <a:t>Event-Based</a:t>
            </a:r>
            <a:endParaRPr lang="en-US" sz="1575" dirty="0"/>
          </a:p>
        </p:txBody>
      </p:sp>
      <p:sp>
        <p:nvSpPr>
          <p:cNvPr id="17" name="Text 15"/>
          <p:cNvSpPr/>
          <p:nvPr/>
        </p:nvSpPr>
        <p:spPr>
          <a:xfrm>
            <a:off x="13742194" y="2566988"/>
            <a:ext cx="3910727" cy="371475"/>
          </a:xfrm>
          <a:prstGeom prst="rect">
            <a:avLst/>
          </a:prstGeom>
          <a:noFill/>
          <a:ln/>
        </p:spPr>
        <p:txBody>
          <a:bodyPr wrap="square" lIns="25400" tIns="25400" rIns="25400" bIns="25400" rtlCol="0" anchor="t">
            <a:normAutofit/>
          </a:bodyPr>
          <a:lstStyle/>
          <a:p>
            <a:pPr algn="l" indent="0" marL="0">
              <a:lnSpc>
                <a:spcPct val="125000"/>
              </a:lnSpc>
              <a:buNone/>
            </a:pPr>
            <a:r>
              <a:rPr lang="en-US" sz="2100" dirty="0">
                <a:solidFill>
                  <a:srgbClr val="20201E"/>
                </a:solidFill>
                <a:latin typeface="Georgia" pitchFamily="34" charset="0"/>
                <a:ea typeface="Georgia" pitchFamily="34" charset="-122"/>
                <a:cs typeface="Georgia" pitchFamily="34" charset="-120"/>
              </a:rPr>
              <a:t>완료 후처리 분리</a:t>
            </a:r>
            <a:endParaRPr lang="en-US" sz="2100" dirty="0"/>
          </a:p>
        </p:txBody>
      </p:sp>
      <p:sp>
        <p:nvSpPr>
          <p:cNvPr id="18" name="Text 16"/>
          <p:cNvSpPr/>
          <p:nvPr/>
        </p:nvSpPr>
        <p:spPr>
          <a:xfrm>
            <a:off x="13742194" y="3033713"/>
            <a:ext cx="3661862" cy="10668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6E6A60"/>
                </a:solidFill>
                <a:latin typeface="Georgia" pitchFamily="34" charset="0"/>
                <a:ea typeface="Georgia" pitchFamily="34" charset="-122"/>
                <a:cs typeface="Georgia" pitchFamily="34" charset="-120"/>
              </a:rPr>
              <a:t>MessageCompletedEvent → 사용량 누적 · Turn 요약을 listener로 후처리</a:t>
            </a:r>
            <a:endParaRPr lang="en-US" sz="1800" dirty="0"/>
          </a:p>
        </p:txBody>
      </p:sp>
      <p:sp>
        <p:nvSpPr>
          <p:cNvPr id="19" name="Shape 17"/>
          <p:cNvSpPr/>
          <p:nvPr/>
        </p:nvSpPr>
        <p:spPr>
          <a:xfrm>
            <a:off x="990600" y="8172450"/>
            <a:ext cx="16306800" cy="800100"/>
          </a:xfrm>
          <a:prstGeom prst="rect">
            <a:avLst/>
          </a:prstGeom>
          <a:solidFill>
            <a:srgbClr val="F4F1E9"/>
          </a:solidFill>
          <a:ln w="9525">
            <a:solidFill>
              <a:srgbClr val="E4E0D6"/>
            </a:solidFill>
            <a:prstDash val="solid"/>
          </a:ln>
        </p:spPr>
      </p:sp>
      <p:sp>
        <p:nvSpPr>
          <p:cNvPr id="20" name="Text 18"/>
          <p:cNvSpPr/>
          <p:nvPr/>
        </p:nvSpPr>
        <p:spPr>
          <a:xfrm>
            <a:off x="1323975" y="8453438"/>
            <a:ext cx="788789" cy="276225"/>
          </a:xfrm>
          <a:prstGeom prst="rect">
            <a:avLst/>
          </a:prstGeom>
          <a:noFill/>
          <a:ln/>
        </p:spPr>
        <p:txBody>
          <a:bodyPr wrap="square" lIns="25400" tIns="25400" rIns="25400" bIns="25400" rtlCol="0" anchor="t">
            <a:normAutofit/>
          </a:bodyPr>
          <a:lstStyle/>
          <a:p>
            <a:pPr algn="l" indent="0" marL="0">
              <a:buNone/>
            </a:pPr>
            <a:r>
              <a:rPr lang="en-US" sz="1650" spc="132" kern="0" dirty="0">
                <a:solidFill>
                  <a:srgbClr val="8C7A3F"/>
                </a:solidFill>
                <a:latin typeface="Courier New" pitchFamily="34" charset="0"/>
                <a:ea typeface="Courier New" pitchFamily="34" charset="-122"/>
                <a:cs typeface="Courier New" pitchFamily="34" charset="-120"/>
              </a:rPr>
              <a:t>SOLID</a:t>
            </a:r>
            <a:endParaRPr lang="en-US" sz="1650" dirty="0"/>
          </a:p>
        </p:txBody>
      </p:sp>
      <p:sp>
        <p:nvSpPr>
          <p:cNvPr id="21" name="Text 19"/>
          <p:cNvSpPr/>
          <p:nvPr/>
        </p:nvSpPr>
        <p:spPr>
          <a:xfrm>
            <a:off x="2379464" y="8429625"/>
            <a:ext cx="3468544" cy="323850"/>
          </a:xfrm>
          <a:prstGeom prst="rect">
            <a:avLst/>
          </a:prstGeom>
          <a:noFill/>
          <a:ln/>
        </p:spPr>
        <p:txBody>
          <a:bodyPr wrap="square" lIns="25400" tIns="25400" rIns="25400" bIns="25400" rtlCol="0" anchor="t">
            <a:normAutofit/>
          </a:bodyPr>
          <a:lstStyle/>
          <a:p>
            <a:pPr algn="l" indent="0" marL="0">
              <a:buNone/>
            </a:pPr>
            <a:r>
              <a:rPr lang="en-US" sz="1800" dirty="0">
                <a:solidFill>
                  <a:srgbClr val="2155A4"/>
                </a:solidFill>
                <a:latin typeface="Courier New" pitchFamily="34" charset="0"/>
                <a:ea typeface="Courier New" pitchFamily="34" charset="-122"/>
                <a:cs typeface="Courier New" pitchFamily="34" charset="-120"/>
              </a:rPr>
              <a:t>SRP </a:t>
            </a:r>
            <a:pPr algn="l" indent="0" marL="0">
              <a:buNone/>
            </a:pPr>
            <a:r>
              <a:rPr lang="en-US" sz="1800" dirty="0">
                <a:solidFill>
                  <a:srgbClr val="46443D"/>
                </a:solidFill>
                <a:latin typeface="Georgia" pitchFamily="34" charset="0"/>
                <a:ea typeface="Georgia" pitchFamily="34" charset="-122"/>
                <a:cs typeface="Georgia" pitchFamily="34" charset="-120"/>
              </a:rPr>
              <a:t>책임별 서비스·리스너 분리</a:t>
            </a:r>
            <a:endParaRPr lang="en-US" sz="1800" dirty="0"/>
          </a:p>
        </p:txBody>
      </p:sp>
      <p:sp>
        <p:nvSpPr>
          <p:cNvPr id="22" name="Text 20"/>
          <p:cNvSpPr/>
          <p:nvPr/>
        </p:nvSpPr>
        <p:spPr>
          <a:xfrm>
            <a:off x="6921996" y="8429625"/>
            <a:ext cx="2930098" cy="323850"/>
          </a:xfrm>
          <a:prstGeom prst="rect">
            <a:avLst/>
          </a:prstGeom>
          <a:noFill/>
          <a:ln/>
        </p:spPr>
        <p:txBody>
          <a:bodyPr wrap="square" lIns="25400" tIns="25400" rIns="25400" bIns="25400" rtlCol="0" anchor="t">
            <a:normAutofit/>
          </a:bodyPr>
          <a:lstStyle/>
          <a:p>
            <a:pPr algn="l" indent="0" marL="0">
              <a:buNone/>
            </a:pPr>
            <a:r>
              <a:rPr lang="en-US" sz="1800" dirty="0">
                <a:solidFill>
                  <a:srgbClr val="2155A4"/>
                </a:solidFill>
                <a:latin typeface="Courier New" pitchFamily="34" charset="0"/>
                <a:ea typeface="Courier New" pitchFamily="34" charset="-122"/>
                <a:cs typeface="Courier New" pitchFamily="34" charset="-120"/>
              </a:rPr>
              <a:t>ISP </a:t>
            </a:r>
            <a:pPr algn="l" indent="0" marL="0">
              <a:buNone/>
            </a:pPr>
            <a:r>
              <a:rPr lang="en-US" sz="1800" dirty="0">
                <a:solidFill>
                  <a:srgbClr val="46443D"/>
                </a:solidFill>
                <a:latin typeface="Georgia" pitchFamily="34" charset="0"/>
                <a:ea typeface="Georgia" pitchFamily="34" charset="-122"/>
                <a:cs typeface="Georgia" pitchFamily="34" charset="-120"/>
              </a:rPr>
              <a:t>작은 LLM 인터페이스</a:t>
            </a:r>
            <a:endParaRPr lang="en-US" sz="1800" dirty="0"/>
          </a:p>
        </p:txBody>
      </p:sp>
      <p:sp>
        <p:nvSpPr>
          <p:cNvPr id="23" name="Text 21"/>
          <p:cNvSpPr/>
          <p:nvPr/>
        </p:nvSpPr>
        <p:spPr>
          <a:xfrm>
            <a:off x="10975181" y="8429625"/>
            <a:ext cx="2332717" cy="323850"/>
          </a:xfrm>
          <a:prstGeom prst="rect">
            <a:avLst/>
          </a:prstGeom>
          <a:noFill/>
          <a:ln/>
        </p:spPr>
        <p:txBody>
          <a:bodyPr wrap="square" lIns="25400" tIns="25400" rIns="25400" bIns="25400" rtlCol="0" anchor="t">
            <a:normAutofit/>
          </a:bodyPr>
          <a:lstStyle/>
          <a:p>
            <a:pPr algn="l" indent="0" marL="0">
              <a:buNone/>
            </a:pPr>
            <a:r>
              <a:rPr lang="en-US" sz="1800" dirty="0">
                <a:solidFill>
                  <a:srgbClr val="2155A4"/>
                </a:solidFill>
                <a:latin typeface="Courier New" pitchFamily="34" charset="0"/>
                <a:ea typeface="Courier New" pitchFamily="34" charset="-122"/>
                <a:cs typeface="Courier New" pitchFamily="34" charset="-120"/>
              </a:rPr>
              <a:t>DIP </a:t>
            </a:r>
            <a:pPr algn="l" indent="0" marL="0">
              <a:buNone/>
            </a:pPr>
            <a:r>
              <a:rPr lang="en-US" sz="1800" dirty="0">
                <a:solidFill>
                  <a:srgbClr val="46443D"/>
                </a:solidFill>
                <a:latin typeface="Georgia" pitchFamily="34" charset="0"/>
                <a:ea typeface="Georgia" pitchFamily="34" charset="-122"/>
                <a:cs typeface="Georgia" pitchFamily="34" charset="-120"/>
              </a:rPr>
              <a:t>인터페이스 의존</a:t>
            </a:r>
            <a:endParaRPr lang="en-US" sz="1800" dirty="0"/>
          </a:p>
        </p:txBody>
      </p:sp>
      <p:sp>
        <p:nvSpPr>
          <p:cNvPr id="24" name="Text 22"/>
          <p:cNvSpPr/>
          <p:nvPr/>
        </p:nvSpPr>
        <p:spPr>
          <a:xfrm>
            <a:off x="14485144" y="8429625"/>
            <a:ext cx="2726769" cy="323850"/>
          </a:xfrm>
          <a:prstGeom prst="rect">
            <a:avLst/>
          </a:prstGeom>
          <a:noFill/>
          <a:ln/>
        </p:spPr>
        <p:txBody>
          <a:bodyPr wrap="square" lIns="25400" tIns="25400" rIns="25400" bIns="25400" rtlCol="0" anchor="t">
            <a:normAutofit/>
          </a:bodyPr>
          <a:lstStyle/>
          <a:p>
            <a:pPr algn="l" indent="0" marL="0">
              <a:buNone/>
            </a:pPr>
            <a:r>
              <a:rPr lang="en-US" sz="1800" dirty="0">
                <a:solidFill>
                  <a:srgbClr val="2155A4"/>
                </a:solidFill>
                <a:latin typeface="Courier New" pitchFamily="34" charset="0"/>
                <a:ea typeface="Courier New" pitchFamily="34" charset="-122"/>
                <a:cs typeface="Courier New" pitchFamily="34" charset="-120"/>
              </a:rPr>
              <a:t>OCP </a:t>
            </a:r>
            <a:pPr algn="l" indent="0" marL="0">
              <a:buNone/>
            </a:pPr>
            <a:r>
              <a:rPr lang="en-US" sz="1800" dirty="0">
                <a:solidFill>
                  <a:srgbClr val="46443D"/>
                </a:solidFill>
                <a:latin typeface="Georgia" pitchFamily="34" charset="0"/>
                <a:ea typeface="Georgia" pitchFamily="34" charset="-122"/>
                <a:cs typeface="Georgia" pitchFamily="34" charset="-120"/>
              </a:rPr>
              <a:t>listener 추가로 확장</a:t>
            </a:r>
            <a:endParaRPr lang="en-US" sz="1800" dirty="0"/>
          </a:p>
        </p:txBody>
      </p:sp>
      <p:sp>
        <p:nvSpPr>
          <p:cNvPr id="25" name="Shape 23"/>
          <p:cNvSpPr/>
          <p:nvPr/>
        </p:nvSpPr>
        <p:spPr>
          <a:xfrm>
            <a:off x="990600" y="9239250"/>
            <a:ext cx="16306800" cy="9525"/>
          </a:xfrm>
          <a:prstGeom prst="rect">
            <a:avLst/>
          </a:prstGeom>
          <a:solidFill>
            <a:srgbClr val="E4E0D6"/>
          </a:solidFill>
          <a:ln/>
        </p:spPr>
      </p:sp>
      <p:sp>
        <p:nvSpPr>
          <p:cNvPr id="26" name="Text 24"/>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27" name="Text 25"/>
          <p:cNvSpPr/>
          <p:nvPr/>
        </p:nvSpPr>
        <p:spPr>
          <a:xfrm>
            <a:off x="15513993" y="9458325"/>
            <a:ext cx="1961748"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12 / Patterns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13 — INCREMENTAL IMPLEMENTATION</a:t>
            </a:r>
            <a:endParaRPr lang="en-US" sz="1875" dirty="0"/>
          </a:p>
        </p:txBody>
      </p:sp>
      <p:sp>
        <p:nvSpPr>
          <p:cNvPr id="3" name="Text 1"/>
          <p:cNvSpPr/>
          <p:nvPr/>
        </p:nvSpPr>
        <p:spPr>
          <a:xfrm>
            <a:off x="990600" y="1247775"/>
            <a:ext cx="17937480" cy="585788"/>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핵심 흐름을 먼저, 단계별로 기능을 확장</a:t>
            </a:r>
            <a:endParaRPr lang="en-US" sz="3750" dirty="0"/>
          </a:p>
        </p:txBody>
      </p:sp>
      <p:sp>
        <p:nvSpPr>
          <p:cNvPr id="4" name="Shape 2"/>
          <p:cNvSpPr/>
          <p:nvPr/>
        </p:nvSpPr>
        <p:spPr>
          <a:xfrm>
            <a:off x="990600" y="2528888"/>
            <a:ext cx="16306800" cy="19050"/>
          </a:xfrm>
          <a:prstGeom prst="rect">
            <a:avLst/>
          </a:prstGeom>
          <a:solidFill>
            <a:srgbClr val="20201E"/>
          </a:solidFill>
          <a:ln/>
        </p:spPr>
      </p:sp>
      <p:sp>
        <p:nvSpPr>
          <p:cNvPr id="5" name="Text 3"/>
          <p:cNvSpPr/>
          <p:nvPr/>
        </p:nvSpPr>
        <p:spPr>
          <a:xfrm>
            <a:off x="990600" y="2157413"/>
            <a:ext cx="2989525" cy="276225"/>
          </a:xfrm>
          <a:prstGeom prst="rect">
            <a:avLst/>
          </a:prstGeom>
          <a:noFill/>
          <a:ln/>
        </p:spPr>
        <p:txBody>
          <a:bodyPr wrap="square" lIns="25400" tIns="25400" rIns="25400" bIns="25400" rtlCol="0" anchor="t">
            <a:normAutofit/>
          </a:bodyPr>
          <a:lstStyle/>
          <a:p>
            <a:pPr algn="l" indent="0" marL="0">
              <a:buNone/>
            </a:pPr>
            <a:r>
              <a:rPr lang="en-US" sz="1575" spc="79" kern="0" dirty="0">
                <a:solidFill>
                  <a:srgbClr val="8C7A3F"/>
                </a:solidFill>
                <a:latin typeface="Courier New" pitchFamily="34" charset="0"/>
                <a:ea typeface="Courier New" pitchFamily="34" charset="-122"/>
                <a:cs typeface="Courier New" pitchFamily="34" charset="-120"/>
              </a:rPr>
              <a:t>Phase</a:t>
            </a:r>
            <a:endParaRPr lang="en-US" sz="1575" dirty="0"/>
          </a:p>
        </p:txBody>
      </p:sp>
      <p:sp>
        <p:nvSpPr>
          <p:cNvPr id="6" name="Text 4"/>
          <p:cNvSpPr/>
          <p:nvPr/>
        </p:nvSpPr>
        <p:spPr>
          <a:xfrm>
            <a:off x="3708350" y="2157413"/>
            <a:ext cx="2562404" cy="276225"/>
          </a:xfrm>
          <a:prstGeom prst="rect">
            <a:avLst/>
          </a:prstGeom>
          <a:noFill/>
          <a:ln/>
        </p:spPr>
        <p:txBody>
          <a:bodyPr wrap="square" lIns="25400" tIns="25400" rIns="25400" bIns="25400" rtlCol="0" anchor="t">
            <a:normAutofit/>
          </a:bodyPr>
          <a:lstStyle/>
          <a:p>
            <a:pPr algn="l" indent="0" marL="0">
              <a:buNone/>
            </a:pPr>
            <a:r>
              <a:rPr lang="en-US" sz="1575" spc="79" kern="0" dirty="0">
                <a:solidFill>
                  <a:srgbClr val="8C7A3F"/>
                </a:solidFill>
                <a:latin typeface="Courier New" pitchFamily="34" charset="0"/>
                <a:ea typeface="Courier New" pitchFamily="34" charset="-122"/>
                <a:cs typeface="Courier New" pitchFamily="34" charset="-120"/>
              </a:rPr>
              <a:t>기간</a:t>
            </a:r>
            <a:endParaRPr lang="en-US" sz="1575" dirty="0"/>
          </a:p>
        </p:txBody>
      </p:sp>
      <p:sp>
        <p:nvSpPr>
          <p:cNvPr id="7" name="Text 5"/>
          <p:cNvSpPr/>
          <p:nvPr/>
        </p:nvSpPr>
        <p:spPr>
          <a:xfrm>
            <a:off x="6037808" y="2157413"/>
            <a:ext cx="6406336" cy="276225"/>
          </a:xfrm>
          <a:prstGeom prst="rect">
            <a:avLst/>
          </a:prstGeom>
          <a:noFill/>
          <a:ln/>
        </p:spPr>
        <p:txBody>
          <a:bodyPr wrap="square" lIns="25400" tIns="25400" rIns="25400" bIns="25400" rtlCol="0" anchor="t">
            <a:normAutofit/>
          </a:bodyPr>
          <a:lstStyle/>
          <a:p>
            <a:pPr algn="l" indent="0" marL="0">
              <a:buNone/>
            </a:pPr>
            <a:r>
              <a:rPr lang="en-US" sz="1575" spc="79" kern="0" dirty="0">
                <a:solidFill>
                  <a:srgbClr val="8C7A3F"/>
                </a:solidFill>
                <a:latin typeface="Courier New" pitchFamily="34" charset="0"/>
                <a:ea typeface="Courier New" pitchFamily="34" charset="-122"/>
                <a:cs typeface="Courier New" pitchFamily="34" charset="-120"/>
              </a:rPr>
              <a:t>핵심 기능</a:t>
            </a:r>
            <a:endParaRPr lang="en-US" sz="1575" dirty="0"/>
          </a:p>
        </p:txBody>
      </p:sp>
      <p:sp>
        <p:nvSpPr>
          <p:cNvPr id="8" name="Text 6"/>
          <p:cNvSpPr/>
          <p:nvPr/>
        </p:nvSpPr>
        <p:spPr>
          <a:xfrm>
            <a:off x="11861750" y="2157413"/>
            <a:ext cx="5979215" cy="276225"/>
          </a:xfrm>
          <a:prstGeom prst="rect">
            <a:avLst/>
          </a:prstGeom>
          <a:noFill/>
          <a:ln/>
        </p:spPr>
        <p:txBody>
          <a:bodyPr wrap="square" lIns="25400" tIns="25400" rIns="25400" bIns="25400" rtlCol="0" anchor="t">
            <a:normAutofit/>
          </a:bodyPr>
          <a:lstStyle/>
          <a:p>
            <a:pPr algn="l" indent="0" marL="0">
              <a:buNone/>
            </a:pPr>
            <a:r>
              <a:rPr lang="en-US" sz="1575" spc="79" kern="0" dirty="0">
                <a:solidFill>
                  <a:srgbClr val="8C7A3F"/>
                </a:solidFill>
                <a:latin typeface="Courier New" pitchFamily="34" charset="0"/>
                <a:ea typeface="Courier New" pitchFamily="34" charset="-122"/>
                <a:cs typeface="Courier New" pitchFamily="34" charset="-120"/>
              </a:rPr>
              <a:t>산출물</a:t>
            </a:r>
            <a:endParaRPr lang="en-US" sz="1575" dirty="0"/>
          </a:p>
        </p:txBody>
      </p:sp>
      <p:sp>
        <p:nvSpPr>
          <p:cNvPr id="9" name="Shape 7"/>
          <p:cNvSpPr/>
          <p:nvPr/>
        </p:nvSpPr>
        <p:spPr>
          <a:xfrm>
            <a:off x="990600" y="3844230"/>
            <a:ext cx="16306800" cy="9525"/>
          </a:xfrm>
          <a:prstGeom prst="rect">
            <a:avLst/>
          </a:prstGeom>
          <a:solidFill>
            <a:srgbClr val="E4E0D6"/>
          </a:solidFill>
          <a:ln/>
        </p:spPr>
      </p:sp>
      <p:sp>
        <p:nvSpPr>
          <p:cNvPr id="10" name="Text 8"/>
          <p:cNvSpPr/>
          <p:nvPr/>
        </p:nvSpPr>
        <p:spPr>
          <a:xfrm>
            <a:off x="990600" y="3057971"/>
            <a:ext cx="2989525" cy="314325"/>
          </a:xfrm>
          <a:prstGeom prst="rect">
            <a:avLst/>
          </a:prstGeom>
          <a:noFill/>
          <a:ln/>
        </p:spPr>
        <p:txBody>
          <a:bodyPr wrap="square" lIns="25400" tIns="25400" rIns="25400" bIns="25400" rtlCol="0" anchor="t">
            <a:normAutofit/>
          </a:bodyPr>
          <a:lstStyle/>
          <a:p>
            <a:pPr algn="l" indent="0" marL="0">
              <a:buNone/>
            </a:pPr>
            <a:r>
              <a:rPr lang="en-US" sz="1875" dirty="0">
                <a:solidFill>
                  <a:srgbClr val="20201E"/>
                </a:solidFill>
                <a:latin typeface="Courier New" pitchFamily="34" charset="0"/>
                <a:ea typeface="Courier New" pitchFamily="34" charset="-122"/>
                <a:cs typeface="Courier New" pitchFamily="34" charset="-120"/>
              </a:rPr>
              <a:t>Phase 1</a:t>
            </a:r>
            <a:endParaRPr lang="en-US" sz="1875" dirty="0"/>
          </a:p>
        </p:txBody>
      </p:sp>
      <p:sp>
        <p:nvSpPr>
          <p:cNvPr id="11" name="Text 9"/>
          <p:cNvSpPr/>
          <p:nvPr/>
        </p:nvSpPr>
        <p:spPr>
          <a:xfrm>
            <a:off x="3708350" y="3077021"/>
            <a:ext cx="2562404" cy="276225"/>
          </a:xfrm>
          <a:prstGeom prst="rect">
            <a:avLst/>
          </a:prstGeom>
          <a:noFill/>
          <a:ln/>
        </p:spPr>
        <p:txBody>
          <a:bodyPr wrap="square" lIns="25400" tIns="25400" rIns="25400" bIns="25400" rtlCol="0" anchor="t">
            <a:normAutofit/>
          </a:bodyPr>
          <a:lstStyle/>
          <a:p>
            <a:pPr algn="l" indent="0" marL="0">
              <a:buNone/>
            </a:pPr>
            <a:r>
              <a:rPr lang="en-US" sz="1650" dirty="0">
                <a:solidFill>
                  <a:srgbClr val="9A968C"/>
                </a:solidFill>
                <a:latin typeface="Courier New" pitchFamily="34" charset="0"/>
                <a:ea typeface="Courier New" pitchFamily="34" charset="-122"/>
                <a:cs typeface="Courier New" pitchFamily="34" charset="-120"/>
              </a:rPr>
              <a:t>W1–W10</a:t>
            </a:r>
            <a:endParaRPr lang="en-US" sz="1650" dirty="0"/>
          </a:p>
        </p:txBody>
      </p:sp>
      <p:sp>
        <p:nvSpPr>
          <p:cNvPr id="12" name="Text 10"/>
          <p:cNvSpPr/>
          <p:nvPr/>
        </p:nvSpPr>
        <p:spPr>
          <a:xfrm>
            <a:off x="6037808" y="3041749"/>
            <a:ext cx="6215836"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20201E"/>
                </a:solidFill>
                <a:latin typeface="Georgia" pitchFamily="34" charset="0"/>
                <a:ea typeface="Georgia" pitchFamily="34" charset="-122"/>
                <a:cs typeface="Georgia" pitchFamily="34" charset="-120"/>
              </a:rPr>
              <a:t>분석 단계</a:t>
            </a:r>
            <a:endParaRPr lang="en-US" sz="1800" dirty="0"/>
          </a:p>
        </p:txBody>
      </p:sp>
      <p:sp>
        <p:nvSpPr>
          <p:cNvPr id="13" name="Text 11"/>
          <p:cNvSpPr/>
          <p:nvPr/>
        </p:nvSpPr>
        <p:spPr>
          <a:xfrm>
            <a:off x="11861750" y="3042791"/>
            <a:ext cx="5979215" cy="344686"/>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6E6A60"/>
                </a:solidFill>
                <a:latin typeface="Georgia" pitchFamily="34" charset="0"/>
                <a:ea typeface="Georgia" pitchFamily="34" charset="-122"/>
                <a:cs typeface="Georgia" pitchFamily="34" charset="-120"/>
              </a:rPr>
              <a:t>제안서 · 사용자 조사 · SRS · UC · API 명세</a:t>
            </a:r>
            <a:endParaRPr lang="en-US" sz="1725" dirty="0"/>
          </a:p>
        </p:txBody>
      </p:sp>
      <p:sp>
        <p:nvSpPr>
          <p:cNvPr id="14" name="Shape 12"/>
          <p:cNvSpPr/>
          <p:nvPr/>
        </p:nvSpPr>
        <p:spPr>
          <a:xfrm>
            <a:off x="990600" y="5150197"/>
            <a:ext cx="16306800" cy="9525"/>
          </a:xfrm>
          <a:prstGeom prst="rect">
            <a:avLst/>
          </a:prstGeom>
          <a:solidFill>
            <a:srgbClr val="E4E0D6"/>
          </a:solidFill>
          <a:ln/>
        </p:spPr>
      </p:sp>
      <p:sp>
        <p:nvSpPr>
          <p:cNvPr id="15" name="Text 13"/>
          <p:cNvSpPr/>
          <p:nvPr/>
        </p:nvSpPr>
        <p:spPr>
          <a:xfrm>
            <a:off x="990600" y="4363789"/>
            <a:ext cx="2989525" cy="314325"/>
          </a:xfrm>
          <a:prstGeom prst="rect">
            <a:avLst/>
          </a:prstGeom>
          <a:noFill/>
          <a:ln/>
        </p:spPr>
        <p:txBody>
          <a:bodyPr wrap="square" lIns="25400" tIns="25400" rIns="25400" bIns="25400" rtlCol="0" anchor="t">
            <a:normAutofit/>
          </a:bodyPr>
          <a:lstStyle/>
          <a:p>
            <a:pPr algn="l" indent="0" marL="0">
              <a:buNone/>
            </a:pPr>
            <a:r>
              <a:rPr lang="en-US" sz="1875" dirty="0">
                <a:solidFill>
                  <a:srgbClr val="20201E"/>
                </a:solidFill>
                <a:latin typeface="Courier New" pitchFamily="34" charset="0"/>
                <a:ea typeface="Courier New" pitchFamily="34" charset="-122"/>
                <a:cs typeface="Courier New" pitchFamily="34" charset="-120"/>
              </a:rPr>
              <a:t>Phase 2</a:t>
            </a:r>
            <a:endParaRPr lang="en-US" sz="1875" dirty="0"/>
          </a:p>
        </p:txBody>
      </p:sp>
      <p:sp>
        <p:nvSpPr>
          <p:cNvPr id="16" name="Text 14"/>
          <p:cNvSpPr/>
          <p:nvPr/>
        </p:nvSpPr>
        <p:spPr>
          <a:xfrm>
            <a:off x="3708350" y="4382839"/>
            <a:ext cx="2562404" cy="276225"/>
          </a:xfrm>
          <a:prstGeom prst="rect">
            <a:avLst/>
          </a:prstGeom>
          <a:noFill/>
          <a:ln/>
        </p:spPr>
        <p:txBody>
          <a:bodyPr wrap="square" lIns="25400" tIns="25400" rIns="25400" bIns="25400" rtlCol="0" anchor="t">
            <a:normAutofit/>
          </a:bodyPr>
          <a:lstStyle/>
          <a:p>
            <a:pPr algn="l" indent="0" marL="0">
              <a:buNone/>
            </a:pPr>
            <a:r>
              <a:rPr lang="en-US" sz="1650" dirty="0">
                <a:solidFill>
                  <a:srgbClr val="9A968C"/>
                </a:solidFill>
                <a:latin typeface="Courier New" pitchFamily="34" charset="0"/>
                <a:ea typeface="Courier New" pitchFamily="34" charset="-122"/>
                <a:cs typeface="Courier New" pitchFamily="34" charset="-120"/>
              </a:rPr>
              <a:t>W11</a:t>
            </a:r>
            <a:endParaRPr lang="en-US" sz="1650" dirty="0"/>
          </a:p>
        </p:txBody>
      </p:sp>
      <p:sp>
        <p:nvSpPr>
          <p:cNvPr id="17" name="Text 15"/>
          <p:cNvSpPr/>
          <p:nvPr/>
        </p:nvSpPr>
        <p:spPr>
          <a:xfrm>
            <a:off x="6037808" y="4347716"/>
            <a:ext cx="6215836"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20201E"/>
                </a:solidFill>
                <a:latin typeface="Georgia" pitchFamily="34" charset="0"/>
                <a:ea typeface="Georgia" pitchFamily="34" charset="-122"/>
                <a:cs typeface="Georgia" pitchFamily="34" charset="-120"/>
              </a:rPr>
              <a:t>대화 작성 · 인증 </a:t>
            </a:r>
            <a:pPr algn="l" indent="0" marL="0">
              <a:lnSpc>
                <a:spcPct val="135000"/>
              </a:lnSpc>
              <a:buNone/>
            </a:pPr>
            <a:r>
              <a:rPr lang="en-US" sz="1575" dirty="0">
                <a:solidFill>
                  <a:srgbClr val="9A968C"/>
                </a:solidFill>
                <a:latin typeface="Georgia" pitchFamily="34" charset="0"/>
                <a:ea typeface="Georgia" pitchFamily="34" charset="-122"/>
                <a:cs typeface="Georgia" pitchFamily="34" charset="-120"/>
              </a:rPr>
              <a:t>(walking skeleton)</a:t>
            </a:r>
            <a:endParaRPr lang="en-US" sz="1800" dirty="0"/>
          </a:p>
        </p:txBody>
      </p:sp>
      <p:sp>
        <p:nvSpPr>
          <p:cNvPr id="18" name="Text 16"/>
          <p:cNvSpPr/>
          <p:nvPr/>
        </p:nvSpPr>
        <p:spPr>
          <a:xfrm>
            <a:off x="11861750" y="4348609"/>
            <a:ext cx="5979215" cy="344686"/>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6E6A60"/>
                </a:solidFill>
                <a:latin typeface="Georgia" pitchFamily="34" charset="0"/>
                <a:ea typeface="Georgia" pitchFamily="34" charset="-122"/>
                <a:cs typeface="Georgia" pitchFamily="34" charset="-120"/>
              </a:rPr>
              <a:t>동작하는 대화 화면 · 인증 통합 · 단위 테스트</a:t>
            </a:r>
            <a:endParaRPr lang="en-US" sz="1725" dirty="0"/>
          </a:p>
        </p:txBody>
      </p:sp>
      <p:sp>
        <p:nvSpPr>
          <p:cNvPr id="19" name="Shape 17"/>
          <p:cNvSpPr/>
          <p:nvPr/>
        </p:nvSpPr>
        <p:spPr>
          <a:xfrm>
            <a:off x="838200" y="5159722"/>
            <a:ext cx="16611600" cy="1305818"/>
          </a:xfrm>
          <a:prstGeom prst="rect">
            <a:avLst/>
          </a:prstGeom>
          <a:solidFill>
            <a:srgbClr val="F4F1E9"/>
          </a:solidFill>
          <a:ln/>
        </p:spPr>
      </p:sp>
      <p:sp>
        <p:nvSpPr>
          <p:cNvPr id="20" name="Shape 18"/>
          <p:cNvSpPr/>
          <p:nvPr/>
        </p:nvSpPr>
        <p:spPr>
          <a:xfrm>
            <a:off x="838200" y="6456015"/>
            <a:ext cx="16611600" cy="9525"/>
          </a:xfrm>
          <a:prstGeom prst="rect">
            <a:avLst/>
          </a:prstGeom>
          <a:solidFill>
            <a:srgbClr val="E4E0D6"/>
          </a:solidFill>
          <a:ln/>
        </p:spPr>
      </p:sp>
      <p:sp>
        <p:nvSpPr>
          <p:cNvPr id="21" name="Text 19"/>
          <p:cNvSpPr/>
          <p:nvPr/>
        </p:nvSpPr>
        <p:spPr>
          <a:xfrm>
            <a:off x="990600" y="5669756"/>
            <a:ext cx="2989525" cy="314325"/>
          </a:xfrm>
          <a:prstGeom prst="rect">
            <a:avLst/>
          </a:prstGeom>
          <a:noFill/>
          <a:ln/>
        </p:spPr>
        <p:txBody>
          <a:bodyPr wrap="square" lIns="25400" tIns="25400" rIns="25400" bIns="25400" rtlCol="0" anchor="t">
            <a:normAutofit/>
          </a:bodyPr>
          <a:lstStyle/>
          <a:p>
            <a:pPr algn="l" indent="0" marL="0">
              <a:buNone/>
            </a:pPr>
            <a:r>
              <a:rPr lang="en-US" sz="1875" dirty="0">
                <a:solidFill>
                  <a:srgbClr val="2155A4"/>
                </a:solidFill>
                <a:latin typeface="Courier New" pitchFamily="34" charset="0"/>
                <a:ea typeface="Courier New" pitchFamily="34" charset="-122"/>
                <a:cs typeface="Courier New" pitchFamily="34" charset="-120"/>
              </a:rPr>
              <a:t>Phase 3</a:t>
            </a:r>
            <a:endParaRPr lang="en-US" sz="1875" dirty="0"/>
          </a:p>
        </p:txBody>
      </p:sp>
      <p:sp>
        <p:nvSpPr>
          <p:cNvPr id="22" name="Text 20"/>
          <p:cNvSpPr/>
          <p:nvPr/>
        </p:nvSpPr>
        <p:spPr>
          <a:xfrm>
            <a:off x="3708350" y="5688806"/>
            <a:ext cx="2562404" cy="276225"/>
          </a:xfrm>
          <a:prstGeom prst="rect">
            <a:avLst/>
          </a:prstGeom>
          <a:noFill/>
          <a:ln/>
        </p:spPr>
        <p:txBody>
          <a:bodyPr wrap="square" lIns="25400" tIns="25400" rIns="25400" bIns="25400" rtlCol="0" anchor="t">
            <a:normAutofit/>
          </a:bodyPr>
          <a:lstStyle/>
          <a:p>
            <a:pPr algn="l" indent="0" marL="0">
              <a:buNone/>
            </a:pPr>
            <a:r>
              <a:rPr lang="en-US" sz="1650" dirty="0">
                <a:solidFill>
                  <a:srgbClr val="9A968C"/>
                </a:solidFill>
                <a:latin typeface="Courier New" pitchFamily="34" charset="0"/>
                <a:ea typeface="Courier New" pitchFamily="34" charset="-122"/>
                <a:cs typeface="Courier New" pitchFamily="34" charset="-120"/>
              </a:rPr>
              <a:t>W12–W13</a:t>
            </a:r>
            <a:endParaRPr lang="en-US" sz="1650" dirty="0"/>
          </a:p>
        </p:txBody>
      </p:sp>
      <p:sp>
        <p:nvSpPr>
          <p:cNvPr id="23" name="Text 21"/>
          <p:cNvSpPr/>
          <p:nvPr/>
        </p:nvSpPr>
        <p:spPr>
          <a:xfrm>
            <a:off x="6037808" y="5653534"/>
            <a:ext cx="6215836"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2155A4"/>
                </a:solidFill>
                <a:latin typeface="Georgia" pitchFamily="34" charset="0"/>
                <a:ea typeface="Georgia" pitchFamily="34" charset="-122"/>
                <a:cs typeface="Georgia" pitchFamily="34" charset="-120"/>
              </a:rPr>
              <a:t>분기 관리 · 그래프 시각화 </a:t>
            </a:r>
            <a:pPr algn="l" indent="0" marL="0">
              <a:lnSpc>
                <a:spcPct val="135000"/>
              </a:lnSpc>
              <a:buNone/>
            </a:pPr>
            <a:r>
              <a:rPr lang="en-US" sz="1350" dirty="0">
                <a:solidFill>
                  <a:srgbClr val="FFFFFF"/>
                </a:solidFill>
                <a:highlight>
                  <a:srgbClr val="2155A4"/>
                </a:highlight>
                <a:latin typeface="Courier New" pitchFamily="34" charset="0"/>
                <a:ea typeface="Courier New" pitchFamily="34" charset="-122"/>
                <a:cs typeface="Courier New" pitchFamily="34" charset="-120"/>
              </a:rPr>
              <a:t>CORE</a:t>
            </a:r>
            <a:endParaRPr lang="en-US" sz="1800" dirty="0"/>
          </a:p>
        </p:txBody>
      </p:sp>
      <p:sp>
        <p:nvSpPr>
          <p:cNvPr id="24" name="Text 22"/>
          <p:cNvSpPr/>
          <p:nvPr/>
        </p:nvSpPr>
        <p:spPr>
          <a:xfrm>
            <a:off x="11861750" y="5654576"/>
            <a:ext cx="5979215" cy="344686"/>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6E6A60"/>
                </a:solidFill>
                <a:latin typeface="Georgia" pitchFamily="34" charset="0"/>
                <a:ea typeface="Georgia" pitchFamily="34" charset="-122"/>
                <a:cs typeface="Georgia" pitchFamily="34" charset="-120"/>
              </a:rPr>
              <a:t>분기 생성·복구 · 그래프 렌더링 · 통합 테스트</a:t>
            </a:r>
            <a:endParaRPr lang="en-US" sz="1725" dirty="0"/>
          </a:p>
        </p:txBody>
      </p:sp>
      <p:sp>
        <p:nvSpPr>
          <p:cNvPr id="25" name="Shape 23"/>
          <p:cNvSpPr/>
          <p:nvPr/>
        </p:nvSpPr>
        <p:spPr>
          <a:xfrm>
            <a:off x="990600" y="7761982"/>
            <a:ext cx="16306800" cy="9525"/>
          </a:xfrm>
          <a:prstGeom prst="rect">
            <a:avLst/>
          </a:prstGeom>
          <a:solidFill>
            <a:srgbClr val="E4E0D6"/>
          </a:solidFill>
          <a:ln/>
        </p:spPr>
      </p:sp>
      <p:sp>
        <p:nvSpPr>
          <p:cNvPr id="26" name="Text 24"/>
          <p:cNvSpPr/>
          <p:nvPr/>
        </p:nvSpPr>
        <p:spPr>
          <a:xfrm>
            <a:off x="990600" y="6975574"/>
            <a:ext cx="2989525" cy="314325"/>
          </a:xfrm>
          <a:prstGeom prst="rect">
            <a:avLst/>
          </a:prstGeom>
          <a:noFill/>
          <a:ln/>
        </p:spPr>
        <p:txBody>
          <a:bodyPr wrap="square" lIns="25400" tIns="25400" rIns="25400" bIns="25400" rtlCol="0" anchor="t">
            <a:normAutofit/>
          </a:bodyPr>
          <a:lstStyle/>
          <a:p>
            <a:pPr algn="l" indent="0" marL="0">
              <a:buNone/>
            </a:pPr>
            <a:r>
              <a:rPr lang="en-US" sz="1875" dirty="0">
                <a:solidFill>
                  <a:srgbClr val="20201E"/>
                </a:solidFill>
                <a:latin typeface="Courier New" pitchFamily="34" charset="0"/>
                <a:ea typeface="Courier New" pitchFamily="34" charset="-122"/>
                <a:cs typeface="Courier New" pitchFamily="34" charset="-120"/>
              </a:rPr>
              <a:t>Phase 4</a:t>
            </a:r>
            <a:endParaRPr lang="en-US" sz="1875" dirty="0"/>
          </a:p>
        </p:txBody>
      </p:sp>
      <p:sp>
        <p:nvSpPr>
          <p:cNvPr id="27" name="Text 25"/>
          <p:cNvSpPr/>
          <p:nvPr/>
        </p:nvSpPr>
        <p:spPr>
          <a:xfrm>
            <a:off x="3708350" y="6994624"/>
            <a:ext cx="2562404" cy="276225"/>
          </a:xfrm>
          <a:prstGeom prst="rect">
            <a:avLst/>
          </a:prstGeom>
          <a:noFill/>
          <a:ln/>
        </p:spPr>
        <p:txBody>
          <a:bodyPr wrap="square" lIns="25400" tIns="25400" rIns="25400" bIns="25400" rtlCol="0" anchor="t">
            <a:normAutofit/>
          </a:bodyPr>
          <a:lstStyle/>
          <a:p>
            <a:pPr algn="l" indent="0" marL="0">
              <a:buNone/>
            </a:pPr>
            <a:r>
              <a:rPr lang="en-US" sz="1650" dirty="0">
                <a:solidFill>
                  <a:srgbClr val="9A968C"/>
                </a:solidFill>
                <a:latin typeface="Courier New" pitchFamily="34" charset="0"/>
                <a:ea typeface="Courier New" pitchFamily="34" charset="-122"/>
                <a:cs typeface="Courier New" pitchFamily="34" charset="-120"/>
              </a:rPr>
              <a:t>W14</a:t>
            </a:r>
            <a:endParaRPr lang="en-US" sz="1650" dirty="0"/>
          </a:p>
        </p:txBody>
      </p:sp>
      <p:sp>
        <p:nvSpPr>
          <p:cNvPr id="28" name="Text 26"/>
          <p:cNvSpPr/>
          <p:nvPr/>
        </p:nvSpPr>
        <p:spPr>
          <a:xfrm>
            <a:off x="6037808" y="6959501"/>
            <a:ext cx="6215836"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20201E"/>
                </a:solidFill>
                <a:latin typeface="Georgia" pitchFamily="34" charset="0"/>
                <a:ea typeface="Georgia" pitchFamily="34" charset="-122"/>
                <a:cs typeface="Georgia" pitchFamily="34" charset="-120"/>
              </a:rPr>
              <a:t>파일 시스템 탐색기 · 맥락 관리</a:t>
            </a:r>
            <a:endParaRPr lang="en-US" sz="1800" dirty="0"/>
          </a:p>
        </p:txBody>
      </p:sp>
      <p:sp>
        <p:nvSpPr>
          <p:cNvPr id="29" name="Text 27"/>
          <p:cNvSpPr/>
          <p:nvPr/>
        </p:nvSpPr>
        <p:spPr>
          <a:xfrm>
            <a:off x="11861750" y="6960394"/>
            <a:ext cx="5979215" cy="344686"/>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6E6A60"/>
                </a:solidFill>
                <a:latin typeface="Georgia" pitchFamily="34" charset="0"/>
                <a:ea typeface="Georgia" pitchFamily="34" charset="-122"/>
                <a:cs typeface="Georgia" pitchFamily="34" charset="-120"/>
              </a:rPr>
              <a:t>탐색기 UI · 분기별 맥락 격리 · 회귀 테스트</a:t>
            </a:r>
            <a:endParaRPr lang="en-US" sz="1725" dirty="0"/>
          </a:p>
        </p:txBody>
      </p:sp>
      <p:sp>
        <p:nvSpPr>
          <p:cNvPr id="30" name="Text 28"/>
          <p:cNvSpPr/>
          <p:nvPr/>
        </p:nvSpPr>
        <p:spPr>
          <a:xfrm>
            <a:off x="990600" y="8272016"/>
            <a:ext cx="2989525" cy="333375"/>
          </a:xfrm>
          <a:prstGeom prst="rect">
            <a:avLst/>
          </a:prstGeom>
          <a:noFill/>
          <a:ln/>
        </p:spPr>
        <p:txBody>
          <a:bodyPr wrap="square" lIns="25400" tIns="25400" rIns="25400" bIns="25400" rtlCol="0" anchor="t">
            <a:normAutofit/>
          </a:bodyPr>
          <a:lstStyle/>
          <a:p>
            <a:pPr algn="l" indent="0" marL="0">
              <a:buNone/>
            </a:pPr>
            <a:r>
              <a:rPr lang="en-US" sz="1875" dirty="0">
                <a:solidFill>
                  <a:srgbClr val="20201E"/>
                </a:solidFill>
                <a:latin typeface="Courier New" pitchFamily="34" charset="0"/>
                <a:ea typeface="Courier New" pitchFamily="34" charset="-122"/>
                <a:cs typeface="Courier New" pitchFamily="34" charset="-120"/>
              </a:rPr>
              <a:t>통합 발표</a:t>
            </a:r>
            <a:endParaRPr lang="en-US" sz="1875" dirty="0"/>
          </a:p>
        </p:txBody>
      </p:sp>
      <p:sp>
        <p:nvSpPr>
          <p:cNvPr id="31" name="Text 29"/>
          <p:cNvSpPr/>
          <p:nvPr/>
        </p:nvSpPr>
        <p:spPr>
          <a:xfrm>
            <a:off x="3708350" y="8300591"/>
            <a:ext cx="2562404" cy="276225"/>
          </a:xfrm>
          <a:prstGeom prst="rect">
            <a:avLst/>
          </a:prstGeom>
          <a:noFill/>
          <a:ln/>
        </p:spPr>
        <p:txBody>
          <a:bodyPr wrap="square" lIns="25400" tIns="25400" rIns="25400" bIns="25400" rtlCol="0" anchor="t">
            <a:normAutofit/>
          </a:bodyPr>
          <a:lstStyle/>
          <a:p>
            <a:pPr algn="l" indent="0" marL="0">
              <a:buNone/>
            </a:pPr>
            <a:r>
              <a:rPr lang="en-US" sz="1650" dirty="0">
                <a:solidFill>
                  <a:srgbClr val="9A968C"/>
                </a:solidFill>
                <a:latin typeface="Courier New" pitchFamily="34" charset="0"/>
                <a:ea typeface="Courier New" pitchFamily="34" charset="-122"/>
                <a:cs typeface="Courier New" pitchFamily="34" charset="-120"/>
              </a:rPr>
              <a:t>W14–W15</a:t>
            </a:r>
            <a:endParaRPr lang="en-US" sz="1650" dirty="0"/>
          </a:p>
        </p:txBody>
      </p:sp>
      <p:sp>
        <p:nvSpPr>
          <p:cNvPr id="32" name="Text 30"/>
          <p:cNvSpPr/>
          <p:nvPr/>
        </p:nvSpPr>
        <p:spPr>
          <a:xfrm>
            <a:off x="6037808" y="8265319"/>
            <a:ext cx="6215836"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20201E"/>
                </a:solidFill>
                <a:latin typeface="Georgia" pitchFamily="34" charset="0"/>
                <a:ea typeface="Georgia" pitchFamily="34" charset="-122"/>
                <a:cs typeface="Georgia" pitchFamily="34" charset="-120"/>
              </a:rPr>
              <a:t>부가 기능 흡수 · 안정화 · 리팩토링</a:t>
            </a:r>
            <a:endParaRPr lang="en-US" sz="1800" dirty="0"/>
          </a:p>
        </p:txBody>
      </p:sp>
      <p:sp>
        <p:nvSpPr>
          <p:cNvPr id="33" name="Text 31"/>
          <p:cNvSpPr/>
          <p:nvPr/>
        </p:nvSpPr>
        <p:spPr>
          <a:xfrm>
            <a:off x="11861750" y="8266361"/>
            <a:ext cx="5979215" cy="344686"/>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6E6A60"/>
                </a:solidFill>
                <a:latin typeface="Georgia" pitchFamily="34" charset="0"/>
                <a:ea typeface="Georgia" pitchFamily="34" charset="-122"/>
                <a:cs typeface="Georgia" pitchFamily="34" charset="-120"/>
              </a:rPr>
              <a:t>최종 빌드 · 사용자 시연 · 발표 자료</a:t>
            </a:r>
            <a:endParaRPr lang="en-US" sz="1725" dirty="0"/>
          </a:p>
        </p:txBody>
      </p:sp>
      <p:sp>
        <p:nvSpPr>
          <p:cNvPr id="34" name="Shape 32"/>
          <p:cNvSpPr/>
          <p:nvPr/>
        </p:nvSpPr>
        <p:spPr>
          <a:xfrm>
            <a:off x="990600" y="9239250"/>
            <a:ext cx="16306800" cy="9525"/>
          </a:xfrm>
          <a:prstGeom prst="rect">
            <a:avLst/>
          </a:prstGeom>
          <a:solidFill>
            <a:srgbClr val="E4E0D6"/>
          </a:solidFill>
          <a:ln/>
        </p:spPr>
      </p:sp>
      <p:sp>
        <p:nvSpPr>
          <p:cNvPr id="35" name="Text 33"/>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36" name="Text 34"/>
          <p:cNvSpPr/>
          <p:nvPr/>
        </p:nvSpPr>
        <p:spPr>
          <a:xfrm>
            <a:off x="15925502" y="9458325"/>
            <a:ext cx="1509087"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13 / Build</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990600" y="762000"/>
            <a:ext cx="17937480" cy="314325"/>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8C7A3F"/>
                </a:solidFill>
                <a:latin typeface="Courier New" pitchFamily="34" charset="0"/>
                <a:ea typeface="Courier New" pitchFamily="34" charset="-122"/>
                <a:cs typeface="Courier New" pitchFamily="34" charset="-120"/>
              </a:rPr>
              <a:t>14 — VERIFICATION</a:t>
            </a:r>
            <a:endParaRPr lang="en-US" sz="1875" dirty="0"/>
          </a:p>
        </p:txBody>
      </p:sp>
      <p:sp>
        <p:nvSpPr>
          <p:cNvPr id="3" name="Text 1"/>
          <p:cNvSpPr/>
          <p:nvPr/>
        </p:nvSpPr>
        <p:spPr>
          <a:xfrm>
            <a:off x="990600" y="1247775"/>
            <a:ext cx="17937480" cy="585788"/>
          </a:xfrm>
          <a:prstGeom prst="rect">
            <a:avLst/>
          </a:prstGeom>
          <a:noFill/>
          <a:ln/>
        </p:spPr>
        <p:txBody>
          <a:bodyPr wrap="square" lIns="25400" tIns="25400" rIns="25400" bIns="25400" rtlCol="0" anchor="t">
            <a:normAutofit/>
          </a:bodyPr>
          <a:lstStyle/>
          <a:p>
            <a:pPr algn="l" indent="0" marL="0">
              <a:lnSpc>
                <a:spcPct val="115000"/>
              </a:lnSpc>
              <a:buNone/>
            </a:pPr>
            <a:r>
              <a:rPr lang="en-US" sz="3750" spc="-37" kern="0" dirty="0">
                <a:solidFill>
                  <a:srgbClr val="20201E"/>
                </a:solidFill>
                <a:latin typeface="Georgia" pitchFamily="34" charset="0"/>
                <a:ea typeface="Georgia" pitchFamily="34" charset="-122"/>
                <a:cs typeface="Georgia" pitchFamily="34" charset="-120"/>
              </a:rPr>
              <a:t>Test — 요구사항과 테스트 케이스를 연결해 확인</a:t>
            </a:r>
            <a:endParaRPr lang="en-US" sz="3750" dirty="0"/>
          </a:p>
        </p:txBody>
      </p:sp>
      <p:sp>
        <p:nvSpPr>
          <p:cNvPr id="4" name="Shape 2"/>
          <p:cNvSpPr/>
          <p:nvPr/>
        </p:nvSpPr>
        <p:spPr>
          <a:xfrm>
            <a:off x="990600" y="2605088"/>
            <a:ext cx="6696075" cy="9525"/>
          </a:xfrm>
          <a:prstGeom prst="rect">
            <a:avLst/>
          </a:prstGeom>
          <a:solidFill>
            <a:srgbClr val="E4E0D6"/>
          </a:solidFill>
          <a:ln/>
        </p:spPr>
      </p:sp>
      <p:sp>
        <p:nvSpPr>
          <p:cNvPr id="5" name="Text 3"/>
          <p:cNvSpPr/>
          <p:nvPr/>
        </p:nvSpPr>
        <p:spPr>
          <a:xfrm>
            <a:off x="990600" y="2195513"/>
            <a:ext cx="6896957" cy="295275"/>
          </a:xfrm>
          <a:prstGeom prst="rect">
            <a:avLst/>
          </a:prstGeom>
          <a:noFill/>
          <a:ln/>
        </p:spPr>
        <p:txBody>
          <a:bodyPr wrap="square" lIns="25400" tIns="25400" rIns="25400" bIns="25400" rtlCol="0" anchor="t">
            <a:normAutofit/>
          </a:bodyPr>
          <a:lstStyle/>
          <a:p>
            <a:pPr algn="l" indent="0" marL="0">
              <a:buNone/>
            </a:pPr>
            <a:r>
              <a:rPr lang="en-US" sz="1650" spc="83" kern="0" dirty="0">
                <a:solidFill>
                  <a:srgbClr val="8C7A3F"/>
                </a:solidFill>
                <a:latin typeface="Courier New" pitchFamily="34" charset="0"/>
                <a:ea typeface="Courier New" pitchFamily="34" charset="-122"/>
                <a:cs typeface="Courier New" pitchFamily="34" charset="-120"/>
              </a:rPr>
              <a:t>테스트 수준 · 시스템 케이스</a:t>
            </a:r>
            <a:endParaRPr lang="en-US" sz="1650" dirty="0"/>
          </a:p>
        </p:txBody>
      </p:sp>
      <p:sp>
        <p:nvSpPr>
          <p:cNvPr id="6" name="Shape 4"/>
          <p:cNvSpPr/>
          <p:nvPr/>
        </p:nvSpPr>
        <p:spPr>
          <a:xfrm>
            <a:off x="990600" y="2805113"/>
            <a:ext cx="686395" cy="428625"/>
          </a:xfrm>
          <a:prstGeom prst="rect">
            <a:avLst/>
          </a:prstGeom>
          <a:ln w="9525">
            <a:solidFill>
              <a:srgbClr val="C9D4E6"/>
            </a:solidFill>
            <a:prstDash val="solid"/>
          </a:ln>
        </p:spPr>
      </p:sp>
      <p:sp>
        <p:nvSpPr>
          <p:cNvPr id="7" name="Text 5"/>
          <p:cNvSpPr/>
          <p:nvPr/>
        </p:nvSpPr>
        <p:spPr>
          <a:xfrm>
            <a:off x="1152525" y="2890838"/>
            <a:ext cx="438745" cy="295275"/>
          </a:xfrm>
          <a:prstGeom prst="rect">
            <a:avLst/>
          </a:prstGeom>
          <a:noFill/>
          <a:ln/>
        </p:spPr>
        <p:txBody>
          <a:bodyPr wrap="square" lIns="25400" tIns="25400" rIns="25400" bIns="25400" rtlCol="0" anchor="t">
            <a:normAutofit/>
          </a:bodyPr>
          <a:lstStyle/>
          <a:p>
            <a:pPr algn="l" indent="0" marL="0">
              <a:buNone/>
            </a:pPr>
            <a:r>
              <a:rPr lang="en-US" sz="1650" dirty="0">
                <a:solidFill>
                  <a:srgbClr val="2155A4"/>
                </a:solidFill>
                <a:latin typeface="Courier New" pitchFamily="34" charset="0"/>
                <a:ea typeface="Courier New" pitchFamily="34" charset="-122"/>
                <a:cs typeface="Courier New" pitchFamily="34" charset="-120"/>
              </a:rPr>
              <a:t>단위</a:t>
            </a:r>
            <a:endParaRPr lang="en-US" sz="1650" dirty="0"/>
          </a:p>
        </p:txBody>
      </p:sp>
      <p:sp>
        <p:nvSpPr>
          <p:cNvPr id="8" name="Shape 6"/>
          <p:cNvSpPr/>
          <p:nvPr/>
        </p:nvSpPr>
        <p:spPr>
          <a:xfrm>
            <a:off x="1791295" y="2805113"/>
            <a:ext cx="686395" cy="428625"/>
          </a:xfrm>
          <a:prstGeom prst="rect">
            <a:avLst/>
          </a:prstGeom>
          <a:ln w="9525">
            <a:solidFill>
              <a:srgbClr val="C9D4E6"/>
            </a:solidFill>
            <a:prstDash val="solid"/>
          </a:ln>
        </p:spPr>
      </p:sp>
      <p:sp>
        <p:nvSpPr>
          <p:cNvPr id="9" name="Text 7"/>
          <p:cNvSpPr/>
          <p:nvPr/>
        </p:nvSpPr>
        <p:spPr>
          <a:xfrm>
            <a:off x="1953220" y="2890838"/>
            <a:ext cx="438745" cy="295275"/>
          </a:xfrm>
          <a:prstGeom prst="rect">
            <a:avLst/>
          </a:prstGeom>
          <a:noFill/>
          <a:ln/>
        </p:spPr>
        <p:txBody>
          <a:bodyPr wrap="square" lIns="25400" tIns="25400" rIns="25400" bIns="25400" rtlCol="0" anchor="t">
            <a:normAutofit/>
          </a:bodyPr>
          <a:lstStyle/>
          <a:p>
            <a:pPr algn="l" indent="0" marL="0">
              <a:buNone/>
            </a:pPr>
            <a:r>
              <a:rPr lang="en-US" sz="1650" dirty="0">
                <a:solidFill>
                  <a:srgbClr val="2155A4"/>
                </a:solidFill>
                <a:latin typeface="Courier New" pitchFamily="34" charset="0"/>
                <a:ea typeface="Courier New" pitchFamily="34" charset="-122"/>
                <a:cs typeface="Courier New" pitchFamily="34" charset="-120"/>
              </a:rPr>
              <a:t>통합</a:t>
            </a:r>
            <a:endParaRPr lang="en-US" sz="1650" dirty="0"/>
          </a:p>
        </p:txBody>
      </p:sp>
      <p:sp>
        <p:nvSpPr>
          <p:cNvPr id="10" name="Shape 8"/>
          <p:cNvSpPr/>
          <p:nvPr/>
        </p:nvSpPr>
        <p:spPr>
          <a:xfrm>
            <a:off x="2591991" y="2805113"/>
            <a:ext cx="867668" cy="428625"/>
          </a:xfrm>
          <a:prstGeom prst="rect">
            <a:avLst/>
          </a:prstGeom>
          <a:ln w="9525">
            <a:solidFill>
              <a:srgbClr val="C9D4E6"/>
            </a:solidFill>
            <a:prstDash val="solid"/>
          </a:ln>
        </p:spPr>
      </p:sp>
      <p:sp>
        <p:nvSpPr>
          <p:cNvPr id="11" name="Text 9"/>
          <p:cNvSpPr/>
          <p:nvPr/>
        </p:nvSpPr>
        <p:spPr>
          <a:xfrm>
            <a:off x="2753916" y="2890838"/>
            <a:ext cx="620018" cy="295275"/>
          </a:xfrm>
          <a:prstGeom prst="rect">
            <a:avLst/>
          </a:prstGeom>
          <a:noFill/>
          <a:ln/>
        </p:spPr>
        <p:txBody>
          <a:bodyPr wrap="square" lIns="25400" tIns="25400" rIns="25400" bIns="25400" rtlCol="0" anchor="t">
            <a:normAutofit/>
          </a:bodyPr>
          <a:lstStyle/>
          <a:p>
            <a:pPr algn="l" indent="0" marL="0">
              <a:buNone/>
            </a:pPr>
            <a:r>
              <a:rPr lang="en-US" sz="1650" dirty="0">
                <a:solidFill>
                  <a:srgbClr val="2155A4"/>
                </a:solidFill>
                <a:latin typeface="Courier New" pitchFamily="34" charset="0"/>
                <a:ea typeface="Courier New" pitchFamily="34" charset="-122"/>
                <a:cs typeface="Courier New" pitchFamily="34" charset="-120"/>
              </a:rPr>
              <a:t>시스템</a:t>
            </a:r>
            <a:endParaRPr lang="en-US" sz="1650" dirty="0"/>
          </a:p>
        </p:txBody>
      </p:sp>
      <p:sp>
        <p:nvSpPr>
          <p:cNvPr id="12" name="Text 10"/>
          <p:cNvSpPr/>
          <p:nvPr/>
        </p:nvSpPr>
        <p:spPr>
          <a:xfrm>
            <a:off x="990600" y="3500438"/>
            <a:ext cx="187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Georgia" pitchFamily="34" charset="0"/>
                <a:ea typeface="Georgia" pitchFamily="34" charset="-122"/>
                <a:cs typeface="Georgia" pitchFamily="34" charset="-120"/>
              </a:rPr>
              <a:t>▸</a:t>
            </a:r>
            <a:endParaRPr lang="en-US" sz="1650" dirty="0"/>
          </a:p>
        </p:txBody>
      </p:sp>
      <p:sp>
        <p:nvSpPr>
          <p:cNvPr id="13" name="Text 11"/>
          <p:cNvSpPr/>
          <p:nvPr/>
        </p:nvSpPr>
        <p:spPr>
          <a:xfrm>
            <a:off x="1254175" y="3462338"/>
            <a:ext cx="2869689" cy="359569"/>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20201E"/>
                </a:solidFill>
                <a:latin typeface="Georgia" pitchFamily="34" charset="0"/>
                <a:ea typeface="Georgia" pitchFamily="34" charset="-122"/>
                <a:cs typeface="Georgia" pitchFamily="34" charset="-120"/>
              </a:rPr>
              <a:t>대화 생성 및 메시지 전송</a:t>
            </a:r>
            <a:endParaRPr lang="en-US" sz="1875" dirty="0"/>
          </a:p>
        </p:txBody>
      </p:sp>
      <p:sp>
        <p:nvSpPr>
          <p:cNvPr id="14" name="Text 12"/>
          <p:cNvSpPr/>
          <p:nvPr/>
        </p:nvSpPr>
        <p:spPr>
          <a:xfrm>
            <a:off x="990600" y="3955256"/>
            <a:ext cx="187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Georgia" pitchFamily="34" charset="0"/>
                <a:ea typeface="Georgia" pitchFamily="34" charset="-122"/>
                <a:cs typeface="Georgia" pitchFamily="34" charset="-120"/>
              </a:rPr>
              <a:t>▸</a:t>
            </a:r>
            <a:endParaRPr lang="en-US" sz="1650" dirty="0"/>
          </a:p>
        </p:txBody>
      </p:sp>
      <p:sp>
        <p:nvSpPr>
          <p:cNvPr id="15" name="Text 13"/>
          <p:cNvSpPr/>
          <p:nvPr/>
        </p:nvSpPr>
        <p:spPr>
          <a:xfrm>
            <a:off x="1254175" y="3917156"/>
            <a:ext cx="1696536" cy="359569"/>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20201E"/>
                </a:solidFill>
                <a:latin typeface="Georgia" pitchFamily="34" charset="0"/>
                <a:ea typeface="Georgia" pitchFamily="34" charset="-122"/>
                <a:cs typeface="Georgia" pitchFamily="34" charset="-120"/>
              </a:rPr>
              <a:t>대화 분기 생성</a:t>
            </a:r>
            <a:endParaRPr lang="en-US" sz="1875" dirty="0"/>
          </a:p>
        </p:txBody>
      </p:sp>
      <p:sp>
        <p:nvSpPr>
          <p:cNvPr id="16" name="Text 14"/>
          <p:cNvSpPr/>
          <p:nvPr/>
        </p:nvSpPr>
        <p:spPr>
          <a:xfrm>
            <a:off x="990600" y="4410075"/>
            <a:ext cx="187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Georgia" pitchFamily="34" charset="0"/>
                <a:ea typeface="Georgia" pitchFamily="34" charset="-122"/>
                <a:cs typeface="Georgia" pitchFamily="34" charset="-120"/>
              </a:rPr>
              <a:t>▸</a:t>
            </a:r>
            <a:endParaRPr lang="en-US" sz="1650" dirty="0"/>
          </a:p>
        </p:txBody>
      </p:sp>
      <p:sp>
        <p:nvSpPr>
          <p:cNvPr id="17" name="Text 15"/>
          <p:cNvSpPr/>
          <p:nvPr/>
        </p:nvSpPr>
        <p:spPr>
          <a:xfrm>
            <a:off x="1254175" y="4371975"/>
            <a:ext cx="2021339" cy="359569"/>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20201E"/>
                </a:solidFill>
                <a:latin typeface="Georgia" pitchFamily="34" charset="0"/>
                <a:ea typeface="Georgia" pitchFamily="34" charset="-122"/>
                <a:cs typeface="Georgia" pitchFamily="34" charset="-120"/>
              </a:rPr>
              <a:t>맥락 상속 및 분리</a:t>
            </a:r>
            <a:endParaRPr lang="en-US" sz="1875" dirty="0"/>
          </a:p>
        </p:txBody>
      </p:sp>
      <p:sp>
        <p:nvSpPr>
          <p:cNvPr id="18" name="Text 16"/>
          <p:cNvSpPr/>
          <p:nvPr/>
        </p:nvSpPr>
        <p:spPr>
          <a:xfrm>
            <a:off x="990600" y="4864894"/>
            <a:ext cx="187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Georgia" pitchFamily="34" charset="0"/>
                <a:ea typeface="Georgia" pitchFamily="34" charset="-122"/>
                <a:cs typeface="Georgia" pitchFamily="34" charset="-120"/>
              </a:rPr>
              <a:t>▸</a:t>
            </a:r>
            <a:endParaRPr lang="en-US" sz="1650" dirty="0"/>
          </a:p>
        </p:txBody>
      </p:sp>
      <p:sp>
        <p:nvSpPr>
          <p:cNvPr id="19" name="Text 17"/>
          <p:cNvSpPr/>
          <p:nvPr/>
        </p:nvSpPr>
        <p:spPr>
          <a:xfrm>
            <a:off x="1254175" y="4826794"/>
            <a:ext cx="2607915" cy="359569"/>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20201E"/>
                </a:solidFill>
                <a:latin typeface="Georgia" pitchFamily="34" charset="0"/>
                <a:ea typeface="Georgia" pitchFamily="34" charset="-122"/>
                <a:cs typeface="Georgia" pitchFamily="34" charset="-120"/>
              </a:rPr>
              <a:t>대화 구조 탐색 및 검색</a:t>
            </a:r>
            <a:endParaRPr lang="en-US" sz="1875" dirty="0"/>
          </a:p>
        </p:txBody>
      </p:sp>
      <p:sp>
        <p:nvSpPr>
          <p:cNvPr id="20" name="Text 18"/>
          <p:cNvSpPr/>
          <p:nvPr/>
        </p:nvSpPr>
        <p:spPr>
          <a:xfrm>
            <a:off x="990600" y="5319713"/>
            <a:ext cx="187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C7A3F"/>
                </a:solidFill>
                <a:latin typeface="Georgia" pitchFamily="34" charset="0"/>
                <a:ea typeface="Georgia" pitchFamily="34" charset="-122"/>
                <a:cs typeface="Georgia" pitchFamily="34" charset="-120"/>
              </a:rPr>
              <a:t>▸</a:t>
            </a:r>
            <a:endParaRPr lang="en-US" sz="1650" dirty="0"/>
          </a:p>
        </p:txBody>
      </p:sp>
      <p:sp>
        <p:nvSpPr>
          <p:cNvPr id="21" name="Text 19"/>
          <p:cNvSpPr/>
          <p:nvPr/>
        </p:nvSpPr>
        <p:spPr>
          <a:xfrm>
            <a:off x="1254175" y="5281613"/>
            <a:ext cx="2021339" cy="359569"/>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20201E"/>
                </a:solidFill>
                <a:latin typeface="Georgia" pitchFamily="34" charset="0"/>
                <a:ea typeface="Georgia" pitchFamily="34" charset="-122"/>
                <a:cs typeface="Georgia" pitchFamily="34" charset="-120"/>
              </a:rPr>
              <a:t>오류 및 예외 처리</a:t>
            </a:r>
            <a:endParaRPr lang="en-US" sz="1875" dirty="0"/>
          </a:p>
        </p:txBody>
      </p:sp>
      <p:sp>
        <p:nvSpPr>
          <p:cNvPr id="22" name="Shape 20"/>
          <p:cNvSpPr/>
          <p:nvPr/>
        </p:nvSpPr>
        <p:spPr>
          <a:xfrm>
            <a:off x="8258175" y="2195513"/>
            <a:ext cx="9525" cy="6777038"/>
          </a:xfrm>
          <a:prstGeom prst="rect">
            <a:avLst/>
          </a:prstGeom>
          <a:solidFill>
            <a:srgbClr val="E4E0D6"/>
          </a:solidFill>
          <a:ln/>
        </p:spPr>
      </p:sp>
      <p:sp>
        <p:nvSpPr>
          <p:cNvPr id="23" name="Shape 21"/>
          <p:cNvSpPr/>
          <p:nvPr/>
        </p:nvSpPr>
        <p:spPr>
          <a:xfrm>
            <a:off x="8839200" y="2586038"/>
            <a:ext cx="8458200" cy="9525"/>
          </a:xfrm>
          <a:prstGeom prst="rect">
            <a:avLst/>
          </a:prstGeom>
          <a:solidFill>
            <a:srgbClr val="E4E0D6"/>
          </a:solidFill>
          <a:ln/>
        </p:spPr>
      </p:sp>
      <p:sp>
        <p:nvSpPr>
          <p:cNvPr id="24" name="Text 22"/>
          <p:cNvSpPr/>
          <p:nvPr/>
        </p:nvSpPr>
        <p:spPr>
          <a:xfrm>
            <a:off x="8839200" y="2195513"/>
            <a:ext cx="8711946" cy="276225"/>
          </a:xfrm>
          <a:prstGeom prst="rect">
            <a:avLst/>
          </a:prstGeom>
          <a:noFill/>
          <a:ln/>
        </p:spPr>
        <p:txBody>
          <a:bodyPr wrap="square" lIns="25400" tIns="25400" rIns="25400" bIns="25400" rtlCol="0" anchor="t">
            <a:normAutofit/>
          </a:bodyPr>
          <a:lstStyle/>
          <a:p>
            <a:pPr algn="l" indent="0" marL="0">
              <a:buNone/>
            </a:pPr>
            <a:r>
              <a:rPr lang="en-US" sz="1650" spc="83" kern="0" dirty="0">
                <a:solidFill>
                  <a:srgbClr val="8C7A3F"/>
                </a:solidFill>
                <a:latin typeface="Courier New" pitchFamily="34" charset="0"/>
                <a:ea typeface="Courier New" pitchFamily="34" charset="-122"/>
                <a:cs typeface="Courier New" pitchFamily="34" charset="-120"/>
              </a:rPr>
              <a:t>REQUIREMENT ↔ TEST CASE</a:t>
            </a:r>
            <a:endParaRPr lang="en-US" sz="1650" dirty="0"/>
          </a:p>
        </p:txBody>
      </p:sp>
      <p:sp>
        <p:nvSpPr>
          <p:cNvPr id="25" name="Shape 23"/>
          <p:cNvSpPr/>
          <p:nvPr/>
        </p:nvSpPr>
        <p:spPr>
          <a:xfrm>
            <a:off x="8839200" y="3296543"/>
            <a:ext cx="8458200" cy="9525"/>
          </a:xfrm>
          <a:prstGeom prst="rect">
            <a:avLst/>
          </a:prstGeom>
          <a:solidFill>
            <a:srgbClr val="F0EDE4"/>
          </a:solidFill>
          <a:ln/>
        </p:spPr>
      </p:sp>
      <p:sp>
        <p:nvSpPr>
          <p:cNvPr id="26" name="Text 24"/>
          <p:cNvSpPr/>
          <p:nvPr/>
        </p:nvSpPr>
        <p:spPr>
          <a:xfrm>
            <a:off x="8839200" y="2900363"/>
            <a:ext cx="7810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2155A4"/>
                </a:solidFill>
                <a:latin typeface="Courier New" pitchFamily="34" charset="0"/>
                <a:ea typeface="Courier New" pitchFamily="34" charset="-122"/>
                <a:cs typeface="Courier New" pitchFamily="34" charset="-120"/>
              </a:rPr>
              <a:t>FR-02</a:t>
            </a:r>
            <a:endParaRPr lang="en-US" sz="1575" dirty="0"/>
          </a:p>
        </p:txBody>
      </p:sp>
      <p:sp>
        <p:nvSpPr>
          <p:cNvPr id="27" name="Text 25"/>
          <p:cNvSpPr/>
          <p:nvPr/>
        </p:nvSpPr>
        <p:spPr>
          <a:xfrm>
            <a:off x="9734550" y="2824163"/>
            <a:ext cx="712830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0201E"/>
                </a:solidFill>
                <a:latin typeface="Georgia" pitchFamily="34" charset="0"/>
                <a:ea typeface="Georgia" pitchFamily="34" charset="-122"/>
                <a:cs typeface="Georgia" pitchFamily="34" charset="-120"/>
              </a:rPr>
              <a:t>10번째 메시지 분기 시 </a:t>
            </a:r>
            <a:pPr algn="l" indent="0" marL="0">
              <a:lnSpc>
                <a:spcPct val="140000"/>
              </a:lnSpc>
              <a:buNone/>
            </a:pPr>
            <a:r>
              <a:rPr lang="en-US" sz="1800" dirty="0">
                <a:solidFill>
                  <a:srgbClr val="8C7A3F"/>
                </a:solidFill>
                <a:latin typeface="Georgia" pitchFamily="34" charset="0"/>
                <a:ea typeface="Georgia" pitchFamily="34" charset="-122"/>
                <a:cs typeface="Georgia" pitchFamily="34" charset="-120"/>
              </a:rPr>
              <a:t>1~10번째 메시지·자료만 </a:t>
            </a:r>
            <a:pPr algn="l" indent="0" marL="0">
              <a:lnSpc>
                <a:spcPct val="140000"/>
              </a:lnSpc>
              <a:buNone/>
            </a:pPr>
            <a:r>
              <a:rPr lang="en-US" sz="1800" dirty="0">
                <a:solidFill>
                  <a:srgbClr val="20201E"/>
                </a:solidFill>
                <a:latin typeface="Georgia" pitchFamily="34" charset="0"/>
                <a:ea typeface="Georgia" pitchFamily="34" charset="-122"/>
                <a:cs typeface="Georgia" pitchFamily="34" charset="-120"/>
              </a:rPr>
              <a:t>초기 맥락에 포함</a:t>
            </a:r>
            <a:endParaRPr lang="en-US" sz="1800" dirty="0"/>
          </a:p>
        </p:txBody>
      </p:sp>
      <p:sp>
        <p:nvSpPr>
          <p:cNvPr id="28" name="Shape 26"/>
          <p:cNvSpPr/>
          <p:nvPr/>
        </p:nvSpPr>
        <p:spPr>
          <a:xfrm>
            <a:off x="8839200" y="3930848"/>
            <a:ext cx="8458200" cy="9525"/>
          </a:xfrm>
          <a:prstGeom prst="rect">
            <a:avLst/>
          </a:prstGeom>
          <a:solidFill>
            <a:srgbClr val="F0EDE4"/>
          </a:solidFill>
          <a:ln/>
        </p:spPr>
      </p:sp>
      <p:sp>
        <p:nvSpPr>
          <p:cNvPr id="29" name="Text 27"/>
          <p:cNvSpPr/>
          <p:nvPr/>
        </p:nvSpPr>
        <p:spPr>
          <a:xfrm>
            <a:off x="8839200" y="3534668"/>
            <a:ext cx="7810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2155A4"/>
                </a:solidFill>
                <a:latin typeface="Courier New" pitchFamily="34" charset="0"/>
                <a:ea typeface="Courier New" pitchFamily="34" charset="-122"/>
                <a:cs typeface="Courier New" pitchFamily="34" charset="-120"/>
              </a:rPr>
              <a:t>FR-03</a:t>
            </a:r>
            <a:endParaRPr lang="en-US" sz="1575" dirty="0"/>
          </a:p>
        </p:txBody>
      </p:sp>
      <p:sp>
        <p:nvSpPr>
          <p:cNvPr id="30" name="Text 28"/>
          <p:cNvSpPr/>
          <p:nvPr/>
        </p:nvSpPr>
        <p:spPr>
          <a:xfrm>
            <a:off x="9734550" y="3458468"/>
            <a:ext cx="682658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0201E"/>
                </a:solidFill>
                <a:latin typeface="Georgia" pitchFamily="34" charset="0"/>
                <a:ea typeface="Georgia" pitchFamily="34" charset="-122"/>
                <a:cs typeface="Georgia" pitchFamily="34" charset="-120"/>
              </a:rPr>
              <a:t>분기 이후 메시지가 메인 흐름 응답 맥락에 </a:t>
            </a:r>
            <a:pPr algn="l" indent="0" marL="0">
              <a:lnSpc>
                <a:spcPct val="140000"/>
              </a:lnSpc>
              <a:buNone/>
            </a:pPr>
            <a:r>
              <a:rPr lang="en-US" sz="1800" dirty="0">
                <a:solidFill>
                  <a:srgbClr val="8C7A3F"/>
                </a:solidFill>
                <a:latin typeface="Georgia" pitchFamily="34" charset="0"/>
                <a:ea typeface="Georgia" pitchFamily="34" charset="-122"/>
                <a:cs typeface="Georgia" pitchFamily="34" charset="-120"/>
              </a:rPr>
              <a:t>자동 포함되지 않음</a:t>
            </a:r>
            <a:endParaRPr lang="en-US" sz="1800" dirty="0"/>
          </a:p>
        </p:txBody>
      </p:sp>
      <p:sp>
        <p:nvSpPr>
          <p:cNvPr id="31" name="Shape 29"/>
          <p:cNvSpPr/>
          <p:nvPr/>
        </p:nvSpPr>
        <p:spPr>
          <a:xfrm>
            <a:off x="8839200" y="4565154"/>
            <a:ext cx="8458200" cy="9525"/>
          </a:xfrm>
          <a:prstGeom prst="rect">
            <a:avLst/>
          </a:prstGeom>
          <a:solidFill>
            <a:srgbClr val="F0EDE4"/>
          </a:solidFill>
          <a:ln/>
        </p:spPr>
      </p:sp>
      <p:sp>
        <p:nvSpPr>
          <p:cNvPr id="32" name="Text 30"/>
          <p:cNvSpPr/>
          <p:nvPr/>
        </p:nvSpPr>
        <p:spPr>
          <a:xfrm>
            <a:off x="8839200" y="4168973"/>
            <a:ext cx="7810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2155A4"/>
                </a:solidFill>
                <a:latin typeface="Courier New" pitchFamily="34" charset="0"/>
                <a:ea typeface="Courier New" pitchFamily="34" charset="-122"/>
                <a:cs typeface="Courier New" pitchFamily="34" charset="-120"/>
              </a:rPr>
              <a:t>FR-05</a:t>
            </a:r>
            <a:endParaRPr lang="en-US" sz="1575" dirty="0"/>
          </a:p>
        </p:txBody>
      </p:sp>
      <p:sp>
        <p:nvSpPr>
          <p:cNvPr id="33" name="Text 31"/>
          <p:cNvSpPr/>
          <p:nvPr/>
        </p:nvSpPr>
        <p:spPr>
          <a:xfrm>
            <a:off x="9734550" y="4092773"/>
            <a:ext cx="477512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0201E"/>
                </a:solidFill>
                <a:latin typeface="Georgia" pitchFamily="34" charset="0"/>
                <a:ea typeface="Georgia" pitchFamily="34" charset="-122"/>
                <a:cs typeface="Georgia" pitchFamily="34" charset="-120"/>
              </a:rPr>
              <a:t>부모·하위 흐름·생성 지점 표시 및 선택 이동</a:t>
            </a:r>
            <a:endParaRPr lang="en-US" sz="1800" dirty="0"/>
          </a:p>
        </p:txBody>
      </p:sp>
      <p:sp>
        <p:nvSpPr>
          <p:cNvPr id="34" name="Shape 32"/>
          <p:cNvSpPr/>
          <p:nvPr/>
        </p:nvSpPr>
        <p:spPr>
          <a:xfrm>
            <a:off x="8839200" y="5199459"/>
            <a:ext cx="8458200" cy="9525"/>
          </a:xfrm>
          <a:prstGeom prst="rect">
            <a:avLst/>
          </a:prstGeom>
          <a:solidFill>
            <a:srgbClr val="F0EDE4"/>
          </a:solidFill>
          <a:ln/>
        </p:spPr>
      </p:sp>
      <p:sp>
        <p:nvSpPr>
          <p:cNvPr id="35" name="Text 33"/>
          <p:cNvSpPr/>
          <p:nvPr/>
        </p:nvSpPr>
        <p:spPr>
          <a:xfrm>
            <a:off x="8839200" y="4803279"/>
            <a:ext cx="7810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8C7A3F"/>
                </a:solidFill>
                <a:latin typeface="Courier New" pitchFamily="34" charset="0"/>
                <a:ea typeface="Courier New" pitchFamily="34" charset="-122"/>
                <a:cs typeface="Courier New" pitchFamily="34" charset="-120"/>
              </a:rPr>
              <a:t>P-01</a:t>
            </a:r>
            <a:endParaRPr lang="en-US" sz="1575" dirty="0"/>
          </a:p>
        </p:txBody>
      </p:sp>
      <p:sp>
        <p:nvSpPr>
          <p:cNvPr id="36" name="Text 34"/>
          <p:cNvSpPr/>
          <p:nvPr/>
        </p:nvSpPr>
        <p:spPr>
          <a:xfrm>
            <a:off x="9734550" y="4727079"/>
            <a:ext cx="493539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0201E"/>
                </a:solidFill>
                <a:latin typeface="Georgia" pitchFamily="34" charset="0"/>
                <a:ea typeface="Georgia" pitchFamily="34" charset="-122"/>
                <a:cs typeface="Georgia" pitchFamily="34" charset="-120"/>
              </a:rPr>
              <a:t>1,000턴 더미 대화에서 탐색 UI </a:t>
            </a:r>
            <a:pPr algn="l" indent="0" marL="0">
              <a:lnSpc>
                <a:spcPct val="140000"/>
              </a:lnSpc>
              <a:buNone/>
            </a:pPr>
            <a:r>
              <a:rPr lang="en-US" sz="1800" dirty="0">
                <a:solidFill>
                  <a:srgbClr val="8C7A3F"/>
                </a:solidFill>
                <a:latin typeface="Georgia" pitchFamily="34" charset="0"/>
                <a:ea typeface="Georgia" pitchFamily="34" charset="-122"/>
                <a:cs typeface="Georgia" pitchFamily="34" charset="-120"/>
              </a:rPr>
              <a:t>P95 2초 이내</a:t>
            </a:r>
            <a:endParaRPr lang="en-US" sz="1800" dirty="0"/>
          </a:p>
        </p:txBody>
      </p:sp>
      <p:sp>
        <p:nvSpPr>
          <p:cNvPr id="37" name="Text 35"/>
          <p:cNvSpPr/>
          <p:nvPr/>
        </p:nvSpPr>
        <p:spPr>
          <a:xfrm>
            <a:off x="8839200" y="5437584"/>
            <a:ext cx="7810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8C7A3F"/>
                </a:solidFill>
                <a:latin typeface="Courier New" pitchFamily="34" charset="0"/>
                <a:ea typeface="Courier New" pitchFamily="34" charset="-122"/>
                <a:cs typeface="Courier New" pitchFamily="34" charset="-120"/>
              </a:rPr>
              <a:t>S-01</a:t>
            </a:r>
            <a:endParaRPr lang="en-US" sz="1575" dirty="0"/>
          </a:p>
        </p:txBody>
      </p:sp>
      <p:sp>
        <p:nvSpPr>
          <p:cNvPr id="38" name="Text 36"/>
          <p:cNvSpPr/>
          <p:nvPr/>
        </p:nvSpPr>
        <p:spPr>
          <a:xfrm>
            <a:off x="9734550" y="5361384"/>
            <a:ext cx="5951547"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0201E"/>
                </a:solidFill>
                <a:latin typeface="Georgia" pitchFamily="34" charset="0"/>
                <a:ea typeface="Georgia" pitchFamily="34" charset="-122"/>
                <a:cs typeface="Georgia" pitchFamily="34" charset="-120"/>
              </a:rPr>
              <a:t>다른 프로젝트 자료가 현재 흐름 맥락에 </a:t>
            </a:r>
            <a:pPr algn="l" indent="0" marL="0">
              <a:lnSpc>
                <a:spcPct val="140000"/>
              </a:lnSpc>
              <a:buNone/>
            </a:pPr>
            <a:r>
              <a:rPr lang="en-US" sz="1800" dirty="0">
                <a:solidFill>
                  <a:srgbClr val="8C7A3F"/>
                </a:solidFill>
                <a:latin typeface="Georgia" pitchFamily="34" charset="0"/>
                <a:ea typeface="Georgia" pitchFamily="34" charset="-122"/>
                <a:cs typeface="Georgia" pitchFamily="34" charset="-120"/>
              </a:rPr>
              <a:t>포함되지 않음</a:t>
            </a:r>
            <a:endParaRPr lang="en-US" sz="1800" dirty="0"/>
          </a:p>
        </p:txBody>
      </p:sp>
      <p:sp>
        <p:nvSpPr>
          <p:cNvPr id="39" name="Shape 37"/>
          <p:cNvSpPr/>
          <p:nvPr/>
        </p:nvSpPr>
        <p:spPr>
          <a:xfrm>
            <a:off x="990600" y="9239250"/>
            <a:ext cx="16306800" cy="9525"/>
          </a:xfrm>
          <a:prstGeom prst="rect">
            <a:avLst/>
          </a:prstGeom>
          <a:solidFill>
            <a:srgbClr val="E4E0D6"/>
          </a:solidFill>
          <a:ln/>
        </p:spPr>
      </p:sp>
      <p:sp>
        <p:nvSpPr>
          <p:cNvPr id="40" name="Text 38"/>
          <p:cNvSpPr/>
          <p:nvPr/>
        </p:nvSpPr>
        <p:spPr>
          <a:xfrm>
            <a:off x="990600" y="9458325"/>
            <a:ext cx="422521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AIT · Branching AI Workspace</a:t>
            </a:r>
            <a:endParaRPr lang="en-US" sz="1800" dirty="0"/>
          </a:p>
        </p:txBody>
      </p:sp>
      <p:sp>
        <p:nvSpPr>
          <p:cNvPr id="41" name="Text 39"/>
          <p:cNvSpPr/>
          <p:nvPr/>
        </p:nvSpPr>
        <p:spPr>
          <a:xfrm>
            <a:off x="16062722" y="9458325"/>
            <a:ext cx="1358146" cy="295275"/>
          </a:xfrm>
          <a:prstGeom prst="rect">
            <a:avLst/>
          </a:prstGeom>
          <a:noFill/>
          <a:ln/>
        </p:spPr>
        <p:txBody>
          <a:bodyPr wrap="square" lIns="25400" tIns="25400" rIns="25400" bIns="25400" rtlCol="0" anchor="t">
            <a:normAutofit/>
          </a:bodyPr>
          <a:lstStyle/>
          <a:p>
            <a:pPr algn="l" indent="0" marL="0">
              <a:buNone/>
            </a:pPr>
            <a:r>
              <a:rPr lang="en-US" sz="1800" dirty="0">
                <a:solidFill>
                  <a:srgbClr val="9A968C"/>
                </a:solidFill>
                <a:latin typeface="Courier New" pitchFamily="34" charset="0"/>
                <a:ea typeface="Courier New" pitchFamily="34" charset="-122"/>
                <a:cs typeface="Courier New" pitchFamily="34" charset="-120"/>
              </a:rPr>
              <a:t>14 / Test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0201E"/>
        </a:solidFill>
      </p:bgPr>
    </p:bg>
    <p:spTree>
      <p:nvGrpSpPr>
        <p:cNvPr id="1" name=""/>
        <p:cNvGrpSpPr/>
        <p:nvPr/>
      </p:nvGrpSpPr>
      <p:grpSpPr>
        <a:xfrm>
          <a:off x="0" y="0"/>
          <a:ext cx="0" cy="0"/>
          <a:chOff x="0" y="0"/>
          <a:chExt cx="0" cy="0"/>
        </a:xfrm>
      </p:grpSpPr>
      <p:sp>
        <p:nvSpPr>
          <p:cNvPr id="2" name="Text 0"/>
          <p:cNvSpPr/>
          <p:nvPr/>
        </p:nvSpPr>
        <p:spPr>
          <a:xfrm>
            <a:off x="990600" y="914400"/>
            <a:ext cx="17937480" cy="314325"/>
          </a:xfrm>
          <a:prstGeom prst="rect">
            <a:avLst/>
          </a:prstGeom>
          <a:noFill/>
          <a:ln/>
        </p:spPr>
        <p:txBody>
          <a:bodyPr wrap="square" lIns="25400" tIns="25400" rIns="25400" bIns="25400" rtlCol="0" anchor="t">
            <a:normAutofit/>
          </a:bodyPr>
          <a:lstStyle/>
          <a:p>
            <a:pPr algn="l" indent="0" marL="0">
              <a:buNone/>
            </a:pPr>
            <a:r>
              <a:rPr lang="en-US" sz="1875" spc="263" kern="0" dirty="0">
                <a:solidFill>
                  <a:srgbClr val="C9B987"/>
                </a:solidFill>
                <a:latin typeface="Courier New" pitchFamily="34" charset="0"/>
                <a:ea typeface="Courier New" pitchFamily="34" charset="-122"/>
                <a:cs typeface="Courier New" pitchFamily="34" charset="-120"/>
              </a:rPr>
              <a:t>CLOSING — ENGINEERING EVIDENCE</a:t>
            </a:r>
            <a:endParaRPr lang="en-US" sz="1875" dirty="0"/>
          </a:p>
        </p:txBody>
      </p:sp>
      <p:sp>
        <p:nvSpPr>
          <p:cNvPr id="3" name="Text 1"/>
          <p:cNvSpPr/>
          <p:nvPr/>
        </p:nvSpPr>
        <p:spPr>
          <a:xfrm>
            <a:off x="990600" y="4350395"/>
            <a:ext cx="14668500" cy="757386"/>
          </a:xfrm>
          <a:prstGeom prst="rect">
            <a:avLst/>
          </a:prstGeom>
          <a:noFill/>
          <a:ln/>
        </p:spPr>
        <p:txBody>
          <a:bodyPr wrap="square" lIns="25400" tIns="25400" rIns="25400" bIns="25400" rtlCol="0" anchor="t">
            <a:normAutofit/>
          </a:bodyPr>
          <a:lstStyle/>
          <a:p>
            <a:pPr algn="l" indent="0" marL="0">
              <a:lnSpc>
                <a:spcPct val="118000"/>
              </a:lnSpc>
              <a:buNone/>
            </a:pPr>
            <a:r>
              <a:rPr lang="en-US" sz="4800" spc="-48" kern="0" dirty="0">
                <a:solidFill>
                  <a:srgbClr val="FCFBF8"/>
                </a:solidFill>
                <a:latin typeface="Georgia" pitchFamily="34" charset="0"/>
                <a:ea typeface="Georgia" pitchFamily="34" charset="-122"/>
                <a:cs typeface="Georgia" pitchFamily="34" charset="-120"/>
              </a:rPr>
              <a:t>요구에서 검증까지, </a:t>
            </a:r>
            <a:pPr algn="l" indent="0" marL="0">
              <a:lnSpc>
                <a:spcPct val="118000"/>
              </a:lnSpc>
              <a:buNone/>
            </a:pPr>
            <a:r>
              <a:rPr lang="en-US" sz="4800" spc="-48" kern="0" dirty="0">
                <a:solidFill>
                  <a:srgbClr val="C9B987"/>
                </a:solidFill>
                <a:latin typeface="Georgia" pitchFamily="34" charset="0"/>
                <a:ea typeface="Georgia" pitchFamily="34" charset="-122"/>
                <a:cs typeface="Georgia" pitchFamily="34" charset="-120"/>
              </a:rPr>
              <a:t>끊김 없는 하나의 공학 흐름</a:t>
            </a:r>
            <a:endParaRPr lang="en-US" sz="4800" dirty="0"/>
          </a:p>
        </p:txBody>
      </p:sp>
      <p:sp>
        <p:nvSpPr>
          <p:cNvPr id="4" name="Text 2"/>
          <p:cNvSpPr/>
          <p:nvPr/>
        </p:nvSpPr>
        <p:spPr>
          <a:xfrm>
            <a:off x="990600" y="5393531"/>
            <a:ext cx="16796004" cy="419100"/>
          </a:xfrm>
          <a:prstGeom prst="rect">
            <a:avLst/>
          </a:prstGeom>
          <a:noFill/>
          <a:ln/>
        </p:spPr>
        <p:txBody>
          <a:bodyPr wrap="square" lIns="25400" tIns="25400" rIns="25400" bIns="25400" rtlCol="0" anchor="t">
            <a:normAutofit/>
          </a:bodyPr>
          <a:lstStyle/>
          <a:p>
            <a:pPr algn="l" indent="0" marL="0">
              <a:lnSpc>
                <a:spcPct val="160000"/>
              </a:lnSpc>
              <a:buNone/>
            </a:pPr>
            <a:r>
              <a:rPr lang="en-US" sz="1875" dirty="0">
                <a:solidFill>
                  <a:srgbClr val="B7B2A6"/>
                </a:solidFill>
                <a:latin typeface="Courier New" pitchFamily="34" charset="0"/>
                <a:ea typeface="Courier New" pitchFamily="34" charset="-122"/>
                <a:cs typeface="Courier New" pitchFamily="34" charset="-120"/>
              </a:rPr>
              <a:t>사용자 요구 → </a:t>
            </a:r>
            <a:pPr algn="l" indent="0" marL="0">
              <a:lnSpc>
                <a:spcPct val="160000"/>
              </a:lnSpc>
              <a:buNone/>
            </a:pPr>
            <a:r>
              <a:rPr lang="en-US" sz="1875" dirty="0">
                <a:solidFill>
                  <a:srgbClr val="7FA8E0"/>
                </a:solidFill>
                <a:latin typeface="Courier New" pitchFamily="34" charset="0"/>
                <a:ea typeface="Courier New" pitchFamily="34" charset="-122"/>
                <a:cs typeface="Courier New" pitchFamily="34" charset="-120"/>
              </a:rPr>
              <a:t>검증 가능한 요구사항 </a:t>
            </a:r>
            <a:pPr algn="l" indent="0" marL="0">
              <a:lnSpc>
                <a:spcPct val="160000"/>
              </a:lnSpc>
              <a:buNone/>
            </a:pPr>
            <a:r>
              <a:rPr lang="en-US" sz="1875" dirty="0">
                <a:solidFill>
                  <a:srgbClr val="B7B2A6"/>
                </a:solidFill>
                <a:latin typeface="Courier New" pitchFamily="34" charset="0"/>
                <a:ea typeface="Courier New" pitchFamily="34" charset="-122"/>
                <a:cs typeface="Courier New" pitchFamily="34" charset="-120"/>
              </a:rPr>
              <a:t>→ UML 모델 → 컴포넌트 설계 → 점증 구현 → 테스트 케이스</a:t>
            </a:r>
            <a:endParaRPr lang="en-US" sz="1875" dirty="0"/>
          </a:p>
        </p:txBody>
      </p:sp>
      <p:sp>
        <p:nvSpPr>
          <p:cNvPr id="5" name="Shape 3"/>
          <p:cNvSpPr/>
          <p:nvPr/>
        </p:nvSpPr>
        <p:spPr>
          <a:xfrm>
            <a:off x="990600" y="8934450"/>
            <a:ext cx="16306800" cy="9525"/>
          </a:xfrm>
          <a:prstGeom prst="rect">
            <a:avLst/>
          </a:prstGeom>
          <a:solidFill>
            <a:srgbClr val="45433D"/>
          </a:solidFill>
          <a:ln/>
        </p:spPr>
      </p:sp>
      <p:sp>
        <p:nvSpPr>
          <p:cNvPr id="6" name="Text 4"/>
          <p:cNvSpPr/>
          <p:nvPr/>
        </p:nvSpPr>
        <p:spPr>
          <a:xfrm>
            <a:off x="990600" y="9210675"/>
            <a:ext cx="6582653" cy="314325"/>
          </a:xfrm>
          <a:prstGeom prst="rect">
            <a:avLst/>
          </a:prstGeom>
          <a:noFill/>
          <a:ln/>
        </p:spPr>
        <p:txBody>
          <a:bodyPr wrap="square" lIns="25400" tIns="25400" rIns="25400" bIns="25400" rtlCol="0" anchor="t">
            <a:normAutofit/>
          </a:bodyPr>
          <a:lstStyle/>
          <a:p>
            <a:pPr algn="l" indent="0" marL="0">
              <a:buNone/>
            </a:pPr>
            <a:r>
              <a:rPr lang="en-US" sz="1800" dirty="0">
                <a:solidFill>
                  <a:srgbClr val="B7B2A6"/>
                </a:solidFill>
                <a:latin typeface="Courier New" pitchFamily="34" charset="0"/>
                <a:ea typeface="Courier New" pitchFamily="34" charset="-122"/>
                <a:cs typeface="Courier New" pitchFamily="34" charset="-120"/>
              </a:rPr>
              <a:t>Team AIT </a:t>
            </a:r>
            <a:pPr algn="l" indent="0" marL="0">
              <a:buNone/>
            </a:pPr>
            <a:r>
              <a:rPr lang="en-US" sz="1800" dirty="0">
                <a:solidFill>
                  <a:srgbClr val="7E7A70"/>
                </a:solidFill>
                <a:latin typeface="Courier New" pitchFamily="34" charset="0"/>
                <a:ea typeface="Courier New" pitchFamily="34" charset="-122"/>
                <a:cs typeface="Courier New" pitchFamily="34" charset="-120"/>
              </a:rPr>
              <a:t>김도윤 · 김상민 · 오한빈 · 이준석 · 정주원</a:t>
            </a:r>
            <a:endParaRPr lang="en-US" sz="1800" dirty="0"/>
          </a:p>
        </p:txBody>
      </p:sp>
      <p:sp>
        <p:nvSpPr>
          <p:cNvPr id="7" name="Text 5"/>
          <p:cNvSpPr/>
          <p:nvPr/>
        </p:nvSpPr>
        <p:spPr>
          <a:xfrm>
            <a:off x="14279314" y="9229725"/>
            <a:ext cx="3319894"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E7A70"/>
                </a:solidFill>
                <a:latin typeface="Courier New" pitchFamily="34" charset="0"/>
                <a:ea typeface="Courier New" pitchFamily="34" charset="-122"/>
                <a:cs typeface="Courier New" pitchFamily="34" charset="-120"/>
              </a:rPr>
              <a:t>github.com/AI-star-CAU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2026-06-22T06:05:33Z</dcterms:created>
  <dcterms:modified xsi:type="dcterms:W3CDTF">2026-06-22T06:05:33Z</dcterms:modified>
</cp:coreProperties>
</file>